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5852160"/>
          </a:xfrm>
          <a:prstGeom prst="roundRect">
            <a:avLst>
              <a:gd name="adj" fmla="val 2813"/>
            </a:avLst>
          </a:prstGeom>
          <a:solidFill>
            <a:srgbClr val="F8F8F8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1097280" y="868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ACADEMIC SUBMISSION</a:t>
            </a:r>
            <a:pPr indent="0" marL="0">
              <a:buNone/>
            </a:pPr>
            <a:r>
              <a:rPr lang="en-US" sz="1100" spc="200" kern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   SE-LAB-PROJECT-CATALOGUE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915400" y="822960"/>
            <a:ext cx="21762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 4.02 // ARCHIVE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0" y="1298448"/>
            <a:ext cx="999439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5727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REUSABLE DESIGN &amp; CODE REPOSITORY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874520"/>
            <a:ext cx="6035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600" b="1" spc="-100" kern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4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600" b="1" spc="-100" kern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4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600" b="1" spc="-100" kern="0" dirty="0">
                <a:solidFill>
                  <a:srgbClr val="FF5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Cataloguing</a:t>
            </a:r>
            <a:endParaRPr lang="en-US" sz="4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600" b="1" spc="-100" kern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57200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centralised platform engineering catalogue built to index, classify, and govern high-volume software artifacts across heterogeneous design models and multi-language codebases.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5468112"/>
            <a:ext cx="57607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55595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01. ASSET COVERAGE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5779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UML, ERD, and source implementations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55595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02. DISCOVERY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57790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taxonomies with keyword search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589520" y="1572768"/>
            <a:ext cx="3502152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863840" y="1801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COURSEWORK DOSSIER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20299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Laboratory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63840" y="2468880"/>
            <a:ext cx="2953512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0" y="259689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 &amp; CLASSIFICATION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27706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Dual-Layer: Design Models + Source Code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305409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PROTOCOL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2278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Multi-Facet Inverted Keyword Index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351129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VERIFICATION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6850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University CS Division Lab Review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63840" y="3968496"/>
            <a:ext cx="2953512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0" y="4087368"/>
            <a:ext cx="2953512" cy="438912"/>
          </a:xfrm>
          <a:prstGeom prst="rect">
            <a:avLst/>
          </a:prstGeom>
          <a:solidFill>
            <a:srgbClr val="F0F0F0"/>
          </a:solidFill>
          <a:ln w="3175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73568" y="413308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ID</a:t>
            </a:r>
            <a:endParaRPr lang="en-US" sz="650" dirty="0"/>
          </a:p>
        </p:txBody>
      </p:sp>
      <p:sp>
        <p:nvSpPr>
          <p:cNvPr id="27" name="Text 25"/>
          <p:cNvSpPr txBox="1"/>
          <p:nvPr/>
        </p:nvSpPr>
        <p:spPr>
          <a:xfrm>
            <a:off x="7973568" y="42793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CATALOGUE-CORE-2025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9948672" y="4160520"/>
            <a:ext cx="7772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846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DOMAIN &amp; REQUIREMENTS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951976" y="457200"/>
            <a:ext cx="264261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01: SCOPE DEFINITION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027664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96012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</a:t>
            </a:r>
            <a:pPr indent="0" marL="0">
              <a:buNone/>
            </a:pPr>
            <a:r>
              <a:rPr lang="en-US" sz="3200" b="1" spc="-50" kern="0" dirty="0">
                <a:solidFill>
                  <a:srgbClr val="FF5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Scope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7830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reuse stalls when repositories scale into thousands of unindexed artifacts across disparate phases.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2852928"/>
            <a:ext cx="53035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3136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1089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Reusability Limits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4564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must store, index, and retrieve potentially large volumes of candidate assets without degraded lookup speed.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005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977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Dual-Spectrum Artifacts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3251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both abstract design notations and executable multi-language source implementations under one registry.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8737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846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Organization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51937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component counts mandate strict recursive tree taxonomies to prevent flat-list search breakdown.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00216" y="17830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FIGURE: COMPONENT SCOPE TAXONOMY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81544" y="2157984"/>
            <a:ext cx="2249424" cy="402336"/>
          </a:xfrm>
          <a:prstGeom prst="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REUSABLE COMPONENT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06256" y="2560320"/>
            <a:ext cx="0" cy="265176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62672" y="2825496"/>
            <a:ext cx="2487168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62672" y="2825496"/>
            <a:ext cx="0" cy="256032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2825496"/>
            <a:ext cx="0" cy="256032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39128" y="3081528"/>
            <a:ext cx="1847088" cy="457200"/>
          </a:xfrm>
          <a:prstGeom prst="rect">
            <a:avLst/>
          </a:prstGeom>
          <a:solidFill>
            <a:srgbClr val="FDE9DE"/>
          </a:solidFill>
          <a:ln w="12700">
            <a:solidFill>
              <a:srgbClr val="FF5A0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COMPONENT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Architecture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226296" y="3081528"/>
            <a:ext cx="1847088" cy="457200"/>
          </a:xfrm>
          <a:prstGeom prst="rect">
            <a:avLst/>
          </a:prstGeom>
          <a:solidFill>
            <a:srgbClr val="FDE9DE"/>
          </a:solidFill>
          <a:ln w="12700">
            <a:solidFill>
              <a:srgbClr val="FF5A0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COMPONENT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Implementation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62672" y="3538728"/>
            <a:ext cx="0" cy="493776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49840" y="3538728"/>
            <a:ext cx="0" cy="493776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19088" y="4032504"/>
            <a:ext cx="829056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UML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/ Seq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33616" y="4498848"/>
            <a:ext cx="0" cy="182880"/>
          </a:xfrm>
          <a:prstGeom prst="line">
            <a:avLst/>
          </a:prstGeom>
          <a:noFill/>
          <a:ln w="9525">
            <a:solidFill>
              <a:srgbClr val="CCCCCC"/>
            </a:solidFill>
            <a:prstDash val="sysDot"/>
          </a:ln>
        </p:spPr>
      </p:sp>
      <p:sp>
        <p:nvSpPr>
          <p:cNvPr id="29" name="Text 27"/>
          <p:cNvSpPr txBox="1"/>
          <p:nvPr/>
        </p:nvSpPr>
        <p:spPr>
          <a:xfrm>
            <a:off x="7248144" y="4032504"/>
            <a:ext cx="829056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ERD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Schemas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62672" y="4498848"/>
            <a:ext cx="0" cy="182880"/>
          </a:xfrm>
          <a:prstGeom prst="line">
            <a:avLst/>
          </a:prstGeom>
          <a:noFill/>
          <a:ln w="9525">
            <a:solidFill>
              <a:srgbClr val="CCCCCC"/>
            </a:solidFill>
            <a:prstDash val="sysDot"/>
          </a:ln>
        </p:spPr>
      </p:sp>
      <p:sp>
        <p:nvSpPr>
          <p:cNvPr id="31" name="Text 29"/>
          <p:cNvSpPr txBox="1"/>
          <p:nvPr/>
        </p:nvSpPr>
        <p:spPr>
          <a:xfrm>
            <a:off x="8077200" y="4032504"/>
            <a:ext cx="829056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DFD / Flow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491728" y="4498848"/>
            <a:ext cx="0" cy="182880"/>
          </a:xfrm>
          <a:prstGeom prst="line">
            <a:avLst/>
          </a:prstGeom>
          <a:noFill/>
          <a:ln w="9525">
            <a:solidFill>
              <a:srgbClr val="CCCCCC"/>
            </a:solidFill>
            <a:prstDash val="sysDot"/>
          </a:ln>
        </p:spPr>
      </p:sp>
      <p:sp>
        <p:nvSpPr>
          <p:cNvPr id="33" name="Text 31"/>
          <p:cNvSpPr txBox="1"/>
          <p:nvPr/>
        </p:nvSpPr>
        <p:spPr>
          <a:xfrm>
            <a:off x="8906256" y="4032504"/>
            <a:ext cx="829056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JVM Packages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320784" y="4498848"/>
            <a:ext cx="0" cy="182880"/>
          </a:xfrm>
          <a:prstGeom prst="line">
            <a:avLst/>
          </a:prstGeom>
          <a:noFill/>
          <a:ln w="9525">
            <a:solidFill>
              <a:srgbClr val="CCCCCC"/>
            </a:solidFill>
            <a:prstDash val="sysDot"/>
          </a:ln>
        </p:spPr>
      </p:sp>
      <p:sp>
        <p:nvSpPr>
          <p:cNvPr id="35" name="Text 33"/>
          <p:cNvSpPr txBox="1"/>
          <p:nvPr/>
        </p:nvSpPr>
        <p:spPr>
          <a:xfrm>
            <a:off x="9735312" y="4032504"/>
            <a:ext cx="829056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/ C++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Libs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149840" y="4498848"/>
            <a:ext cx="0" cy="182880"/>
          </a:xfrm>
          <a:prstGeom prst="line">
            <a:avLst/>
          </a:prstGeom>
          <a:noFill/>
          <a:ln w="9525">
            <a:solidFill>
              <a:srgbClr val="CCCCCC"/>
            </a:solidFill>
            <a:prstDash val="sysDot"/>
          </a:ln>
        </p:spPr>
      </p:sp>
      <p:sp>
        <p:nvSpPr>
          <p:cNvPr id="37" name="Text 35"/>
          <p:cNvSpPr txBox="1"/>
          <p:nvPr/>
        </p:nvSpPr>
        <p:spPr>
          <a:xfrm>
            <a:off x="10564368" y="4032504"/>
            <a:ext cx="829056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978896" y="4498848"/>
            <a:ext cx="0" cy="182880"/>
          </a:xfrm>
          <a:prstGeom prst="line">
            <a:avLst/>
          </a:prstGeom>
          <a:noFill/>
          <a:ln w="9525">
            <a:solidFill>
              <a:srgbClr val="CCCCCC"/>
            </a:solidFill>
            <a:prstDash val="sysDot"/>
          </a:ln>
        </p:spPr>
      </p:sp>
      <p:sp>
        <p:nvSpPr>
          <p:cNvPr id="39" name="Shape 37"/>
          <p:cNvSpPr/>
          <p:nvPr/>
        </p:nvSpPr>
        <p:spPr>
          <a:xfrm>
            <a:off x="6833616" y="3803904"/>
            <a:ext cx="1658112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33616" y="3803904"/>
            <a:ext cx="0" cy="22860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91728" y="3803904"/>
            <a:ext cx="0" cy="22860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320784" y="3803904"/>
            <a:ext cx="1658112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320784" y="3803904"/>
            <a:ext cx="0" cy="22860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78896" y="3803904"/>
            <a:ext cx="0" cy="22860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19088" y="4864608"/>
            <a:ext cx="497433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HIERARCHICAL CATEGORY INDEX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classification path allowing multi-level browsing across diverse notations and runtimes</a:t>
            </a:r>
            <a:endParaRPr lang="en-US" sz="1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/Root/Security/Authentication/Design/UML/Tokens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846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SPECIFICATION // LAB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46920" y="457200"/>
            <a:ext cx="1947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UML USE CASE MODEL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027664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96012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Actors &amp; System </a:t>
            </a:r>
            <a:pPr indent="0" marL="0">
              <a:buNone/>
            </a:pPr>
            <a:r>
              <a:rPr lang="en-US" sz="3200" b="1" spc="-50" kern="0" dirty="0">
                <a:solidFill>
                  <a:srgbClr val="FF5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24328" y="1828800"/>
            <a:ext cx="6894576" cy="3730752"/>
          </a:xfrm>
          <a:prstGeom prst="rect">
            <a:avLst/>
          </a:prstGeom>
          <a:solidFill>
            <a:srgbClr val="F0F0F0"/>
          </a:solidFill>
          <a:ln w="12700">
            <a:solidFill>
              <a:srgbClr val="CFCF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852928" y="2011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BOUNDARY: COMPONENT CATALOGUE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0116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RUNTIME SERVICES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52928" y="2322576"/>
            <a:ext cx="6428232" cy="0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52928" y="2578608"/>
            <a:ext cx="3127248" cy="548640"/>
          </a:xfrm>
          <a:prstGeom prst="roundRect">
            <a:avLst>
              <a:gd name="adj" fmla="val 48333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&amp; Ingest Component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UML, ERD design or source units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153912" y="2578608"/>
            <a:ext cx="3127248" cy="548640"/>
          </a:xfrm>
          <a:prstGeom prst="roundRect">
            <a:avLst>
              <a:gd name="adj" fmla="val 48333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Availability by Keywords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Indexed metadata discovery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852928" y="3456432"/>
            <a:ext cx="3127248" cy="548640"/>
          </a:xfrm>
          <a:prstGeom prst="roundRect">
            <a:avLst>
              <a:gd name="adj" fmla="val 48333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 Keyword Sets &amp; Delete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Taxonomy &amp; lifecycle decommissioning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153912" y="3456432"/>
            <a:ext cx="3127248" cy="548640"/>
          </a:xfrm>
          <a:prstGeom prst="roundRect">
            <a:avLst>
              <a:gd name="adj" fmla="val 48333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 Component Hierarchy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tree traversal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852928" y="4306824"/>
            <a:ext cx="3127248" cy="548640"/>
          </a:xfrm>
          <a:prstGeom prst="roundRect">
            <a:avLst>
              <a:gd name="adj" fmla="val 48333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Maintain Usage &amp; Query Metrics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Tracks retrieval &amp; zero-hit tallies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153912" y="4306824"/>
            <a:ext cx="3127248" cy="548640"/>
          </a:xfrm>
          <a:prstGeom prst="roundRect">
            <a:avLst>
              <a:gd name="adj" fmla="val 48333"/>
            </a:avLst>
          </a:prstGeom>
          <a:solidFill>
            <a:srgbClr val="FDE9DE"/>
          </a:solidFill>
          <a:ln w="15875">
            <a:solidFill>
              <a:srgbClr val="FF5A0F"/>
            </a:solidFill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Periodic Automated Purge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Autonomous cleanup of stale items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52928" y="5120640"/>
            <a:ext cx="6428232" cy="0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52928" y="52303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ENGINE: DAEMON PURGE + ACCESS AUDIT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524865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STALE COMPONENT THRESHOLD ACTIVE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2286000"/>
            <a:ext cx="1856232" cy="1645920"/>
          </a:xfrm>
          <a:prstGeom prst="rect">
            <a:avLst/>
          </a:prstGeom>
          <a:solidFill>
            <a:srgbClr val="FDEEE4"/>
          </a:solidFill>
          <a:ln w="15875">
            <a:solidFill>
              <a:srgbClr val="FF5A0F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spc="150" kern="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ACTOR</a:t>
            </a:r>
            <a:endParaRPr lang="en-US" sz="1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Cataloguer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Curates software assets &amp; assigns taxonomic metadata.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4078224"/>
            <a:ext cx="1856232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1696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AUTHORING SCOPE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389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write authority over component artifacts, classification trees, and keyword indexes.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729216" y="2286000"/>
            <a:ext cx="1865376" cy="1810512"/>
          </a:xfrm>
          <a:prstGeom prst="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  <p:txBody>
          <a:bodyPr wrap="square" lIns="127000" tIns="127000" rIns="127000" bIns="12700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spc="15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CONSUMING ACTOR</a:t>
            </a:r>
            <a:endParaRPr lang="en-US" sz="1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User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Searches, retrieves, and integrates candidate components.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729216" y="4233672"/>
            <a:ext cx="1865376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48088" y="432511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CONSUMPTION SCOPE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9848088" y="454456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inspection, keyword matching, and subtree exploration across languages.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 flipV="1">
            <a:off x="2423160" y="2852928"/>
            <a:ext cx="429768" cy="164592"/>
          </a:xfrm>
          <a:prstGeom prst="line">
            <a:avLst/>
          </a:prstGeom>
          <a:noFill/>
          <a:ln w="15875">
            <a:solidFill>
              <a:srgbClr val="FF5A0F"/>
            </a:solidFill>
            <a:prstDash val="sysDot"/>
          </a:ln>
        </p:spPr>
      </p:sp>
      <p:sp>
        <p:nvSpPr>
          <p:cNvPr id="28" name="Shape 26"/>
          <p:cNvSpPr/>
          <p:nvPr/>
        </p:nvSpPr>
        <p:spPr>
          <a:xfrm>
            <a:off x="2423160" y="3566160"/>
            <a:ext cx="429768" cy="164592"/>
          </a:xfrm>
          <a:prstGeom prst="line">
            <a:avLst/>
          </a:prstGeom>
          <a:noFill/>
          <a:ln w="15875">
            <a:solidFill>
              <a:srgbClr val="FF5A0F"/>
            </a:solidFill>
            <a:prstDash val="sysDot"/>
          </a:ln>
        </p:spPr>
      </p:sp>
      <p:sp>
        <p:nvSpPr>
          <p:cNvPr id="29" name="Shape 27"/>
          <p:cNvSpPr/>
          <p:nvPr/>
        </p:nvSpPr>
        <p:spPr>
          <a:xfrm flipH="1" flipV="1">
            <a:off x="9281160" y="2852928"/>
            <a:ext cx="448056" cy="164592"/>
          </a:xfrm>
          <a:prstGeom prst="line">
            <a:avLst/>
          </a:prstGeom>
          <a:noFill/>
          <a:ln w="15875">
            <a:solidFill>
              <a:srgbClr val="888888"/>
            </a:solidFill>
            <a:prstDash val="sysDot"/>
          </a:ln>
        </p:spPr>
      </p:sp>
      <p:sp>
        <p:nvSpPr>
          <p:cNvPr id="30" name="Shape 28"/>
          <p:cNvSpPr/>
          <p:nvPr/>
        </p:nvSpPr>
        <p:spPr>
          <a:xfrm flipH="1">
            <a:off x="9281160" y="3566160"/>
            <a:ext cx="448056" cy="164592"/>
          </a:xfrm>
          <a:prstGeom prst="line">
            <a:avLst/>
          </a:prstGeom>
          <a:noFill/>
          <a:ln w="15875">
            <a:solidFill>
              <a:srgbClr val="888888"/>
            </a:solidFill>
            <a:prstDash val="sysDot"/>
          </a:ln>
        </p:spPr>
      </p:sp>
      <p:sp>
        <p:nvSpPr>
          <p:cNvPr id="31" name="Shape 29"/>
          <p:cNvSpPr/>
          <p:nvPr/>
        </p:nvSpPr>
        <p:spPr>
          <a:xfrm>
            <a:off x="566928" y="5760720"/>
            <a:ext cx="11027664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6928" y="58704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 PIPELINE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61081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Associates reusable code &amp; design units with controlled keyword sets.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288536" y="58704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 RETRIEVAL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288536" y="61081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Multi-criteria query evaluation plus hierarchical category drill-down.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001000" y="58704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 &amp; PURGE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8001000" y="61081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triggers automated eviction of dormant, zero-query components.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846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MODEL &amp;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07524" y="457200"/>
            <a:ext cx="168706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UML CLASS MODEL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027664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96012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Domain </a:t>
            </a:r>
            <a:pPr indent="0" marL="0">
              <a:buNone/>
            </a:pPr>
            <a:r>
              <a:rPr lang="en-US" sz="3200" b="1" spc="-50" kern="0" dirty="0">
                <a:solidFill>
                  <a:srgbClr val="FF5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Diagram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7373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STRUCTURAL RULES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0116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taxonomy where </a:t>
            </a:r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contains nested sub-categories recursively, housing multiple components.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3017520"/>
            <a:ext cx="25146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12724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MULTIPLICITIES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4747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: Component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7033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to 1..*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968496"/>
            <a:ext cx="251460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404164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: Keyword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27024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to 0..* (via ReuseInfo)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4535424"/>
            <a:ext cx="251460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460857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: UsageStat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83717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to 1 (audit log)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5257800"/>
            <a:ext cx="25146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537667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ACTOR HIERARCHY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65099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</a:t>
            </a:r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specializes into </a:t>
            </a:r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Cataloguer</a:t>
            </a:r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(curator) and </a:t>
            </a:r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CatalogueUser</a:t>
            </a:r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(searches with </a:t>
            </a:r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91840" y="1737360"/>
            <a:ext cx="0" cy="470916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1783080"/>
            <a:ext cx="2057400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FF5A0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602736" y="1874520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02736" y="2167128"/>
            <a:ext cx="1801368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02736" y="2240280"/>
            <a:ext cx="1801368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categoryId: String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String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parentCategory: Category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02736" y="2747772"/>
            <a:ext cx="1801368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02736" y="2820924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getSubCategories()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getComponents()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669280" y="1783080"/>
            <a:ext cx="1828800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FF5A0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797296" y="187452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797296" y="2167128"/>
            <a:ext cx="1572768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97296" y="2240280"/>
            <a:ext cx="1572768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componentId: String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String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type: Design | Code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797296" y="2747772"/>
            <a:ext cx="1572768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797296" y="282092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getDetails(): Spec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getUsageStat()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635240" y="1783080"/>
            <a:ext cx="20116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763256" y="187452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UsageStatistic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763256" y="2167128"/>
            <a:ext cx="1755648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63256" y="2240280"/>
            <a:ext cx="1755648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timesUsed: int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timesQueriedNotUsed: int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lastUsedOn: Date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763256" y="2747772"/>
            <a:ext cx="1755648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63256" y="2820924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recordAccess(used: bool)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getSummary(): Metric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784080" y="1783080"/>
            <a:ext cx="181051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9912096" y="18470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ReuseInfo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912096" y="2093976"/>
            <a:ext cx="155448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912096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description: String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notation: String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784080" y="2560320"/>
            <a:ext cx="181051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9912096" y="26243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Keyword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912096" y="2871216"/>
            <a:ext cx="155448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912096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term: String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weight: float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74720" y="3474720"/>
            <a:ext cx="8119872" cy="548640"/>
          </a:xfrm>
          <a:prstGeom prst="rect">
            <a:avLst/>
          </a:prstGeom>
          <a:solidFill>
            <a:srgbClr val="EDEDED"/>
          </a:solidFill>
          <a:ln w="9525">
            <a:solidFill>
              <a:srgbClr val="C8C8C8"/>
            </a:solidFill>
            <a:prstDash val="dash"/>
          </a:ln>
        </p:spPr>
      </p:sp>
      <p:sp>
        <p:nvSpPr>
          <p:cNvPr id="49" name="Text 47"/>
          <p:cNvSpPr txBox="1"/>
          <p:nvPr/>
        </p:nvSpPr>
        <p:spPr>
          <a:xfrm>
            <a:off x="361188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(Category) — contains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1..* (Component)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630936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(Component) — tracks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(UsageStat)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900684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(Component) — 0..*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(Keyword via ReuseInfo)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474720" y="4251960"/>
            <a:ext cx="1600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3602736" y="4343400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«abstract» User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602736" y="4636008"/>
            <a:ext cx="1344168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602736" y="4709160"/>
            <a:ext cx="134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userId: String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userName: String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602736" y="5065776"/>
            <a:ext cx="1344168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602736" y="5138928"/>
            <a:ext cx="134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login()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logout()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212080" y="4251960"/>
            <a:ext cx="21031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</p:sp>
      <p:sp>
        <p:nvSpPr>
          <p:cNvPr id="59" name="Text 57"/>
          <p:cNvSpPr txBox="1"/>
          <p:nvPr/>
        </p:nvSpPr>
        <p:spPr>
          <a:xfrm>
            <a:off x="5340096" y="434340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Cataloguer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340096" y="4636008"/>
            <a:ext cx="1847088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340096" y="4709160"/>
            <a:ext cx="1847088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registerComponent()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removeComponent()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linkKeywords()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452360" y="4251960"/>
            <a:ext cx="21945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</p:sp>
      <p:sp>
        <p:nvSpPr>
          <p:cNvPr id="63" name="Text 61"/>
          <p:cNvSpPr txBox="1"/>
          <p:nvPr/>
        </p:nvSpPr>
        <p:spPr>
          <a:xfrm>
            <a:off x="7580376" y="434340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CatalogueUser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7580376" y="4636008"/>
            <a:ext cx="1938528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580376" y="4709160"/>
            <a:ext cx="1938528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searchByKeyword()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browseCategory()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submitQuery()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9784080" y="4251960"/>
            <a:ext cx="1810512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FF5A0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</p:sp>
      <p:sp>
        <p:nvSpPr>
          <p:cNvPr id="67" name="Text 65"/>
          <p:cNvSpPr txBox="1"/>
          <p:nvPr/>
        </p:nvSpPr>
        <p:spPr>
          <a:xfrm>
            <a:off x="9912096" y="43434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9912096" y="4636008"/>
            <a:ext cx="155448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912096" y="4709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queryText: String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matchedKeywords: List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9912096" y="5065776"/>
            <a:ext cx="155448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9912096" y="513892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execute():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List&lt;Component&gt;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logOutcome(used: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bool)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846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BEHAVIOUR // INTERACTION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820656" y="457200"/>
            <a:ext cx="177393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UML 2.5 SEQUENCE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027664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96012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Diagram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298448"/>
            <a:ext cx="5925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Synchronous Component Ingestion &amp; Asynchronous Query Metrics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10991088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176272"/>
            <a:ext cx="0" cy="2688336"/>
          </a:xfrm>
          <a:prstGeom prst="line">
            <a:avLst/>
          </a:prstGeom>
          <a:noFill/>
          <a:ln w="9525">
            <a:solidFill>
              <a:srgbClr val="BBBBBB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731520" y="1847088"/>
            <a:ext cx="1463040" cy="329184"/>
          </a:xfrm>
          <a:prstGeom prst="rect">
            <a:avLst/>
          </a:prstGeom>
          <a:solidFill>
            <a:srgbClr val="FDE9DE"/>
          </a:solidFill>
          <a:ln w="12700">
            <a:solidFill>
              <a:srgbClr val="FF5A0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:Cataloguer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36976" y="2176272"/>
            <a:ext cx="0" cy="2688336"/>
          </a:xfrm>
          <a:prstGeom prst="line">
            <a:avLst/>
          </a:prstGeom>
          <a:noFill/>
          <a:ln w="9525">
            <a:solidFill>
              <a:srgbClr val="BBBBBB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2505456" y="1847088"/>
            <a:ext cx="1463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:CatalogueUI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10912" y="2176272"/>
            <a:ext cx="0" cy="2688336"/>
          </a:xfrm>
          <a:prstGeom prst="line">
            <a:avLst/>
          </a:prstGeom>
          <a:noFill/>
          <a:ln w="9525">
            <a:solidFill>
              <a:srgbClr val="BBBBBB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4279392" y="1847088"/>
            <a:ext cx="1463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:CatalogController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84848" y="2176272"/>
            <a:ext cx="0" cy="2688336"/>
          </a:xfrm>
          <a:prstGeom prst="line">
            <a:avLst/>
          </a:prstGeom>
          <a:noFill/>
          <a:ln w="9525">
            <a:solidFill>
              <a:srgbClr val="BBBBBB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053328" y="1847088"/>
            <a:ext cx="1463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:ComponentService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549640" y="2176272"/>
            <a:ext cx="0" cy="2688336"/>
          </a:xfrm>
          <a:prstGeom prst="line">
            <a:avLst/>
          </a:prstGeom>
          <a:noFill/>
          <a:ln w="9525">
            <a:solidFill>
              <a:srgbClr val="BBBBBB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7818120" y="1847088"/>
            <a:ext cx="1463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:ComponentRepo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332720" y="2176272"/>
            <a:ext cx="0" cy="2688336"/>
          </a:xfrm>
          <a:prstGeom prst="line">
            <a:avLst/>
          </a:prstGeom>
          <a:noFill/>
          <a:ln w="9525">
            <a:solidFill>
              <a:srgbClr val="BBBBBB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9601200" y="1847088"/>
            <a:ext cx="1463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:Database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417320" y="2468880"/>
            <a:ext cx="91440" cy="2194560"/>
          </a:xfrm>
          <a:prstGeom prst="rect">
            <a:avLst/>
          </a:prstGeom>
          <a:solidFill>
            <a:srgbClr val="F9D5C2"/>
          </a:solidFill>
          <a:ln w="9525">
            <a:solidFill>
              <a:srgbClr val="FF5A0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91256" y="2487168"/>
            <a:ext cx="91440" cy="2139696"/>
          </a:xfrm>
          <a:prstGeom prst="rect">
            <a:avLst/>
          </a:prstGeom>
          <a:solidFill>
            <a:srgbClr val="EFEFE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65192" y="2670048"/>
            <a:ext cx="91440" cy="1792224"/>
          </a:xfrm>
          <a:prstGeom prst="rect">
            <a:avLst/>
          </a:prstGeom>
          <a:solidFill>
            <a:srgbClr val="EFEFE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39128" y="2862072"/>
            <a:ext cx="91440" cy="1399032"/>
          </a:xfrm>
          <a:prstGeom prst="rect">
            <a:avLst/>
          </a:prstGeom>
          <a:solidFill>
            <a:srgbClr val="EFEFE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3419856"/>
            <a:ext cx="91440" cy="649224"/>
          </a:xfrm>
          <a:prstGeom prst="rect">
            <a:avLst/>
          </a:prstGeom>
          <a:solidFill>
            <a:srgbClr val="EFEFE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87000" y="3648456"/>
            <a:ext cx="91440" cy="228600"/>
          </a:xfrm>
          <a:prstGeom prst="rect">
            <a:avLst/>
          </a:prstGeom>
          <a:solidFill>
            <a:srgbClr val="F9D5C2"/>
          </a:solidFill>
          <a:ln w="9525">
            <a:solidFill>
              <a:srgbClr val="FF5A0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08760" y="2514600"/>
            <a:ext cx="1682496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1563624" y="2340864"/>
            <a:ext cx="310896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submitComponent(meta, file)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82696" y="2706624"/>
            <a:ext cx="1682496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3337560" y="2532888"/>
            <a:ext cx="310896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addComponent(dto)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56632" y="2898648"/>
            <a:ext cx="1682496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5111496" y="2724912"/>
            <a:ext cx="310896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createComponent(spec)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30568" y="3456432"/>
            <a:ext cx="167335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6885432" y="3282696"/>
            <a:ext cx="310896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 persist(componentEntity)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595360" y="3648456"/>
            <a:ext cx="169164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8650224" y="3474720"/>
            <a:ext cx="310896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 INSERT into catalog, tags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 flipH="1">
            <a:off x="8595360" y="3840480"/>
            <a:ext cx="1691640" cy="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  <a:tailEnd type="arrow"/>
          </a:ln>
        </p:spPr>
      </p:sp>
      <p:sp>
        <p:nvSpPr>
          <p:cNvPr id="37" name="Text 35"/>
          <p:cNvSpPr txBox="1"/>
          <p:nvPr/>
        </p:nvSpPr>
        <p:spPr>
          <a:xfrm>
            <a:off x="8650224" y="3666744"/>
            <a:ext cx="310896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 recordAck(id: 1042)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 flipH="1">
            <a:off x="6830568" y="4032504"/>
            <a:ext cx="1673352" cy="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  <a:tailEnd type="arrow"/>
          </a:ln>
        </p:spPr>
      </p:sp>
      <p:sp>
        <p:nvSpPr>
          <p:cNvPr id="39" name="Text 37"/>
          <p:cNvSpPr txBox="1"/>
          <p:nvPr/>
        </p:nvSpPr>
        <p:spPr>
          <a:xfrm>
            <a:off x="6885432" y="3858768"/>
            <a:ext cx="310896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8: success(entity)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 flipH="1">
            <a:off x="5056632" y="4224528"/>
            <a:ext cx="1682496" cy="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  <a:tailEnd type="arrow"/>
          </a:ln>
        </p:spPr>
      </p:sp>
      <p:sp>
        <p:nvSpPr>
          <p:cNvPr id="41" name="Text 39"/>
          <p:cNvSpPr txBox="1"/>
          <p:nvPr/>
        </p:nvSpPr>
        <p:spPr>
          <a:xfrm>
            <a:off x="5111496" y="4050792"/>
            <a:ext cx="310896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 http201Created(uri)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 flipH="1">
            <a:off x="3282696" y="4416552"/>
            <a:ext cx="1682496" cy="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  <a:tailEnd type="arrow"/>
          </a:ln>
        </p:spPr>
      </p:sp>
      <p:sp>
        <p:nvSpPr>
          <p:cNvPr id="43" name="Text 41"/>
          <p:cNvSpPr txBox="1"/>
          <p:nvPr/>
        </p:nvSpPr>
        <p:spPr>
          <a:xfrm>
            <a:off x="3337560" y="4242816"/>
            <a:ext cx="310896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 notifySuccess()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 flipH="1">
            <a:off x="1508760" y="4608576"/>
            <a:ext cx="1682496" cy="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  <a:tailEnd type="arrow"/>
          </a:ln>
        </p:spPr>
      </p:sp>
      <p:sp>
        <p:nvSpPr>
          <p:cNvPr id="45" name="Text 43"/>
          <p:cNvSpPr txBox="1"/>
          <p:nvPr/>
        </p:nvSpPr>
        <p:spPr>
          <a:xfrm>
            <a:off x="1563624" y="4434840"/>
            <a:ext cx="310896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 renderSuccessScreen()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830568" y="3090672"/>
            <a:ext cx="393192" cy="0"/>
          </a:xfrm>
          <a:prstGeom prst="line">
            <a:avLst/>
          </a:prstGeom>
          <a:noFill/>
          <a:ln w="15875">
            <a:solidFill>
              <a:srgbClr val="FF5A0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23760" y="3090672"/>
            <a:ext cx="0" cy="182880"/>
          </a:xfrm>
          <a:prstGeom prst="line">
            <a:avLst/>
          </a:prstGeom>
          <a:noFill/>
          <a:ln w="15875">
            <a:solidFill>
              <a:srgbClr val="FF5A0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>
            <a:off x="6830568" y="3273552"/>
            <a:ext cx="393192" cy="0"/>
          </a:xfrm>
          <a:prstGeom prst="line">
            <a:avLst/>
          </a:prstGeom>
          <a:noFill/>
          <a:ln w="15875">
            <a:solidFill>
              <a:srgbClr val="FF5A0F"/>
            </a:solidFill>
            <a:prstDash val="solid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7315200" y="3099816"/>
            <a:ext cx="2926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 attachKeywords(tagList)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66928" y="5257800"/>
            <a:ext cx="22860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49808" y="54406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SECONDARY FLOW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749808" y="5669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&amp; Stats Cycle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063240" y="5257800"/>
            <a:ext cx="41605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264408" y="53492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A  </a:t>
            </a:r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&amp; Discovery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3264408" y="561441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user queries keywords. Component repository executes search and returns ranked matches.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397496" y="5257800"/>
            <a:ext cx="41605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598664" y="53492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B  </a:t>
            </a:r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Usage Counter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7598664" y="561441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matches automatically fire asynchronous counter increments for access and reuse hit metrics.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846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ARCHITECTURE · DATA FLOW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386316" y="457200"/>
            <a:ext cx="220827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DFD LEVEL 0 &amp; LEVEL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027664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96012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</a:t>
            </a:r>
            <a:pPr indent="0" marL="0">
              <a:buNone/>
            </a:pPr>
            <a:r>
              <a:rPr lang="en-US" sz="3200" b="1" spc="-50" kern="0" dirty="0">
                <a:solidFill>
                  <a:srgbClr val="FF5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664208" y="1783080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Diagram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3182112" cy="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70248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367528" y="1783080"/>
            <a:ext cx="6208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Decomposition &amp; Stores (D1–D4)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70248" y="2084832"/>
            <a:ext cx="7306056" cy="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19456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boundary defining core entity interactions with the central software system.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270248" y="2194560"/>
            <a:ext cx="7306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Decomposition into 5 operational sub-processes with read/write access across four primary data stores.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05072" y="1783080"/>
            <a:ext cx="0" cy="452628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743200"/>
            <a:ext cx="3182112" cy="3602736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90472" y="3090672"/>
            <a:ext cx="1335024" cy="365760"/>
          </a:xfrm>
          <a:prstGeom prst="rect">
            <a:avLst/>
          </a:prstGeom>
          <a:solidFill>
            <a:srgbClr val="FDEEE4"/>
          </a:solidFill>
          <a:ln w="15875">
            <a:solidFill>
              <a:srgbClr val="FF5A0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CATALOGUER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490472" y="5650992"/>
            <a:ext cx="1335024" cy="365760"/>
          </a:xfrm>
          <a:prstGeom prst="rect">
            <a:avLst/>
          </a:prstGeom>
          <a:solidFill>
            <a:srgbClr val="F0F0F0"/>
          </a:solidFill>
          <a:ln w="15875">
            <a:solidFill>
              <a:srgbClr val="22222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CATALOGUE USER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563624" y="3950208"/>
            <a:ext cx="118872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00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Cataloguing System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92808" y="3456432"/>
            <a:ext cx="0" cy="566928"/>
          </a:xfrm>
          <a:prstGeom prst="line">
            <a:avLst/>
          </a:prstGeom>
          <a:noFill/>
          <a:ln w="15875">
            <a:solidFill>
              <a:srgbClr val="FF5A0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2423160" y="3456432"/>
            <a:ext cx="0" cy="566928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1892808" y="5065776"/>
            <a:ext cx="0" cy="585216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423160" y="5065776"/>
            <a:ext cx="0" cy="585216"/>
          </a:xfrm>
          <a:prstGeom prst="line">
            <a:avLst/>
          </a:prstGeom>
          <a:noFill/>
          <a:ln w="15875">
            <a:solidFill>
              <a:srgbClr val="FF5A0F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822960" y="365760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FF5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&amp; Spec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2487168" y="36576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Confirmations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3035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Query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2487168" y="53035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F5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&amp; Code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270248" y="2743200"/>
            <a:ext cx="7306056" cy="3602736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91456" y="3081528"/>
            <a:ext cx="292608" cy="329184"/>
          </a:xfrm>
          <a:prstGeom prst="rect">
            <a:avLst/>
          </a:prstGeom>
          <a:solidFill>
            <a:srgbClr val="EEEEEE"/>
          </a:solidFill>
          <a:ln w="3175">
            <a:solidFill>
              <a:srgbClr val="EEEE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91456" y="3081528"/>
            <a:ext cx="1298448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91456" y="3410712"/>
            <a:ext cx="1298448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91456" y="3081528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5084064" y="308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Catalogue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510528" y="3081528"/>
            <a:ext cx="292608" cy="329184"/>
          </a:xfrm>
          <a:prstGeom prst="rect">
            <a:avLst/>
          </a:prstGeom>
          <a:solidFill>
            <a:srgbClr val="EEEEEE"/>
          </a:solidFill>
          <a:ln w="3175">
            <a:solidFill>
              <a:srgbClr val="EEEE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10528" y="3081528"/>
            <a:ext cx="1298448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10528" y="3410712"/>
            <a:ext cx="1298448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10528" y="3081528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6803136" y="308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229600" y="3081528"/>
            <a:ext cx="292608" cy="329184"/>
          </a:xfrm>
          <a:prstGeom prst="rect">
            <a:avLst/>
          </a:prstGeom>
          <a:solidFill>
            <a:srgbClr val="EEEEEE"/>
          </a:solidFill>
          <a:ln w="3175">
            <a:solidFill>
              <a:srgbClr val="EEEE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3081528"/>
            <a:ext cx="1298448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0" y="3410712"/>
            <a:ext cx="1298448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29600" y="3081528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8522208" y="308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Keywords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875520" y="3081528"/>
            <a:ext cx="292608" cy="329184"/>
          </a:xfrm>
          <a:prstGeom prst="rect">
            <a:avLst/>
          </a:prstGeom>
          <a:solidFill>
            <a:srgbClr val="EEEEEE"/>
          </a:solidFill>
          <a:ln w="3175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75520" y="3081528"/>
            <a:ext cx="1298448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875520" y="3410712"/>
            <a:ext cx="1298448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875520" y="3081528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10168128" y="308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 Stats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4581144" y="3922776"/>
            <a:ext cx="9144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100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Components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5961888" y="3922776"/>
            <a:ext cx="9144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endParaRPr lang="en-US" sz="100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Categories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7397496" y="3922776"/>
            <a:ext cx="914400" cy="914400"/>
          </a:xfrm>
          <a:prstGeom prst="ellipse">
            <a:avLst/>
          </a:prstGeom>
          <a:solidFill>
            <a:srgbClr val="FDE9DE"/>
          </a:solidFill>
          <a:ln w="25400">
            <a:solidFill>
              <a:srgbClr val="FF5A0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</a:t>
            </a:r>
            <a:endParaRPr lang="en-US" sz="100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&amp; Browse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842248" y="3922776"/>
            <a:ext cx="9144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4.0</a:t>
            </a:r>
            <a:endParaRPr lang="en-US" sz="100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Stats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0177272" y="3922776"/>
            <a:ext cx="9144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</a:t>
            </a:r>
            <a:endParaRPr lang="en-US" sz="100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Purge Unused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 flipV="1">
            <a:off x="5202936" y="3429000"/>
            <a:ext cx="82296" cy="548640"/>
          </a:xfrm>
          <a:prstGeom prst="line">
            <a:avLst/>
          </a:prstGeom>
          <a:noFill/>
          <a:ln w="1143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V="1">
            <a:off x="5394960" y="3429000"/>
            <a:ext cx="2889504" cy="685800"/>
          </a:xfrm>
          <a:prstGeom prst="line">
            <a:avLst/>
          </a:prstGeom>
          <a:noFill/>
          <a:ln w="1143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V="1">
            <a:off x="6620256" y="3429000"/>
            <a:ext cx="265176" cy="539496"/>
          </a:xfrm>
          <a:prstGeom prst="line">
            <a:avLst/>
          </a:prstGeom>
          <a:noFill/>
          <a:ln w="1143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5833872" y="3438144"/>
            <a:ext cx="1773936" cy="676656"/>
          </a:xfrm>
          <a:prstGeom prst="line">
            <a:avLst/>
          </a:prstGeom>
          <a:noFill/>
          <a:ln w="1143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 flipH="1">
            <a:off x="8101584" y="3438144"/>
            <a:ext cx="493776" cy="566928"/>
          </a:xfrm>
          <a:prstGeom prst="line">
            <a:avLst/>
          </a:prstGeom>
          <a:noFill/>
          <a:ln w="15875">
            <a:solidFill>
              <a:srgbClr val="FF5A0F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8293608" y="4379976"/>
            <a:ext cx="557784" cy="0"/>
          </a:xfrm>
          <a:prstGeom prst="line">
            <a:avLst/>
          </a:prstGeom>
          <a:noFill/>
          <a:ln w="1143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8247888" y="417880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 evt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 flipV="1">
            <a:off x="9528048" y="3429000"/>
            <a:ext cx="658368" cy="594360"/>
          </a:xfrm>
          <a:prstGeom prst="line">
            <a:avLst/>
          </a:prstGeom>
          <a:noFill/>
          <a:ln w="1143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10744200" y="3429000"/>
            <a:ext cx="0" cy="539496"/>
          </a:xfrm>
          <a:prstGeom prst="line">
            <a:avLst/>
          </a:prstGeom>
          <a:noFill/>
          <a:ln w="1143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10634472" y="4818888"/>
            <a:ext cx="0" cy="438912"/>
          </a:xfrm>
          <a:prstGeom prst="line">
            <a:avLst/>
          </a:prstGeom>
          <a:noFill/>
          <a:ln w="15875">
            <a:solidFill>
              <a:srgbClr val="FF5A0F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 flipH="1">
            <a:off x="5038344" y="5257800"/>
            <a:ext cx="5596128" cy="0"/>
          </a:xfrm>
          <a:prstGeom prst="line">
            <a:avLst/>
          </a:prstGeom>
          <a:noFill/>
          <a:ln w="15875">
            <a:solidFill>
              <a:srgbClr val="FF5A0F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 flipV="1">
            <a:off x="5038344" y="4818888"/>
            <a:ext cx="0" cy="438912"/>
          </a:xfrm>
          <a:prstGeom prst="line">
            <a:avLst/>
          </a:prstGeom>
          <a:noFill/>
          <a:ln w="15875">
            <a:solidFill>
              <a:srgbClr val="FF5A0F"/>
            </a:solidFill>
            <a:prstDash val="dash"/>
            <a:tailEnd type="triangle"/>
          </a:ln>
        </p:spPr>
      </p:sp>
      <p:sp>
        <p:nvSpPr>
          <p:cNvPr id="65" name="Text 63"/>
          <p:cNvSpPr txBox="1"/>
          <p:nvPr/>
        </p:nvSpPr>
        <p:spPr>
          <a:xfrm>
            <a:off x="5943600" y="5330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cascade delete stale assets (D1, D3)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846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 FLOW &amp;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081260" y="457200"/>
            <a:ext cx="15133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01 → 05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027664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96012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Working Explanation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276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component lifecycle across cataloguing, hierarchical taxonomy, telemetry tracking, and purge automation.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414016"/>
            <a:ext cx="1856232" cy="0"/>
          </a:xfrm>
          <a:prstGeom prst="line">
            <a:avLst/>
          </a:prstGeom>
          <a:noFill/>
          <a:ln w="19050">
            <a:solidFill>
              <a:srgbClr val="FF5A0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5420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551176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834640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&amp; Ingest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3419856"/>
            <a:ext cx="185623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3547872"/>
            <a:ext cx="1856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Cataloguer authenticates via credentials and submits reusable design models or source code packages with metadata.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029200"/>
            <a:ext cx="18562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 METRICS</a:t>
            </a:r>
            <a:endParaRPr lang="en-US" sz="100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Keywords • Code/UML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496312" y="370332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852928" y="2414016"/>
            <a:ext cx="1856232" cy="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52928" y="25420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310128" y="2551176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852928" y="2834640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Taxonomy Placement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852928" y="3419856"/>
            <a:ext cx="185623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52928" y="3547872"/>
            <a:ext cx="1856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maps the validated component into the hierarchical category tree for structured browsability and inheritance.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852928" y="5029200"/>
            <a:ext cx="18562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HIERARCHY TARGET</a:t>
            </a:r>
            <a:endParaRPr lang="en-US" sz="100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Tree Node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782312" y="370332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138928" y="2414016"/>
            <a:ext cx="1856232" cy="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38928" y="25420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596128" y="2551176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138928" y="2834640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Search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138928" y="3419856"/>
            <a:ext cx="185623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38928" y="3547872"/>
            <a:ext cx="1856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execute fuzzy keyword queries; initial result matches immediately increment the query-not-used counter.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138928" y="5029200"/>
            <a:ext cx="18562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 UPDATE</a:t>
            </a:r>
            <a:endParaRPr lang="en-US" sz="100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queryNotUsed += 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068312" y="370332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424928" y="2414016"/>
            <a:ext cx="1856232" cy="0"/>
          </a:xfrm>
          <a:prstGeom prst="line">
            <a:avLst/>
          </a:prstGeom>
          <a:noFill/>
          <a:ln w="19050">
            <a:solidFill>
              <a:srgbClr val="FF5A0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24928" y="25420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882128" y="2551176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 METRICS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424928" y="2834640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Attribution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424928" y="3419856"/>
            <a:ext cx="185623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24928" y="3547872"/>
            <a:ext cx="1856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engineer integrates the asset, an explicit checkout event decrements pending status and increments used counter.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424928" y="5029200"/>
            <a:ext cx="18562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 UPDATE</a:t>
            </a:r>
            <a:endParaRPr lang="en-US" sz="100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usedCounter += 1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354312" y="370332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9710928" y="2414016"/>
            <a:ext cx="1856232" cy="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710928" y="25420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0168128" y="2551176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MAINTENANCE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9710928" y="2834640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&amp; Purge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9710928" y="3419856"/>
            <a:ext cx="185623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710928" y="3547872"/>
            <a:ext cx="1856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scheduled daemon reviews unreferenced components, de-allocating stale catalogued assets with zero adoption.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9710928" y="5029200"/>
            <a:ext cx="18562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SCHEDULED ACTION</a:t>
            </a:r>
            <a:endParaRPr lang="en-US" sz="100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cron: purgeUnused()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6928" y="5852160"/>
            <a:ext cx="11027664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66928" y="6035040"/>
            <a:ext cx="148132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TELEMETRY SPEC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2194560" y="601675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hits without adoption increment query-not-used. Actual project integration increments used counter.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509760" y="601675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SEC 04 // PIPELINE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846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473184" y="457200"/>
            <a:ext cx="212140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 STACK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027664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96012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</a:t>
            </a:r>
            <a:pPr indent="0" marL="0">
              <a:buNone/>
            </a:pPr>
            <a:r>
              <a:rPr lang="en-US" sz="3200" b="1" spc="-50" kern="0" dirty="0">
                <a:solidFill>
                  <a:srgbClr val="FF5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828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 CRITERIA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76272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selected to ensure strict taxonomic integrity, rapid search response, and reproducible build pipelines.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474720"/>
            <a:ext cx="21031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6576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 Typing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858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End-to-end interface contracts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2976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Hierarchical Data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4988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 recursive tree queries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9377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 Isolation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138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Hermetic container runtimes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5577840"/>
            <a:ext cx="2103120" cy="822960"/>
          </a:xfrm>
          <a:prstGeom prst="rect">
            <a:avLst/>
          </a:prstGeom>
          <a:solidFill>
            <a:srgbClr val="EBEBE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56692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 TARGET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" y="58887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17 LTS / Node 20 / Linux Alpine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99232" y="1783080"/>
            <a:ext cx="0" cy="461772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00984" y="1847088"/>
            <a:ext cx="405993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666744" y="2121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5897880" y="2212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v18.2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66744" y="2560320"/>
            <a:ext cx="3328416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66744" y="2688336"/>
            <a:ext cx="3328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component browsing, category taxonomy navigation, and instant keyword filter UI.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666744" y="3538728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 Client Presentation Tier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534656" y="1847088"/>
            <a:ext cx="405993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900416" y="2121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10131552" y="2212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v3.2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900416" y="2560320"/>
            <a:ext cx="3328416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00416" y="2688336"/>
            <a:ext cx="3328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REST API layer providing robust business logic, role-based security, and search orchestration.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900416" y="3538728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 Core Service Engine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00984" y="4215384"/>
            <a:ext cx="405993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3666744" y="4489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5897880" y="458114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66744" y="4928616"/>
            <a:ext cx="3328416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666744" y="5056632"/>
            <a:ext cx="3328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engine with recursive CTE support for arbitrary hierarchical category trees and indexing.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666744" y="590702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 Persistent Data Store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534656" y="4215384"/>
            <a:ext cx="405993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7900416" y="4489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&amp; Maven</a:t>
            </a:r>
            <a:endParaRPr lang="en-US" sz="1900" dirty="0"/>
          </a:p>
        </p:txBody>
      </p:sp>
      <p:sp>
        <p:nvSpPr>
          <p:cNvPr id="39" name="Text 37"/>
          <p:cNvSpPr txBox="1"/>
          <p:nvPr/>
        </p:nvSpPr>
        <p:spPr>
          <a:xfrm>
            <a:off x="10131552" y="458114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JUnit 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900416" y="4928616"/>
            <a:ext cx="3328416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900416" y="5056632"/>
            <a:ext cx="3328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Maven builds, containerised service delivery, and automated JUnit test verification.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900416" y="590702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 CI/CD &amp; Verification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846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 MATRIX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604504" y="457200"/>
            <a:ext cx="299008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FIGURE 06 / EDGE CASE PROTOCOL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027664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96012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Testing: Client &amp; Service Boundary Validation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Frontend Edge Cases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/ Runtime Bounds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221992"/>
            <a:ext cx="5376672" cy="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359152"/>
            <a:ext cx="5376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&amp; Input Bounds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633472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Zero-match queries, oversized keyword tags, and unclassified upload payloads without schema definitions.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145536"/>
            <a:ext cx="5376672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3246120"/>
            <a:ext cx="5376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Taxonomy &amp; Rendering Overflow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520440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Deeply nested category trees (&gt;12 levels) and chip wrap containment across fixed-width panels.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032504"/>
            <a:ext cx="5376672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4133088"/>
            <a:ext cx="5376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 Control Degradation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407408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stripping of cataloguer controls upon token expiration and session de-authentication.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919472"/>
            <a:ext cx="5376672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5020056"/>
            <a:ext cx="5376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Transport &amp; Pagination Stress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294376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cursor boundary paging, network disconnection handling, and graceful offline cache recovery.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56248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Backend Edge Cases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400032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Concurrency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56248" y="2221992"/>
            <a:ext cx="5038344" cy="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56248" y="2359152"/>
            <a:ext cx="5038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Integrity &amp; Collision Rules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556248" y="2633472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component naming collisions, invalid foreign category IDs, and strict keyword length cap validation.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56248" y="3145536"/>
            <a:ext cx="5038344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56248" y="3246120"/>
            <a:ext cx="5038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Purge Races &amp; Referential Clean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556248" y="3520440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component access during administrative deletion, preventing dangling references and orphaned records.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56248" y="4032504"/>
            <a:ext cx="5038344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56248" y="4133088"/>
            <a:ext cx="5038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 &amp; Counter Atomicity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556248" y="4407408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transaction updates for reuse metrics to prevent race conditions under sustained read loads.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56248" y="4919472"/>
            <a:ext cx="5038344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56248" y="5020056"/>
            <a:ext cx="5038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Sparse Aggregations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556248" y="5294376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aggregate calculation for zero-result categories and empty keyword indexing tables.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45352" y="1810512"/>
            <a:ext cx="0" cy="411480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6080760"/>
            <a:ext cx="11027664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6928" y="61722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 Coverage: Contract Assertions &amp; Fault Injection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7498080" y="6181344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Automated Edge Suites Passing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846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ARCHITECTURE // SCREEN COMPARISON MATRIX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951976" y="457200"/>
            <a:ext cx="264261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SEC. 05 • UI SPECIFICATION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027664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96012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/ screens and how they differ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810512"/>
            <a:ext cx="11027664" cy="4379976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04088" y="18105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 / VIEW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95728" y="18105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ROLE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776472" y="18105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AUTHORIZED ACTIONS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607808" y="18105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LOADED DATA ENTITIES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2221992"/>
            <a:ext cx="11027664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22219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01. Login / Register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395728" y="2395728"/>
            <a:ext cx="1057046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/ ALL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3776472" y="222199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 user session, validate credential tokens, register identity.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607808" y="222199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UserAuth, SessionToken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2788920"/>
            <a:ext cx="11027664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088" y="278892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02. Dashboard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395728" y="2962656"/>
            <a:ext cx="112837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AUTHENTICATED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3776472" y="278892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high-level inventory metrics, review recent submissions, track reuse velocity.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607808" y="278892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AggregateCounts, ActivityLog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" y="3355848"/>
            <a:ext cx="11027664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4088" y="33558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03. Component Search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395728" y="3529584"/>
            <a:ext cx="1199693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CATALOGUE USER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3776472" y="335584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language and notation, query indexed keywords, sort result rank.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607808" y="335584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SearchResultSummary[], Facets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922776"/>
            <a:ext cx="11027664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4088" y="392277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04. Component Details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395728" y="4096512"/>
            <a:ext cx="1199693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CATALOGUE USER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3776472" y="3922776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design artifacts, copy code, trigger reuse counter increment, export specs.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607808" y="3922776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ComponentMetadata, Keywords, Artifacts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6928" y="4489704"/>
            <a:ext cx="11027664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04088" y="448970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05. Add / Edit Component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395728" y="4663440"/>
            <a:ext cx="9144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FF5A0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CATALOGUER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3776472" y="4489704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source code or UML schematics, assign taxonomy node, tag keywords.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607808" y="448970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DraftComponent, CategoryHierarchy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5056632"/>
            <a:ext cx="11027664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04088" y="505663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06. Category Browser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2395728" y="5230368"/>
            <a:ext cx="1199693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CATALOGUE USER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3776472" y="505663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Traverse hierarchical classification tree, expand subtrees, inspect category counts.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607808" y="505663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CategoryTreeNodes, MemberIndices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" y="5623560"/>
            <a:ext cx="11027664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04088" y="56235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07. Admin &amp; Metrics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2395728" y="5797296"/>
            <a:ext cx="9144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FF5A0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CATALOGUER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3776472" y="562356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Purge obsolete versions, audit reuse frequencies, monitor catalogue growth rates.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7607808" y="562356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SystemHealth, UsageMetrics, AuditLog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846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CLOSURE &amp; SYNTHESIS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560052" y="457200"/>
            <a:ext cx="2034540" cy="329184"/>
          </a:xfrm>
          <a:prstGeom prst="rect">
            <a:avLst/>
          </a:prstGeom>
          <a:solidFill>
            <a:srgbClr val="1E232B"/>
          </a:solidFill>
          <a:ln w="9525">
            <a:solidFill>
              <a:srgbClr val="3A414C"/>
            </a:solidFill>
          </a:ln>
          <a:effectLst>
            <a:outerShdw sx="100000" sy="100000" kx="0" ky="0" algn="bl" rotWithShape="0" blurRad="63500" dist="19050" dir="540000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LAB FINAL REVIEW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027664" cy="0"/>
          </a:xfrm>
          <a:prstGeom prst="line">
            <a:avLst/>
          </a:prstGeom>
          <a:noFill/>
          <a:ln w="9525">
            <a:solidFill>
              <a:srgbClr val="262B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96012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Fallacies &amp; </a:t>
            </a:r>
            <a:pPr indent="0" marL="0">
              <a:buNone/>
            </a:pPr>
            <a:r>
              <a:rPr lang="en-US" sz="3200" b="1" spc="-50" kern="0" dirty="0">
                <a:solidFill>
                  <a:srgbClr val="FF5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8288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DISTRIBUTED FALLACY MITIGATIONS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6099048" cy="3493008"/>
          </a:xfrm>
          <a:prstGeom prst="rect">
            <a:avLst/>
          </a:prstGeom>
          <a:solidFill>
            <a:srgbClr val="11151B"/>
          </a:solidFill>
          <a:ln w="9525">
            <a:solidFill>
              <a:srgbClr val="1F24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103120"/>
            <a:ext cx="6099048" cy="384048"/>
          </a:xfrm>
          <a:prstGeom prst="rect">
            <a:avLst/>
          </a:prstGeom>
          <a:solidFill>
            <a:srgbClr val="1C2129"/>
          </a:solidFill>
          <a:ln w="3175">
            <a:solidFill>
              <a:srgbClr val="1C212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" y="2103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FALLACY ASSUMPTION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21031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ENGINEERED MITIGATION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248716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Reliable Network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48716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backoff retries with client-side circuit break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108960"/>
            <a:ext cx="6099048" cy="0"/>
          </a:xfrm>
          <a:prstGeom prst="line">
            <a:avLst/>
          </a:prstGeom>
          <a:noFill/>
          <a:ln w="9525">
            <a:solidFill>
              <a:srgbClr val="262B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4088" y="31089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Latency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310896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keys, keyset pagination, and async view aggregations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730752"/>
            <a:ext cx="6099048" cy="0"/>
          </a:xfrm>
          <a:prstGeom prst="line">
            <a:avLst/>
          </a:prstGeom>
          <a:noFill/>
          <a:ln w="9525">
            <a:solidFill>
              <a:srgbClr val="262B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088" y="373075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Infinite Bandwidth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971800" y="3730752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batch writes and lean payload projections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352544"/>
            <a:ext cx="6099048" cy="0"/>
          </a:xfrm>
          <a:prstGeom prst="line">
            <a:avLst/>
          </a:prstGeom>
          <a:noFill/>
          <a:ln w="9525">
            <a:solidFill>
              <a:srgbClr val="262B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088" y="435254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 Perimeter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971800" y="4352544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JWT access tokens and granular RBAC role claims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974336"/>
            <a:ext cx="6099048" cy="0"/>
          </a:xfrm>
          <a:prstGeom prst="line">
            <a:avLst/>
          </a:prstGeom>
          <a:noFill/>
          <a:ln w="9525">
            <a:solidFill>
              <a:srgbClr val="262B3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4088" y="497433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Topology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2971800" y="497433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Decoupled micro-endpoints bound via standard REST contracts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976872" y="18288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ARCHITECTURAL CORE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976872" y="2103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component cataloguer delivers robust, type-checked metadata classification for UML/ERD models and multi-language source libraries.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976872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Robust Architecture • Clean REST Contracts • Future-Ready AI Tagging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76872" y="3566160"/>
            <a:ext cx="4572000" cy="0"/>
          </a:xfrm>
          <a:prstGeom prst="line">
            <a:avLst/>
          </a:prstGeom>
          <a:noFill/>
          <a:ln w="9525">
            <a:solidFill>
              <a:srgbClr val="262B3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76872" y="36758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LIMITATIONS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6976872" y="3931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taxonomy curation remains required for domain hierarchies; cross-boundary semantic keyword matching lacks synonym comprehension.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76872" y="4846320"/>
            <a:ext cx="4572000" cy="0"/>
          </a:xfrm>
          <a:prstGeom prst="line">
            <a:avLst/>
          </a:prstGeom>
          <a:noFill/>
          <a:ln w="9525">
            <a:solidFill>
              <a:srgbClr val="262B3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76872" y="49560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ROADMAP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6976872" y="52120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automated metadata tagging via embeddings, coupled with deep AST code similarity detection for automated reuse verification.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Component Cataloguing System</dc:title>
  <dc:subject>PptxGenJS Presentation</dc:subject>
  <dc:creator>PptxGenJS</dc:creator>
  <cp:lastModifiedBy>PptxGenJS</cp:lastModifiedBy>
  <cp:revision>1</cp:revision>
  <dcterms:created xsi:type="dcterms:W3CDTF">2026-09-30T03:15:22Z</dcterms:created>
  <dcterms:modified xsi:type="dcterms:W3CDTF">2026-09-30T03:15:22Z</dcterms:modified>
</cp:coreProperties>
</file>