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we built for Assignment 8: a catalogue of reusable designs and code, as a web application. Cataloguers file components with keywords in a category tree, users find them by search or browsing, and the system counts uses so unused components can be purged.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asks for a catalogue, keyword search, a hierarchy, and counters to help purge. Notation (UML, Java, ...) and category (where it is filed) are two separate properties of a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requirement has an ID and traces to a use case and a test. The eight groups follow section 2 of the SRS, so any ID can be looked up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only claim what we can show; the right column says how each one is checked. T-numbers are test cases in the test plan. NFR-11 (CORS) is the one checked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include relationship; every use case can be completed on its own. Actor generalisation means a Cataloguer can do everything a User can, and a User everything a Visitor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drawn from apps/api/prisma/schema.prisma. Counters live on Component; every use also creates a UsageEvent row. Role and ComponentKind are enumerations.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app never touches the database; the API is the only path to the data. Inside the API each layer has one job: routes mount paths, middleware checks the token and role, controllers validate with the shared zod schemas, services hold every business rule and are the only code that imports Prisma.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is used only as managed PostgreSQL; authentication is our own API (JWT signed by Express). The shared package means a rule like 'keywords are trimmed and lowercase' is written once and used by both the form and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shown many times but never used is the purge candidate this design is built to find. Search and use are each one database transaction, so the counters are never half-updated. Purge is started by a cataloguer; there is no scheduled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failure in either flow leaves nothing half-written; there is a test that forces a failure inside the transaction. The queryId returned by search is what links a later use back to that search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site adapts to the role: visitors, users and cataloguers see different menus. The server still checks the role on every console API call, so hiding the menu is not the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search, open, use, then show the counters change. Behind the Use button: POST /api/v1/components/:id/use with the queryId from the search, handled by the usage service in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Purge is deliberate: criteria, review, confirm, and the server checks again before deleting. Every cataloguer write, including each purge deletion, adds one audit row in the same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from requirement to test is in the report. The numbers are from the last full run on 30 Sep 2026: 5 shared unit tests plus 56 API tests make 61, all passing, and CI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list the limits ourselves, because each one has a clear next step. For example, the in-memory rate limiter works on one server but each serverless instance has its own counter, so a shared store would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we can show any part of the system live: search, use, the cataloguer console, or the purge.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layered architecture as classes. Only services use PrismaClient, and AuditService is called by every service that writes, so each cataloguer change is logged in the same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/api/v1/components goes through requireCataloguer, the controller parses the body with zod, and the component service checks the notation kind, then writes component, keywords and audit row in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diagram shows the whole system as one process with its two external entities and the data they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breaks the system into seven processes. Each data store maps to one or two database tables, for example D6 Search log is SearchQuery and SearchResult.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YashIIT0909/SWE_LAB_Assignment"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640080"/>
            <a:ext cx="6949440" cy="365760"/>
          </a:xfrm>
          <a:prstGeom prst="rect">
            <a:avLst/>
          </a:prstGeom>
          <a:noFill/>
          <a:ln/>
        </p:spPr>
        <p:txBody>
          <a:bodyPr wrap="square" lIns="0" tIns="0" rIns="0" bIns="0" rtlCol="0" anchor="t"/>
          <a:lstStyle/>
          <a:p>
            <a:pPr indent="0" marL="0">
              <a:buNone/>
            </a:pPr>
            <a:r>
              <a:rPr lang="en-US" sz="1600" b="1" dirty="0">
                <a:solidFill>
                  <a:srgbClr val="F4A62A"/>
                </a:solidFill>
                <a:latin typeface="Calibri" pitchFamily="34" charset="0"/>
                <a:ea typeface="Calibri" pitchFamily="34" charset="-122"/>
                <a:cs typeface="Calibri" pitchFamily="34" charset="-120"/>
              </a:rPr>
              <a:t>Software Engineering Lab · Assignment 8</a:t>
            </a:r>
            <a:endParaRPr lang="en-US" sz="1600" dirty="0"/>
          </a:p>
        </p:txBody>
      </p:sp>
      <p:sp>
        <p:nvSpPr>
          <p:cNvPr id="3" name="Text 1"/>
          <p:cNvSpPr txBox="1"/>
          <p:nvPr/>
        </p:nvSpPr>
        <p:spPr>
          <a:xfrm>
            <a:off x="548640" y="1097280"/>
            <a:ext cx="6949440" cy="173736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Software Component Cataloguing System</a:t>
            </a:r>
            <a:endParaRPr lang="en-US" sz="4200" dirty="0"/>
          </a:p>
        </p:txBody>
      </p:sp>
      <p:sp>
        <p:nvSpPr>
          <p:cNvPr id="4" name="Text 2"/>
          <p:cNvSpPr txBox="1"/>
          <p:nvPr/>
        </p:nvSpPr>
        <p:spPr>
          <a:xfrm>
            <a:off x="548640" y="2880360"/>
            <a:ext cx="69494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 searchable catalogue of reusable design and code components, with usage tracking to find and purge the ones nobody uses.</a:t>
            </a:r>
            <a:endParaRPr lang="en-US" sz="1800" dirty="0"/>
          </a:p>
        </p:txBody>
      </p:sp>
      <p:sp>
        <p:nvSpPr>
          <p:cNvPr id="5" name="Shape 3"/>
          <p:cNvSpPr/>
          <p:nvPr/>
        </p:nvSpPr>
        <p:spPr>
          <a:xfrm>
            <a:off x="548640" y="3977640"/>
            <a:ext cx="2834640" cy="438912"/>
          </a:xfrm>
          <a:prstGeom prst="roundRect">
            <a:avLst>
              <a:gd name="adj" fmla="val 25000"/>
            </a:avLst>
          </a:prstGeom>
          <a:solidFill>
            <a:srgbClr val="1F7A8C"/>
          </a:solidFill>
          <a:ln/>
        </p:spPr>
      </p:sp>
      <p:sp>
        <p:nvSpPr>
          <p:cNvPr id="6" name="Text 4"/>
          <p:cNvSpPr txBox="1"/>
          <p:nvPr/>
        </p:nvSpPr>
        <p:spPr>
          <a:xfrm>
            <a:off x="548640" y="3977640"/>
            <a:ext cx="2834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 notations: 4 design, 6 code</a:t>
            </a:r>
            <a:endParaRPr lang="en-US" sz="1400" dirty="0"/>
          </a:p>
        </p:txBody>
      </p:sp>
      <p:sp>
        <p:nvSpPr>
          <p:cNvPr id="7" name="Shape 5"/>
          <p:cNvSpPr/>
          <p:nvPr/>
        </p:nvSpPr>
        <p:spPr>
          <a:xfrm>
            <a:off x="3566160" y="3977640"/>
            <a:ext cx="2606040" cy="438912"/>
          </a:xfrm>
          <a:prstGeom prst="roundRect">
            <a:avLst>
              <a:gd name="adj" fmla="val 25000"/>
            </a:avLst>
          </a:prstGeom>
          <a:solidFill>
            <a:srgbClr val="1F7A8C"/>
          </a:solidFill>
          <a:ln/>
        </p:spPr>
      </p:sp>
      <p:sp>
        <p:nvSpPr>
          <p:cNvPr id="8" name="Text 6"/>
          <p:cNvSpPr txBox="1"/>
          <p:nvPr/>
        </p:nvSpPr>
        <p:spPr>
          <a:xfrm>
            <a:off x="3566160" y="3977640"/>
            <a:ext cx="26060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Keyword search with ranking</a:t>
            </a:r>
            <a:endParaRPr lang="en-US" sz="1400" dirty="0"/>
          </a:p>
        </p:txBody>
      </p:sp>
      <p:sp>
        <p:nvSpPr>
          <p:cNvPr id="9" name="Shape 7"/>
          <p:cNvSpPr/>
          <p:nvPr/>
        </p:nvSpPr>
        <p:spPr>
          <a:xfrm>
            <a:off x="548640" y="4544568"/>
            <a:ext cx="2423160" cy="438912"/>
          </a:xfrm>
          <a:prstGeom prst="roundRect">
            <a:avLst>
              <a:gd name="adj" fmla="val 25000"/>
            </a:avLst>
          </a:prstGeom>
          <a:solidFill>
            <a:srgbClr val="1F7A8C"/>
          </a:solidFill>
          <a:ln/>
        </p:spPr>
      </p:sp>
      <p:sp>
        <p:nvSpPr>
          <p:cNvPr id="10" name="Text 8"/>
          <p:cNvSpPr txBox="1"/>
          <p:nvPr/>
        </p:nvSpPr>
        <p:spPr>
          <a:xfrm>
            <a:off x="548640" y="4544568"/>
            <a:ext cx="242316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Usage counters and purge</a:t>
            </a:r>
            <a:endParaRPr lang="en-US" sz="1400" dirty="0"/>
          </a:p>
        </p:txBody>
      </p:sp>
      <p:sp>
        <p:nvSpPr>
          <p:cNvPr id="11" name="Text 9"/>
          <p:cNvSpPr txBox="1"/>
          <p:nvPr/>
        </p:nvSpPr>
        <p:spPr>
          <a:xfrm>
            <a:off x="548640" y="5257800"/>
            <a:ext cx="6949440" cy="320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IIT (ISM) Dhanbad · September 2026</a:t>
            </a:r>
            <a:endParaRPr lang="en-US" sz="1400" dirty="0"/>
          </a:p>
        </p:txBody>
      </p:sp>
      <p:sp>
        <p:nvSpPr>
          <p:cNvPr id="12" name="Text 10"/>
          <p:cNvSpPr txBox="1"/>
          <p:nvPr/>
        </p:nvSpPr>
        <p:spPr>
          <a:xfrm>
            <a:off x="548640" y="5623560"/>
            <a:ext cx="6949440"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Dinesh Krishna · Sankar · Vishesh · Sai Teja · Yash Agarwal · Yash Patidar</a:t>
            </a:r>
            <a:endParaRPr lang="en-US" sz="1400" dirty="0"/>
          </a:p>
        </p:txBody>
      </p:sp>
      <p:sp>
        <p:nvSpPr>
          <p:cNvPr id="13" name="Text 11"/>
          <p:cNvSpPr txBox="1"/>
          <p:nvPr/>
        </p:nvSpPr>
        <p:spPr>
          <a:xfrm>
            <a:off x="7955280" y="914400"/>
            <a:ext cx="3566160" cy="1645920"/>
          </a:xfrm>
          <a:prstGeom prst="rect">
            <a:avLst/>
          </a:prstGeom>
          <a:noFill/>
          <a:ln/>
        </p:spPr>
        <p:txBody>
          <a:bodyPr wrap="square" lIns="0" tIns="0" rIns="0" bIns="0" rtlCol="0" anchor="b"/>
          <a:lstStyle/>
          <a:p>
            <a:pPr indent="0" marL="0">
              <a:buNone/>
            </a:pPr>
            <a:r>
              <a:rPr lang="en-US" sz="11000" b="1" dirty="0">
                <a:solidFill>
                  <a:srgbClr val="F4A62A"/>
                </a:solidFill>
                <a:latin typeface="Cambria" pitchFamily="34" charset="0"/>
                <a:ea typeface="Cambria" pitchFamily="34" charset="-122"/>
                <a:cs typeface="Cambria" pitchFamily="34" charset="-120"/>
              </a:rPr>
              <a:t>14</a:t>
            </a:r>
            <a:endParaRPr lang="en-US" sz="11000" dirty="0"/>
          </a:p>
        </p:txBody>
      </p:sp>
      <p:sp>
        <p:nvSpPr>
          <p:cNvPr id="14" name="Text 12"/>
          <p:cNvSpPr txBox="1"/>
          <p:nvPr/>
        </p:nvSpPr>
        <p:spPr>
          <a:xfrm>
            <a:off x="8001000" y="2606040"/>
            <a:ext cx="3566160" cy="4572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use cases</a:t>
            </a:r>
            <a:endParaRPr lang="en-US" sz="2200" dirty="0"/>
          </a:p>
        </p:txBody>
      </p:sp>
      <p:sp>
        <p:nvSpPr>
          <p:cNvPr id="15" name="Text 13"/>
          <p:cNvSpPr txBox="1"/>
          <p:nvPr/>
        </p:nvSpPr>
        <p:spPr>
          <a:xfrm>
            <a:off x="7955280" y="3337560"/>
            <a:ext cx="3566160" cy="1645920"/>
          </a:xfrm>
          <a:prstGeom prst="rect">
            <a:avLst/>
          </a:prstGeom>
          <a:noFill/>
          <a:ln/>
        </p:spPr>
        <p:txBody>
          <a:bodyPr wrap="square" lIns="0" tIns="0" rIns="0" bIns="0" rtlCol="0" anchor="b"/>
          <a:lstStyle/>
          <a:p>
            <a:pPr indent="0" marL="0">
              <a:buNone/>
            </a:pPr>
            <a:r>
              <a:rPr lang="en-US" sz="11000" b="1" dirty="0">
                <a:solidFill>
                  <a:srgbClr val="F4A62A"/>
                </a:solidFill>
                <a:latin typeface="Cambria" pitchFamily="34" charset="0"/>
                <a:ea typeface="Cambria" pitchFamily="34" charset="-122"/>
                <a:cs typeface="Cambria" pitchFamily="34" charset="-120"/>
              </a:rPr>
              <a:t>27</a:t>
            </a:r>
            <a:endParaRPr lang="en-US" sz="11000" dirty="0"/>
          </a:p>
        </p:txBody>
      </p:sp>
      <p:sp>
        <p:nvSpPr>
          <p:cNvPr id="16" name="Text 14"/>
          <p:cNvSpPr txBox="1"/>
          <p:nvPr/>
        </p:nvSpPr>
        <p:spPr>
          <a:xfrm>
            <a:off x="8001000" y="5029200"/>
            <a:ext cx="3566160" cy="4572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functional requirements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Reuse fails when components cannot be found</a:t>
            </a:r>
            <a:endParaRPr lang="en-US" sz="3200" dirty="0"/>
          </a:p>
        </p:txBody>
      </p:sp>
      <p:sp>
        <p:nvSpPr>
          <p:cNvPr id="3" name="Shape 1"/>
          <p:cNvSpPr/>
          <p:nvPr/>
        </p:nvSpPr>
        <p:spPr>
          <a:xfrm>
            <a:off x="548640" y="1417320"/>
            <a:ext cx="420624" cy="420624"/>
          </a:xfrm>
          <a:prstGeom prst="ellipse">
            <a:avLst/>
          </a:prstGeom>
          <a:solidFill>
            <a:srgbClr val="F4A62A"/>
          </a:solidFill>
          <a:ln/>
        </p:spPr>
      </p:sp>
      <p:sp>
        <p:nvSpPr>
          <p:cNvPr id="4" name="Text 2"/>
          <p:cNvSpPr txBox="1"/>
          <p:nvPr/>
        </p:nvSpPr>
        <p:spPr>
          <a:xfrm>
            <a:off x="548640" y="1417320"/>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143000" y="1399032"/>
            <a:ext cx="5120640" cy="100584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Too many to browse. </a:t>
            </a:r>
            <a:pPr indent="0" marL="0">
              <a:buNone/>
            </a:pPr>
            <a:r>
              <a:rPr lang="en-US" sz="1600" dirty="0">
                <a:solidFill>
                  <a:srgbClr val="10262B"/>
                </a:solidFill>
                <a:latin typeface="Calibri" pitchFamily="34" charset="0"/>
                <a:ea typeface="Calibri" pitchFamily="34" charset="-122"/>
                <a:cs typeface="Calibri" pitchFamily="34" charset="-120"/>
              </a:rPr>
              <a:t>A flat list stops working, so components go in a category tree.</a:t>
            </a:r>
            <a:endParaRPr lang="en-US" sz="1600" dirty="0"/>
          </a:p>
        </p:txBody>
      </p:sp>
      <p:sp>
        <p:nvSpPr>
          <p:cNvPr id="6" name="Shape 4"/>
          <p:cNvSpPr/>
          <p:nvPr/>
        </p:nvSpPr>
        <p:spPr>
          <a:xfrm>
            <a:off x="548640" y="2606040"/>
            <a:ext cx="420624" cy="420624"/>
          </a:xfrm>
          <a:prstGeom prst="ellipse">
            <a:avLst/>
          </a:prstGeom>
          <a:solidFill>
            <a:srgbClr val="F4A62A"/>
          </a:solidFill>
          <a:ln/>
        </p:spPr>
      </p:sp>
      <p:sp>
        <p:nvSpPr>
          <p:cNvPr id="7" name="Text 5"/>
          <p:cNvSpPr txBox="1"/>
          <p:nvPr/>
        </p:nvSpPr>
        <p:spPr>
          <a:xfrm>
            <a:off x="548640" y="2606040"/>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143000" y="2587752"/>
            <a:ext cx="5120640" cy="100584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Two kinds of component. </a:t>
            </a:r>
            <a:pPr indent="0" marL="0">
              <a:buNone/>
            </a:pPr>
            <a:r>
              <a:rPr lang="en-US" sz="1600" dirty="0">
                <a:solidFill>
                  <a:srgbClr val="10262B"/>
                </a:solidFill>
                <a:latin typeface="Calibri" pitchFamily="34" charset="0"/>
                <a:ea typeface="Calibri" pitchFamily="34" charset="-122"/>
                <a:cs typeface="Calibri" pitchFamily="34" charset="-120"/>
              </a:rPr>
              <a:t>Designs (UML, ERD, Structured Design, DFD) and code (Java, Python, C, C++, JavaScript, TypeScript) live in one catalogue.</a:t>
            </a:r>
            <a:endParaRPr lang="en-US" sz="1600" dirty="0"/>
          </a:p>
        </p:txBody>
      </p:sp>
      <p:sp>
        <p:nvSpPr>
          <p:cNvPr id="9" name="Shape 7"/>
          <p:cNvSpPr/>
          <p:nvPr/>
        </p:nvSpPr>
        <p:spPr>
          <a:xfrm>
            <a:off x="548640" y="3794760"/>
            <a:ext cx="420624" cy="420624"/>
          </a:xfrm>
          <a:prstGeom prst="ellipse">
            <a:avLst/>
          </a:prstGeom>
          <a:solidFill>
            <a:srgbClr val="F4A62A"/>
          </a:solidFill>
          <a:ln/>
        </p:spPr>
      </p:sp>
      <p:sp>
        <p:nvSpPr>
          <p:cNvPr id="10" name="Text 8"/>
          <p:cNvSpPr txBox="1"/>
          <p:nvPr/>
        </p:nvSpPr>
        <p:spPr>
          <a:xfrm>
            <a:off x="548640" y="3794760"/>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143000" y="3776472"/>
            <a:ext cx="5120640" cy="100584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Unused components pile up. </a:t>
            </a:r>
            <a:pPr indent="0" marL="0">
              <a:buNone/>
            </a:pPr>
            <a:r>
              <a:rPr lang="en-US" sz="1600" dirty="0">
                <a:solidFill>
                  <a:srgbClr val="10262B"/>
                </a:solidFill>
                <a:latin typeface="Calibri" pitchFamily="34" charset="0"/>
                <a:ea typeface="Calibri" pitchFamily="34" charset="-122"/>
                <a:cs typeface="Calibri" pitchFamily="34" charset="-120"/>
              </a:rPr>
              <a:t>The system counts uses, and searches that were not followed by a use, so a cataloguer can purge.</a:t>
            </a:r>
            <a:endParaRPr lang="en-US" sz="1600" dirty="0"/>
          </a:p>
        </p:txBody>
      </p:sp>
      <p:sp>
        <p:nvSpPr>
          <p:cNvPr id="12" name="Shape 10"/>
          <p:cNvSpPr/>
          <p:nvPr/>
        </p:nvSpPr>
        <p:spPr>
          <a:xfrm>
            <a:off x="6492240" y="1325880"/>
            <a:ext cx="5150815" cy="4892040"/>
          </a:xfrm>
          <a:prstGeom prst="roundRect">
            <a:avLst>
              <a:gd name="adj" fmla="val 2243"/>
            </a:avLst>
          </a:prstGeom>
          <a:solidFill>
            <a:srgbClr val="E8F3F2"/>
          </a:solidFill>
          <a:ln/>
          <a:effectLst>
            <a:outerShdw sx="100000" sy="100000" kx="0" ky="0" algn="bl" rotWithShape="0" blurRad="76200" dist="19050" dir="5400000">
              <a:srgbClr val="000000">
                <a:alpha val="12000"/>
              </a:srgbClr>
            </a:outerShdw>
          </a:effectLst>
        </p:spPr>
      </p:sp>
      <p:sp>
        <p:nvSpPr>
          <p:cNvPr id="13" name="Shape 11"/>
          <p:cNvSpPr/>
          <p:nvPr/>
        </p:nvSpPr>
        <p:spPr>
          <a:xfrm>
            <a:off x="8061808" y="1554480"/>
            <a:ext cx="2011680" cy="502920"/>
          </a:xfrm>
          <a:prstGeom prst="roundRect">
            <a:avLst>
              <a:gd name="adj" fmla="val 21818"/>
            </a:avLst>
          </a:prstGeom>
          <a:solidFill>
            <a:srgbClr val="0B3C49"/>
          </a:solidFill>
          <a:ln/>
        </p:spPr>
      </p:sp>
      <p:sp>
        <p:nvSpPr>
          <p:cNvPr id="14" name="Text 12"/>
          <p:cNvSpPr txBox="1"/>
          <p:nvPr/>
        </p:nvSpPr>
        <p:spPr>
          <a:xfrm>
            <a:off x="8061808" y="15544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Component</a:t>
            </a:r>
            <a:endParaRPr lang="en-US" sz="1600" dirty="0"/>
          </a:p>
        </p:txBody>
      </p:sp>
      <p:sp>
        <p:nvSpPr>
          <p:cNvPr id="15" name="Shape 13"/>
          <p:cNvSpPr/>
          <p:nvPr/>
        </p:nvSpPr>
        <p:spPr>
          <a:xfrm>
            <a:off x="9067648" y="2057400"/>
            <a:ext cx="0" cy="228600"/>
          </a:xfrm>
          <a:prstGeom prst="line">
            <a:avLst/>
          </a:prstGeom>
          <a:noFill/>
          <a:ln w="19050">
            <a:solidFill>
              <a:srgbClr val="1F7A8C"/>
            </a:solidFill>
            <a:prstDash val="solid"/>
          </a:ln>
        </p:spPr>
      </p:sp>
      <p:sp>
        <p:nvSpPr>
          <p:cNvPr id="16" name="Shape 14"/>
          <p:cNvSpPr/>
          <p:nvPr/>
        </p:nvSpPr>
        <p:spPr>
          <a:xfrm>
            <a:off x="7840980" y="2286000"/>
            <a:ext cx="2453335" cy="0"/>
          </a:xfrm>
          <a:prstGeom prst="line">
            <a:avLst/>
          </a:prstGeom>
          <a:noFill/>
          <a:ln w="19050">
            <a:solidFill>
              <a:srgbClr val="1F7A8C"/>
            </a:solidFill>
            <a:prstDash val="solid"/>
          </a:ln>
        </p:spPr>
      </p:sp>
      <p:sp>
        <p:nvSpPr>
          <p:cNvPr id="17" name="Shape 15"/>
          <p:cNvSpPr/>
          <p:nvPr/>
        </p:nvSpPr>
        <p:spPr>
          <a:xfrm>
            <a:off x="7840980" y="2286000"/>
            <a:ext cx="0" cy="228600"/>
          </a:xfrm>
          <a:prstGeom prst="line">
            <a:avLst/>
          </a:prstGeom>
          <a:noFill/>
          <a:ln w="19050">
            <a:solidFill>
              <a:srgbClr val="1F7A8C"/>
            </a:solidFill>
            <a:prstDash val="solid"/>
          </a:ln>
        </p:spPr>
      </p:sp>
      <p:sp>
        <p:nvSpPr>
          <p:cNvPr id="18" name="Shape 16"/>
          <p:cNvSpPr/>
          <p:nvPr/>
        </p:nvSpPr>
        <p:spPr>
          <a:xfrm>
            <a:off x="10294315" y="2286000"/>
            <a:ext cx="0" cy="228600"/>
          </a:xfrm>
          <a:prstGeom prst="line">
            <a:avLst/>
          </a:prstGeom>
          <a:noFill/>
          <a:ln w="19050">
            <a:solidFill>
              <a:srgbClr val="1F7A8C"/>
            </a:solidFill>
            <a:prstDash val="solid"/>
          </a:ln>
        </p:spPr>
      </p:sp>
      <p:sp>
        <p:nvSpPr>
          <p:cNvPr id="19" name="Shape 17"/>
          <p:cNvSpPr/>
          <p:nvPr/>
        </p:nvSpPr>
        <p:spPr>
          <a:xfrm>
            <a:off x="6720840" y="2514600"/>
            <a:ext cx="2240280" cy="1188720"/>
          </a:xfrm>
          <a:prstGeom prst="roundRect">
            <a:avLst>
              <a:gd name="adj" fmla="val 9231"/>
            </a:avLst>
          </a:prstGeom>
          <a:solidFill>
            <a:srgbClr val="FFFFFF"/>
          </a:solidFill>
          <a:ln w="12700">
            <a:solidFill>
              <a:srgbClr val="1F7A8C"/>
            </a:solidFill>
            <a:prstDash val="solid"/>
          </a:ln>
        </p:spPr>
      </p:sp>
      <p:sp>
        <p:nvSpPr>
          <p:cNvPr id="20" name="Text 18"/>
          <p:cNvSpPr txBox="1"/>
          <p:nvPr/>
        </p:nvSpPr>
        <p:spPr>
          <a:xfrm>
            <a:off x="6830568" y="2606040"/>
            <a:ext cx="2020824" cy="1005840"/>
          </a:xfrm>
          <a:prstGeom prst="rect">
            <a:avLst/>
          </a:prstGeom>
          <a:noFill/>
          <a:ln/>
        </p:spPr>
        <p:txBody>
          <a:bodyPr wrap="square" lIns="0" tIns="0" rIns="0" bIns="0" rtlCol="0" anchor="t"/>
          <a:lstStyle/>
          <a:p>
            <a:pPr indent="0" marL="0">
              <a:buNone/>
            </a:pPr>
            <a:r>
              <a:rPr lang="en-US" sz="1600" b="1" dirty="0">
                <a:solidFill>
                  <a:srgbClr val="1F7A8C"/>
                </a:solidFill>
                <a:latin typeface="Calibri" pitchFamily="34" charset="0"/>
                <a:ea typeface="Calibri" pitchFamily="34" charset="-122"/>
                <a:cs typeface="Calibri" pitchFamily="34" charset="-120"/>
              </a:rPr>
              <a:t>Design</a:t>
            </a:r>
            <a:endParaRPr lang="en-US" sz="1600" dirty="0"/>
          </a:p>
          <a:p>
            <a:pPr indent="0" marL="0">
              <a:buNone/>
            </a:pPr>
            <a:r>
              <a:rPr lang="en-US" sz="1300" dirty="0">
                <a:solidFill>
                  <a:srgbClr val="10262B"/>
                </a:solidFill>
                <a:latin typeface="Calibri" pitchFamily="34" charset="0"/>
                <a:ea typeface="Calibri" pitchFamily="34" charset="-122"/>
                <a:cs typeface="Calibri" pitchFamily="34" charset="-120"/>
              </a:rPr>
              <a:t>UML, ERD, Structured Design, DFD</a:t>
            </a:r>
            <a:endParaRPr lang="en-US" sz="1600" dirty="0"/>
          </a:p>
        </p:txBody>
      </p:sp>
      <p:sp>
        <p:nvSpPr>
          <p:cNvPr id="21" name="Shape 19"/>
          <p:cNvSpPr/>
          <p:nvPr/>
        </p:nvSpPr>
        <p:spPr>
          <a:xfrm>
            <a:off x="9174175" y="2514600"/>
            <a:ext cx="2240280" cy="1188720"/>
          </a:xfrm>
          <a:prstGeom prst="roundRect">
            <a:avLst>
              <a:gd name="adj" fmla="val 9231"/>
            </a:avLst>
          </a:prstGeom>
          <a:solidFill>
            <a:srgbClr val="FFFFFF"/>
          </a:solidFill>
          <a:ln w="12700">
            <a:solidFill>
              <a:srgbClr val="1F7A8C"/>
            </a:solidFill>
            <a:prstDash val="solid"/>
          </a:ln>
        </p:spPr>
      </p:sp>
      <p:sp>
        <p:nvSpPr>
          <p:cNvPr id="22" name="Text 20"/>
          <p:cNvSpPr txBox="1"/>
          <p:nvPr/>
        </p:nvSpPr>
        <p:spPr>
          <a:xfrm>
            <a:off x="9283903" y="2606040"/>
            <a:ext cx="2020824" cy="1005840"/>
          </a:xfrm>
          <a:prstGeom prst="rect">
            <a:avLst/>
          </a:prstGeom>
          <a:noFill/>
          <a:ln/>
        </p:spPr>
        <p:txBody>
          <a:bodyPr wrap="square" lIns="0" tIns="0" rIns="0" bIns="0" rtlCol="0" anchor="t"/>
          <a:lstStyle/>
          <a:p>
            <a:pPr indent="0" marL="0">
              <a:buNone/>
            </a:pPr>
            <a:r>
              <a:rPr lang="en-US" sz="1600" b="1" dirty="0">
                <a:solidFill>
                  <a:srgbClr val="1F7A8C"/>
                </a:solidFill>
                <a:latin typeface="Calibri" pitchFamily="34" charset="0"/>
                <a:ea typeface="Calibri" pitchFamily="34" charset="-122"/>
                <a:cs typeface="Calibri" pitchFamily="34" charset="-120"/>
              </a:rPr>
              <a:t>Code</a:t>
            </a:r>
            <a:endParaRPr lang="en-US" sz="1600" dirty="0"/>
          </a:p>
          <a:p>
            <a:pPr indent="0" marL="0">
              <a:buNone/>
            </a:pPr>
            <a:r>
              <a:rPr lang="en-US" sz="1300" dirty="0">
                <a:solidFill>
                  <a:srgbClr val="10262B"/>
                </a:solidFill>
                <a:latin typeface="Calibri" pitchFamily="34" charset="0"/>
                <a:ea typeface="Calibri" pitchFamily="34" charset="-122"/>
                <a:cs typeface="Calibri" pitchFamily="34" charset="-120"/>
              </a:rPr>
              <a:t>Java, Python, C, C++, JavaScript, TypeScript</a:t>
            </a:r>
            <a:endParaRPr lang="en-US" sz="1600" dirty="0"/>
          </a:p>
        </p:txBody>
      </p:sp>
      <p:sp>
        <p:nvSpPr>
          <p:cNvPr id="23" name="Text 21"/>
          <p:cNvSpPr txBox="1"/>
          <p:nvPr/>
        </p:nvSpPr>
        <p:spPr>
          <a:xfrm>
            <a:off x="6720840" y="3931920"/>
            <a:ext cx="4693615" cy="320040"/>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Category examples</a:t>
            </a:r>
            <a:endParaRPr lang="en-US" sz="1400" dirty="0"/>
          </a:p>
        </p:txBody>
      </p:sp>
      <p:sp>
        <p:nvSpPr>
          <p:cNvPr id="24" name="Text 22"/>
          <p:cNvSpPr txBox="1"/>
          <p:nvPr/>
        </p:nvSpPr>
        <p:spPr>
          <a:xfrm>
            <a:off x="6720840" y="4297680"/>
            <a:ext cx="4693615" cy="1097280"/>
          </a:xfrm>
          <a:prstGeom prst="rect">
            <a:avLst/>
          </a:prstGeom>
          <a:noFill/>
          <a:ln/>
        </p:spPr>
        <p:txBody>
          <a:bodyPr wrap="square" lIns="0" tIns="0" rIns="0" bIns="0" rtlCol="0" anchor="t"/>
          <a:lstStyle/>
          <a:p>
            <a:pPr indent="0" marL="0">
              <a:spcAft>
                <a:spcPts val="600"/>
              </a:spcAft>
              <a:buNone/>
            </a:pPr>
            <a:r>
              <a:rPr lang="en-US" sz="1300" dirty="0">
                <a:solidFill>
                  <a:srgbClr val="10262B"/>
                </a:solidFill>
                <a:latin typeface="Calibri" pitchFamily="34" charset="0"/>
                <a:ea typeface="Calibri" pitchFamily="34" charset="-122"/>
                <a:cs typeface="Calibri" pitchFamily="34" charset="-120"/>
              </a:rPr>
              <a:t>Design patterns &gt; Behavioural patterns &gt; Observer pattern class diagram</a:t>
            </a:r>
            <a:endParaRPr lang="en-US" sz="1300" dirty="0"/>
          </a:p>
          <a:p>
            <a:pPr indent="0" marL="0">
              <a:spcAft>
                <a:spcPts val="600"/>
              </a:spcAft>
              <a:buNone/>
            </a:pPr>
            <a:r>
              <a:rPr lang="en-US" sz="1300" dirty="0">
                <a:solidFill>
                  <a:srgbClr val="10262B"/>
                </a:solidFill>
                <a:latin typeface="Calibri" pitchFamily="34" charset="0"/>
                <a:ea typeface="Calibri" pitchFamily="34" charset="-122"/>
                <a:cs typeface="Calibri" pitchFamily="34" charset="-120"/>
              </a:rPr>
              <a:t>Web development &gt; Authentication &gt; JWT auth middleware</a:t>
            </a:r>
            <a:endParaRPr lang="en-US" sz="1300" dirty="0"/>
          </a:p>
        </p:txBody>
      </p:sp>
      <p:sp>
        <p:nvSpPr>
          <p:cNvPr id="25" name="Text 23"/>
          <p:cNvSpPr txBox="1"/>
          <p:nvPr/>
        </p:nvSpPr>
        <p:spPr>
          <a:xfrm>
            <a:off x="6720840" y="5669280"/>
            <a:ext cx="4693615" cy="365760"/>
          </a:xfrm>
          <a:prstGeom prst="rect">
            <a:avLst/>
          </a:prstGeom>
          <a:noFill/>
          <a:ln/>
        </p:spPr>
        <p:txBody>
          <a:bodyPr wrap="square" lIns="0" tIns="0" rIns="0" bIns="0" rtlCol="0" anchor="t"/>
          <a:lstStyle/>
          <a:p>
            <a:pPr indent="0" marL="0">
              <a:buNone/>
            </a:pPr>
            <a:r>
              <a:rPr lang="en-US" sz="1200" i="1" dirty="0">
                <a:solidFill>
                  <a:srgbClr val="5A7177"/>
                </a:solidFill>
                <a:latin typeface="Calibri" pitchFamily="34" charset="0"/>
                <a:ea typeface="Calibri" pitchFamily="34" charset="-122"/>
                <a:cs typeface="Calibri" pitchFamily="34" charset="-120"/>
              </a:rPr>
              <a:t>Notation and category are separate properties of a component.</a:t>
            </a:r>
            <a:endParaRPr lang="en-US" sz="1200" dirty="0"/>
          </a:p>
        </p:txBody>
      </p:sp>
      <p:sp>
        <p:nvSpPr>
          <p:cNvPr id="26" name="Text 2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27" name="Text 25"/>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27 functional requirements in 8 groups</a:t>
            </a:r>
            <a:endParaRPr lang="en-US" sz="3200" dirty="0"/>
          </a:p>
        </p:txBody>
      </p:sp>
      <p:sp>
        <p:nvSpPr>
          <p:cNvPr id="3" name="Shape 1"/>
          <p:cNvSpPr/>
          <p:nvPr/>
        </p:nvSpPr>
        <p:spPr>
          <a:xfrm>
            <a:off x="548640" y="137160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4" name="Shape 2"/>
          <p:cNvSpPr/>
          <p:nvPr/>
        </p:nvSpPr>
        <p:spPr>
          <a:xfrm>
            <a:off x="731520" y="1554480"/>
            <a:ext cx="420624" cy="420624"/>
          </a:xfrm>
          <a:prstGeom prst="ellipse">
            <a:avLst/>
          </a:prstGeom>
          <a:solidFill>
            <a:srgbClr val="1F7A8C"/>
          </a:solidFill>
          <a:ln/>
        </p:spPr>
      </p:sp>
      <p:pic>
        <p:nvPicPr>
          <p:cNvPr id="5" name="Image 0" descr="preencoded.png">    </p:cNvPr>
          <p:cNvPicPr>
            <a:picLocks noChangeAspect="1"/>
          </p:cNvPicPr>
          <p:nvPr/>
        </p:nvPicPr>
        <p:blipFill>
          <a:blip r:embed="rId1"/>
          <a:stretch>
            <a:fillRect/>
          </a:stretch>
        </p:blipFill>
        <p:spPr>
          <a:xfrm>
            <a:off x="840882" y="1663842"/>
            <a:ext cx="201900" cy="201900"/>
          </a:xfrm>
          <a:prstGeom prst="rect">
            <a:avLst/>
          </a:prstGeom>
        </p:spPr>
      </p:pic>
      <p:sp>
        <p:nvSpPr>
          <p:cNvPr id="6" name="Text 3"/>
          <p:cNvSpPr txBox="1"/>
          <p:nvPr/>
        </p:nvSpPr>
        <p:spPr>
          <a:xfrm>
            <a:off x="1261872" y="153619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Components and notations</a:t>
            </a:r>
            <a:endParaRPr lang="en-US" sz="1500" dirty="0"/>
          </a:p>
        </p:txBody>
      </p:sp>
      <p:sp>
        <p:nvSpPr>
          <p:cNvPr id="7" name="Text 4"/>
          <p:cNvSpPr txBox="1"/>
          <p:nvPr/>
        </p:nvSpPr>
        <p:spPr>
          <a:xfrm>
            <a:off x="731520" y="214884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Create, edit, delete; design or code; notation kind must match.</a:t>
            </a:r>
            <a:endParaRPr lang="en-US" sz="1400" dirty="0"/>
          </a:p>
        </p:txBody>
      </p:sp>
      <p:sp>
        <p:nvSpPr>
          <p:cNvPr id="8" name="Text 5"/>
          <p:cNvSpPr txBox="1"/>
          <p:nvPr/>
        </p:nvSpPr>
        <p:spPr>
          <a:xfrm>
            <a:off x="731520" y="310896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FR-1, 2, 4 to 10</a:t>
            </a:r>
            <a:endParaRPr lang="en-US" sz="1200" dirty="0"/>
          </a:p>
        </p:txBody>
      </p:sp>
      <p:sp>
        <p:nvSpPr>
          <p:cNvPr id="9" name="Shape 6"/>
          <p:cNvSpPr/>
          <p:nvPr/>
        </p:nvSpPr>
        <p:spPr>
          <a:xfrm>
            <a:off x="3390824" y="137160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10" name="Shape 7"/>
          <p:cNvSpPr/>
          <p:nvPr/>
        </p:nvSpPr>
        <p:spPr>
          <a:xfrm>
            <a:off x="3573704" y="1554480"/>
            <a:ext cx="420624" cy="420624"/>
          </a:xfrm>
          <a:prstGeom prst="ellipse">
            <a:avLst/>
          </a:prstGeom>
          <a:solidFill>
            <a:srgbClr val="1F7A8C"/>
          </a:solidFill>
          <a:ln/>
        </p:spPr>
      </p:sp>
      <p:pic>
        <p:nvPicPr>
          <p:cNvPr id="11" name="Image 1" descr="preencoded.png">    </p:cNvPr>
          <p:cNvPicPr>
            <a:picLocks noChangeAspect="1"/>
          </p:cNvPicPr>
          <p:nvPr/>
        </p:nvPicPr>
        <p:blipFill>
          <a:blip r:embed="rId2"/>
          <a:stretch>
            <a:fillRect/>
          </a:stretch>
        </p:blipFill>
        <p:spPr>
          <a:xfrm>
            <a:off x="3683066" y="1663842"/>
            <a:ext cx="201900" cy="201900"/>
          </a:xfrm>
          <a:prstGeom prst="rect">
            <a:avLst/>
          </a:prstGeom>
        </p:spPr>
      </p:pic>
      <p:sp>
        <p:nvSpPr>
          <p:cNvPr id="12" name="Text 8"/>
          <p:cNvSpPr txBox="1"/>
          <p:nvPr/>
        </p:nvSpPr>
        <p:spPr>
          <a:xfrm>
            <a:off x="4104056" y="153619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Keywords</a:t>
            </a:r>
            <a:endParaRPr lang="en-US" sz="1500" dirty="0"/>
          </a:p>
        </p:txBody>
      </p:sp>
      <p:sp>
        <p:nvSpPr>
          <p:cNvPr id="13" name="Text 9"/>
          <p:cNvSpPr txBox="1"/>
          <p:nvPr/>
        </p:nvSpPr>
        <p:spPr>
          <a:xfrm>
            <a:off x="3573704" y="214884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Keyword sets per component; suggestions while typing.</a:t>
            </a:r>
            <a:endParaRPr lang="en-US" sz="1400" dirty="0"/>
          </a:p>
        </p:txBody>
      </p:sp>
      <p:sp>
        <p:nvSpPr>
          <p:cNvPr id="14" name="Text 10"/>
          <p:cNvSpPr txBox="1"/>
          <p:nvPr/>
        </p:nvSpPr>
        <p:spPr>
          <a:xfrm>
            <a:off x="3573704" y="310896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FR-11, 16</a:t>
            </a:r>
            <a:endParaRPr lang="en-US" sz="1200" dirty="0"/>
          </a:p>
        </p:txBody>
      </p:sp>
      <p:sp>
        <p:nvSpPr>
          <p:cNvPr id="15" name="Shape 11"/>
          <p:cNvSpPr/>
          <p:nvPr/>
        </p:nvSpPr>
        <p:spPr>
          <a:xfrm>
            <a:off x="6233008" y="137160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16" name="Shape 12"/>
          <p:cNvSpPr/>
          <p:nvPr/>
        </p:nvSpPr>
        <p:spPr>
          <a:xfrm>
            <a:off x="6415888" y="1554480"/>
            <a:ext cx="420624" cy="420624"/>
          </a:xfrm>
          <a:prstGeom prst="ellipse">
            <a:avLst/>
          </a:prstGeom>
          <a:solidFill>
            <a:srgbClr val="1F7A8C"/>
          </a:solidFill>
          <a:ln/>
        </p:spPr>
      </p:sp>
      <p:pic>
        <p:nvPicPr>
          <p:cNvPr id="17" name="Image 2" descr="preencoded.png">    </p:cNvPr>
          <p:cNvPicPr>
            <a:picLocks noChangeAspect="1"/>
          </p:cNvPicPr>
          <p:nvPr/>
        </p:nvPicPr>
        <p:blipFill>
          <a:blip r:embed="rId3"/>
          <a:stretch>
            <a:fillRect/>
          </a:stretch>
        </p:blipFill>
        <p:spPr>
          <a:xfrm>
            <a:off x="6525250" y="1663842"/>
            <a:ext cx="201900" cy="201900"/>
          </a:xfrm>
          <a:prstGeom prst="rect">
            <a:avLst/>
          </a:prstGeom>
        </p:spPr>
      </p:pic>
      <p:sp>
        <p:nvSpPr>
          <p:cNvPr id="18" name="Text 13"/>
          <p:cNvSpPr txBox="1"/>
          <p:nvPr/>
        </p:nvSpPr>
        <p:spPr>
          <a:xfrm>
            <a:off x="6946240" y="153619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Accounts and access</a:t>
            </a:r>
            <a:endParaRPr lang="en-US" sz="1500" dirty="0"/>
          </a:p>
        </p:txBody>
      </p:sp>
      <p:sp>
        <p:nvSpPr>
          <p:cNvPr id="19" name="Text 14"/>
          <p:cNvSpPr txBox="1"/>
          <p:nvPr/>
        </p:nvSpPr>
        <p:spPr>
          <a:xfrm>
            <a:off x="6415888" y="214884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Register as User, log in with JWT; only cataloguers write.</a:t>
            </a:r>
            <a:endParaRPr lang="en-US" sz="1400" dirty="0"/>
          </a:p>
        </p:txBody>
      </p:sp>
      <p:sp>
        <p:nvSpPr>
          <p:cNvPr id="20" name="Text 15"/>
          <p:cNvSpPr txBox="1"/>
          <p:nvPr/>
        </p:nvSpPr>
        <p:spPr>
          <a:xfrm>
            <a:off x="6415888" y="310896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FR-12, 13</a:t>
            </a:r>
            <a:endParaRPr lang="en-US" sz="1200" dirty="0"/>
          </a:p>
        </p:txBody>
      </p:sp>
      <p:sp>
        <p:nvSpPr>
          <p:cNvPr id="21" name="Shape 16"/>
          <p:cNvSpPr/>
          <p:nvPr/>
        </p:nvSpPr>
        <p:spPr>
          <a:xfrm>
            <a:off x="9075191" y="137160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22" name="Shape 17"/>
          <p:cNvSpPr/>
          <p:nvPr/>
        </p:nvSpPr>
        <p:spPr>
          <a:xfrm>
            <a:off x="9258071" y="1554480"/>
            <a:ext cx="420624" cy="420624"/>
          </a:xfrm>
          <a:prstGeom prst="ellipse">
            <a:avLst/>
          </a:prstGeom>
          <a:solidFill>
            <a:srgbClr val="1F7A8C"/>
          </a:solidFill>
          <a:ln/>
        </p:spPr>
      </p:sp>
      <p:pic>
        <p:nvPicPr>
          <p:cNvPr id="23" name="Image 3" descr="preencoded.png">    </p:cNvPr>
          <p:cNvPicPr>
            <a:picLocks noChangeAspect="1"/>
          </p:cNvPicPr>
          <p:nvPr/>
        </p:nvPicPr>
        <p:blipFill>
          <a:blip r:embed="rId4"/>
          <a:stretch>
            <a:fillRect/>
          </a:stretch>
        </p:blipFill>
        <p:spPr>
          <a:xfrm>
            <a:off x="9367434" y="1663842"/>
            <a:ext cx="201900" cy="201900"/>
          </a:xfrm>
          <a:prstGeom prst="rect">
            <a:avLst/>
          </a:prstGeom>
        </p:spPr>
      </p:pic>
      <p:sp>
        <p:nvSpPr>
          <p:cNvPr id="24" name="Text 18"/>
          <p:cNvSpPr txBox="1"/>
          <p:nvPr/>
        </p:nvSpPr>
        <p:spPr>
          <a:xfrm>
            <a:off x="9788423" y="153619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Search</a:t>
            </a:r>
            <a:endParaRPr lang="en-US" sz="1500" dirty="0"/>
          </a:p>
        </p:txBody>
      </p:sp>
      <p:sp>
        <p:nvSpPr>
          <p:cNvPr id="25" name="Text 19"/>
          <p:cNvSpPr txBox="1"/>
          <p:nvPr/>
        </p:nvSpPr>
        <p:spPr>
          <a:xfrm>
            <a:off x="9258071" y="214884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1 to 10 keywords, any or all, ranked, filters.</a:t>
            </a:r>
            <a:endParaRPr lang="en-US" sz="1400" dirty="0"/>
          </a:p>
        </p:txBody>
      </p:sp>
      <p:sp>
        <p:nvSpPr>
          <p:cNvPr id="26" name="Text 20"/>
          <p:cNvSpPr txBox="1"/>
          <p:nvPr/>
        </p:nvSpPr>
        <p:spPr>
          <a:xfrm>
            <a:off x="9258071" y="310896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FR-14, 15</a:t>
            </a:r>
            <a:endParaRPr lang="en-US" sz="1200" dirty="0"/>
          </a:p>
        </p:txBody>
      </p:sp>
      <p:sp>
        <p:nvSpPr>
          <p:cNvPr id="27" name="Shape 21"/>
          <p:cNvSpPr/>
          <p:nvPr/>
        </p:nvSpPr>
        <p:spPr>
          <a:xfrm>
            <a:off x="548640" y="379476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28" name="Shape 22"/>
          <p:cNvSpPr/>
          <p:nvPr/>
        </p:nvSpPr>
        <p:spPr>
          <a:xfrm>
            <a:off x="731520" y="3977640"/>
            <a:ext cx="420624" cy="420624"/>
          </a:xfrm>
          <a:prstGeom prst="ellipse">
            <a:avLst/>
          </a:prstGeom>
          <a:solidFill>
            <a:srgbClr val="1F7A8C"/>
          </a:solidFill>
          <a:ln/>
        </p:spPr>
      </p:sp>
      <p:pic>
        <p:nvPicPr>
          <p:cNvPr id="29" name="Image 4" descr="preencoded.png">    </p:cNvPr>
          <p:cNvPicPr>
            <a:picLocks noChangeAspect="1"/>
          </p:cNvPicPr>
          <p:nvPr/>
        </p:nvPicPr>
        <p:blipFill>
          <a:blip r:embed="rId5"/>
          <a:stretch>
            <a:fillRect/>
          </a:stretch>
        </p:blipFill>
        <p:spPr>
          <a:xfrm>
            <a:off x="840882" y="4087002"/>
            <a:ext cx="201900" cy="201900"/>
          </a:xfrm>
          <a:prstGeom prst="rect">
            <a:avLst/>
          </a:prstGeom>
        </p:spPr>
      </p:pic>
      <p:sp>
        <p:nvSpPr>
          <p:cNvPr id="30" name="Text 23"/>
          <p:cNvSpPr txBox="1"/>
          <p:nvPr/>
        </p:nvSpPr>
        <p:spPr>
          <a:xfrm>
            <a:off x="1261872" y="395935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Usage tracking</a:t>
            </a:r>
            <a:endParaRPr lang="en-US" sz="1500" dirty="0"/>
          </a:p>
        </p:txBody>
      </p:sp>
      <p:sp>
        <p:nvSpPr>
          <p:cNvPr id="31" name="Text 24"/>
          <p:cNvSpPr txBox="1"/>
          <p:nvPr/>
        </p:nvSpPr>
        <p:spPr>
          <a:xfrm>
            <a:off x="731520" y="457200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"Use" button; hit and hit-not-used counters.</a:t>
            </a:r>
            <a:endParaRPr lang="en-US" sz="1400" dirty="0"/>
          </a:p>
        </p:txBody>
      </p:sp>
      <p:sp>
        <p:nvSpPr>
          <p:cNvPr id="32" name="Text 25"/>
          <p:cNvSpPr txBox="1"/>
          <p:nvPr/>
        </p:nvSpPr>
        <p:spPr>
          <a:xfrm>
            <a:off x="731520" y="553212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FR-17, 18</a:t>
            </a:r>
            <a:endParaRPr lang="en-US" sz="1200" dirty="0"/>
          </a:p>
        </p:txBody>
      </p:sp>
      <p:sp>
        <p:nvSpPr>
          <p:cNvPr id="33" name="Shape 26"/>
          <p:cNvSpPr/>
          <p:nvPr/>
        </p:nvSpPr>
        <p:spPr>
          <a:xfrm>
            <a:off x="3390824" y="379476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34" name="Shape 27"/>
          <p:cNvSpPr/>
          <p:nvPr/>
        </p:nvSpPr>
        <p:spPr>
          <a:xfrm>
            <a:off x="3573704" y="3977640"/>
            <a:ext cx="420624" cy="420624"/>
          </a:xfrm>
          <a:prstGeom prst="ellipse">
            <a:avLst/>
          </a:prstGeom>
          <a:solidFill>
            <a:srgbClr val="1F7A8C"/>
          </a:solidFill>
          <a:ln/>
        </p:spPr>
      </p:sp>
      <p:pic>
        <p:nvPicPr>
          <p:cNvPr id="35" name="Image 5" descr="preencoded.png">    </p:cNvPr>
          <p:cNvPicPr>
            <a:picLocks noChangeAspect="1"/>
          </p:cNvPicPr>
          <p:nvPr/>
        </p:nvPicPr>
        <p:blipFill>
          <a:blip r:embed="rId6"/>
          <a:stretch>
            <a:fillRect/>
          </a:stretch>
        </p:blipFill>
        <p:spPr>
          <a:xfrm>
            <a:off x="3683066" y="4087002"/>
            <a:ext cx="201900" cy="201900"/>
          </a:xfrm>
          <a:prstGeom prst="rect">
            <a:avLst/>
          </a:prstGeom>
        </p:spPr>
      </p:pic>
      <p:sp>
        <p:nvSpPr>
          <p:cNvPr id="36" name="Text 28"/>
          <p:cNvSpPr txBox="1"/>
          <p:nvPr/>
        </p:nvSpPr>
        <p:spPr>
          <a:xfrm>
            <a:off x="4104056" y="395935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Reports, purge, audit</a:t>
            </a:r>
            <a:endParaRPr lang="en-US" sz="1500" dirty="0"/>
          </a:p>
        </p:txBody>
      </p:sp>
      <p:sp>
        <p:nvSpPr>
          <p:cNvPr id="37" name="Text 29"/>
          <p:cNvSpPr txBox="1"/>
          <p:nvPr/>
        </p:nvSpPr>
        <p:spPr>
          <a:xfrm>
            <a:off x="3573704" y="457200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Summary, candidates, purge with re-check, audit log.</a:t>
            </a:r>
            <a:endParaRPr lang="en-US" sz="1400" dirty="0"/>
          </a:p>
        </p:txBody>
      </p:sp>
      <p:sp>
        <p:nvSpPr>
          <p:cNvPr id="38" name="Text 30"/>
          <p:cNvSpPr txBox="1"/>
          <p:nvPr/>
        </p:nvSpPr>
        <p:spPr>
          <a:xfrm>
            <a:off x="3573704" y="553212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FR-19 to 22</a:t>
            </a:r>
            <a:endParaRPr lang="en-US" sz="1200" dirty="0"/>
          </a:p>
        </p:txBody>
      </p:sp>
      <p:sp>
        <p:nvSpPr>
          <p:cNvPr id="39" name="Shape 31"/>
          <p:cNvSpPr/>
          <p:nvPr/>
        </p:nvSpPr>
        <p:spPr>
          <a:xfrm>
            <a:off x="6233008" y="379476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40" name="Shape 32"/>
          <p:cNvSpPr/>
          <p:nvPr/>
        </p:nvSpPr>
        <p:spPr>
          <a:xfrm>
            <a:off x="6415888" y="3977640"/>
            <a:ext cx="420624" cy="420624"/>
          </a:xfrm>
          <a:prstGeom prst="ellipse">
            <a:avLst/>
          </a:prstGeom>
          <a:solidFill>
            <a:srgbClr val="1F7A8C"/>
          </a:solidFill>
          <a:ln/>
        </p:spPr>
      </p:sp>
      <p:pic>
        <p:nvPicPr>
          <p:cNvPr id="41" name="Image 6" descr="preencoded.png">    </p:cNvPr>
          <p:cNvPicPr>
            <a:picLocks noChangeAspect="1"/>
          </p:cNvPicPr>
          <p:nvPr/>
        </p:nvPicPr>
        <p:blipFill>
          <a:blip r:embed="rId7"/>
          <a:stretch>
            <a:fillRect/>
          </a:stretch>
        </p:blipFill>
        <p:spPr>
          <a:xfrm>
            <a:off x="6525250" y="4087002"/>
            <a:ext cx="201900" cy="201900"/>
          </a:xfrm>
          <a:prstGeom prst="rect">
            <a:avLst/>
          </a:prstGeom>
        </p:spPr>
      </p:pic>
      <p:sp>
        <p:nvSpPr>
          <p:cNvPr id="42" name="Text 33"/>
          <p:cNvSpPr txBox="1"/>
          <p:nvPr/>
        </p:nvSpPr>
        <p:spPr>
          <a:xfrm>
            <a:off x="6946240" y="395935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Categories</a:t>
            </a:r>
            <a:endParaRPr lang="en-US" sz="1500" dirty="0"/>
          </a:p>
        </p:txBody>
      </p:sp>
      <p:sp>
        <p:nvSpPr>
          <p:cNvPr id="43" name="Text 34"/>
          <p:cNvSpPr txBox="1"/>
          <p:nvPr/>
        </p:nvSpPr>
        <p:spPr>
          <a:xfrm>
            <a:off x="6415888" y="457200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Tree of any depth, no cycles, delete with reassign.</a:t>
            </a:r>
            <a:endParaRPr lang="en-US" sz="1400" dirty="0"/>
          </a:p>
        </p:txBody>
      </p:sp>
      <p:sp>
        <p:nvSpPr>
          <p:cNvPr id="44" name="Text 35"/>
          <p:cNvSpPr txBox="1"/>
          <p:nvPr/>
        </p:nvSpPr>
        <p:spPr>
          <a:xfrm>
            <a:off x="6415888" y="553212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FR-23, 24</a:t>
            </a:r>
            <a:endParaRPr lang="en-US" sz="1200" dirty="0"/>
          </a:p>
        </p:txBody>
      </p:sp>
      <p:sp>
        <p:nvSpPr>
          <p:cNvPr id="45" name="Shape 36"/>
          <p:cNvSpPr/>
          <p:nvPr/>
        </p:nvSpPr>
        <p:spPr>
          <a:xfrm>
            <a:off x="9075191" y="3794760"/>
            <a:ext cx="2567864" cy="2148840"/>
          </a:xfrm>
          <a:prstGeom prst="roundRect">
            <a:avLst>
              <a:gd name="adj" fmla="val 5106"/>
            </a:avLst>
          </a:prstGeom>
          <a:solidFill>
            <a:srgbClr val="E8F3F2"/>
          </a:solidFill>
          <a:ln/>
          <a:effectLst>
            <a:outerShdw sx="100000" sy="100000" kx="0" ky="0" algn="bl" rotWithShape="0" blurRad="76200" dist="19050" dir="5400000">
              <a:srgbClr val="000000">
                <a:alpha val="12000"/>
              </a:srgbClr>
            </a:outerShdw>
          </a:effectLst>
        </p:spPr>
      </p:sp>
      <p:sp>
        <p:nvSpPr>
          <p:cNvPr id="46" name="Shape 37"/>
          <p:cNvSpPr/>
          <p:nvPr/>
        </p:nvSpPr>
        <p:spPr>
          <a:xfrm>
            <a:off x="9258071" y="3977640"/>
            <a:ext cx="420624" cy="420624"/>
          </a:xfrm>
          <a:prstGeom prst="ellipse">
            <a:avLst/>
          </a:prstGeom>
          <a:solidFill>
            <a:srgbClr val="1F7A8C"/>
          </a:solidFill>
          <a:ln/>
        </p:spPr>
      </p:sp>
      <p:pic>
        <p:nvPicPr>
          <p:cNvPr id="47" name="Image 7" descr="preencoded.png">    </p:cNvPr>
          <p:cNvPicPr>
            <a:picLocks noChangeAspect="1"/>
          </p:cNvPicPr>
          <p:nvPr/>
        </p:nvPicPr>
        <p:blipFill>
          <a:blip r:embed="rId8"/>
          <a:stretch>
            <a:fillRect/>
          </a:stretch>
        </p:blipFill>
        <p:spPr>
          <a:xfrm>
            <a:off x="9367434" y="4087002"/>
            <a:ext cx="201900" cy="201900"/>
          </a:xfrm>
          <a:prstGeom prst="rect">
            <a:avLst/>
          </a:prstGeom>
        </p:spPr>
      </p:pic>
      <p:sp>
        <p:nvSpPr>
          <p:cNvPr id="48" name="Text 38"/>
          <p:cNvSpPr txBox="1"/>
          <p:nvPr/>
        </p:nvSpPr>
        <p:spPr>
          <a:xfrm>
            <a:off x="9788423" y="3959352"/>
            <a:ext cx="1699184" cy="50292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Browsing</a:t>
            </a:r>
            <a:endParaRPr lang="en-US" sz="1500" dirty="0"/>
          </a:p>
        </p:txBody>
      </p:sp>
      <p:sp>
        <p:nvSpPr>
          <p:cNvPr id="49" name="Text 39"/>
          <p:cNvSpPr txBox="1"/>
          <p:nvPr/>
        </p:nvSpPr>
        <p:spPr>
          <a:xfrm>
            <a:off x="9258071" y="4572000"/>
            <a:ext cx="2202104" cy="9144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Tree, details, filtered lists, sorting.</a:t>
            </a:r>
            <a:endParaRPr lang="en-US" sz="1400" dirty="0"/>
          </a:p>
        </p:txBody>
      </p:sp>
      <p:sp>
        <p:nvSpPr>
          <p:cNvPr id="50" name="Text 40"/>
          <p:cNvSpPr txBox="1"/>
          <p:nvPr/>
        </p:nvSpPr>
        <p:spPr>
          <a:xfrm>
            <a:off x="9258071" y="5532120"/>
            <a:ext cx="2202104"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FR-3, 25 to 27</a:t>
            </a:r>
            <a:endParaRPr lang="en-US" sz="1200" dirty="0"/>
          </a:p>
        </p:txBody>
      </p:sp>
      <p:sp>
        <p:nvSpPr>
          <p:cNvPr id="51" name="Text 41"/>
          <p:cNvSpPr txBox="1"/>
          <p:nvPr/>
        </p:nvSpPr>
        <p:spPr>
          <a:xfrm>
            <a:off x="548640" y="5989320"/>
            <a:ext cx="5486400"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Full list with IDs: SRS, section 2.</a:t>
            </a:r>
            <a:endParaRPr lang="en-US" sz="1200" dirty="0"/>
          </a:p>
        </p:txBody>
      </p:sp>
      <p:sp>
        <p:nvSpPr>
          <p:cNvPr id="52" name="Text 4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53" name="Text 4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11 non-functional requirements, each with evidence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595360" cy="914400"/>
        </p:xfrm>
        <a:graphic>
          <a:graphicData uri="http://schemas.openxmlformats.org/drawingml/2006/table">
            <a:tbl>
              <a:tblPr/>
              <a:tblGrid>
                <a:gridCol w="2011680"/>
                <a:gridCol w="4754880"/>
                <a:gridCol w="18288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Performance (NFR-1)</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Ranking 10,000 components with 5,000 keywords: 95th percentile under 500 ms (ranking only)</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Benchmark T-40</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Security (NFR-2)</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Passwords bcrypt-hashed, never returned; JWT secret only from environment</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T-44, T-47</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Security (NFR-3)</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Role checks on the server for every write and report</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T-06, T-25</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Security (NFR-10)</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20 login or register requests per IP per 15 minutes</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T-48</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Security (NFR-11)</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CORS allow-list for browser origins</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Checked by hand</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Validation (NFR-4)</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Shared zod schemas; fixed error shape; no stack traces</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T-09, T-20</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Usability (NFR-5)</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Core tasks in 3 screens; keyboard use; no axe violations on 5 public pages</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E2E T-41, T-42, T-45</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Reliability (NFR-6)</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/health reports API and database status</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T-01</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Data integrity (NFR-8)</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Counters and cascades atomic; never negative</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T-26, T-11, T-24</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Maintainability (NFR-7)</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Strict TypeScript, layers, at least 80% service coverage, CI</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CI, coverage gate</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Portability (NFR-9)</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Node 22, configuration by environment variables</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200" dirty="0">
                          <a:solidFill>
                            <a:srgbClr val="10262B"/>
                          </a:solidFill>
                          <a:latin typeface="Calibri" pitchFamily="34" charset="0"/>
                          <a:ea typeface="Calibri" pitchFamily="34" charset="-122"/>
                          <a:cs typeface="Calibri" pitchFamily="34" charset="-120"/>
                        </a:rPr>
                        <a:t>Windows and Linux CI</a:t>
                      </a:r>
                      <a:endParaRPr lang="en-US" sz="1200" dirty="0">
                        <a:latin typeface="Calibri" charset="0"/>
                        <a:ea typeface="Calibri" charset="0"/>
                        <a:cs typeface="Calibri" charset="0"/>
                      </a:endParaRPr>
                    </a:p>
                  </a:txBody>
                  <a:tcPr marL="73152" marR="73152" marT="36576" marB="36576"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bl>
          </a:graphicData>
        </a:graphic>
      </p:graphicFrame>
      <p:sp>
        <p:nvSpPr>
          <p:cNvPr id="4" name="Shape 1"/>
          <p:cNvSpPr/>
          <p:nvPr/>
        </p:nvSpPr>
        <p:spPr>
          <a:xfrm>
            <a:off x="9799168" y="1737360"/>
            <a:ext cx="1463040" cy="1463040"/>
          </a:xfrm>
          <a:prstGeom prst="ellipse">
            <a:avLst/>
          </a:prstGeom>
          <a:solidFill>
            <a:srgbClr val="1F7A8C"/>
          </a:solidFill>
          <a:ln/>
        </p:spPr>
      </p:sp>
      <p:pic>
        <p:nvPicPr>
          <p:cNvPr id="5" name="Image 0" descr="preencoded.png">    </p:cNvPr>
          <p:cNvPicPr>
            <a:picLocks noChangeAspect="1"/>
          </p:cNvPicPr>
          <p:nvPr/>
        </p:nvPicPr>
        <p:blipFill>
          <a:blip r:embed="rId1"/>
          <a:stretch>
            <a:fillRect/>
          </a:stretch>
        </p:blipFill>
        <p:spPr>
          <a:xfrm>
            <a:off x="10179558" y="2117750"/>
            <a:ext cx="702259" cy="702259"/>
          </a:xfrm>
          <a:prstGeom prst="rect">
            <a:avLst/>
          </a:prstGeom>
        </p:spPr>
      </p:pic>
      <p:sp>
        <p:nvSpPr>
          <p:cNvPr id="6" name="Shape 2"/>
          <p:cNvSpPr/>
          <p:nvPr/>
        </p:nvSpPr>
        <p:spPr>
          <a:xfrm>
            <a:off x="9418320" y="3840480"/>
            <a:ext cx="2224735" cy="1463040"/>
          </a:xfrm>
          <a:prstGeom prst="roundRect">
            <a:avLst>
              <a:gd name="adj" fmla="val 7500"/>
            </a:avLst>
          </a:prstGeom>
          <a:solidFill>
            <a:srgbClr val="F4A62A"/>
          </a:solidFill>
          <a:ln/>
          <a:effectLst>
            <a:outerShdw sx="100000" sy="100000" kx="0" ky="0" algn="bl" rotWithShape="0" blurRad="76200" dist="19050" dir="5400000">
              <a:srgbClr val="000000">
                <a:alpha val="12000"/>
              </a:srgbClr>
            </a:outerShdw>
          </a:effectLst>
        </p:spPr>
      </p:sp>
      <p:sp>
        <p:nvSpPr>
          <p:cNvPr id="7" name="Text 3"/>
          <p:cNvSpPr txBox="1"/>
          <p:nvPr/>
        </p:nvSpPr>
        <p:spPr>
          <a:xfrm>
            <a:off x="9582912" y="3977640"/>
            <a:ext cx="1895551" cy="1188720"/>
          </a:xfrm>
          <a:prstGeom prst="rect">
            <a:avLst/>
          </a:prstGeom>
          <a:noFill/>
          <a:ln/>
        </p:spPr>
        <p:txBody>
          <a:bodyPr wrap="square" lIns="0" tIns="0" rIns="0" bIns="0" rtlCol="0" anchor="ctr"/>
          <a:lstStyle/>
          <a:p>
            <a:pPr indent="0" marL="0">
              <a:buNone/>
            </a:pPr>
            <a:r>
              <a:rPr lang="en-US" sz="1500" b="1" dirty="0">
                <a:solidFill>
                  <a:srgbClr val="10262B"/>
                </a:solidFill>
                <a:latin typeface="Calibri" pitchFamily="34" charset="0"/>
                <a:ea typeface="Calibri" pitchFamily="34" charset="-122"/>
                <a:cs typeface="Calibri" pitchFamily="34" charset="-120"/>
              </a:rPr>
              <a:t>NFR-1 measures the ranking code only, not the network.</a:t>
            </a:r>
            <a:endParaRPr lang="en-US" sz="1500" dirty="0"/>
          </a:p>
        </p:txBody>
      </p:sp>
      <p:sp>
        <p:nvSpPr>
          <p:cNvPr id="8"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9" name="Text 5"/>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3 actors, 14 use cases</a:t>
            </a:r>
            <a:endParaRPr lang="en-US" sz="3200" dirty="0"/>
          </a:p>
        </p:txBody>
      </p:sp>
      <p:sp>
        <p:nvSpPr>
          <p:cNvPr id="3" name="Shape 1"/>
          <p:cNvSpPr/>
          <p:nvPr/>
        </p:nvSpPr>
        <p:spPr>
          <a:xfrm>
            <a:off x="548640" y="1234440"/>
            <a:ext cx="3561124" cy="5029200"/>
          </a:xfrm>
          <a:prstGeom prst="roundRect">
            <a:avLst>
              <a:gd name="adj" fmla="val 3081"/>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use-case.png">    </p:cNvPr>
          <p:cNvPicPr>
            <a:picLocks noChangeAspect="1"/>
          </p:cNvPicPr>
          <p:nvPr/>
        </p:nvPicPr>
        <p:blipFill>
          <a:blip r:embed="rId1"/>
          <a:stretch>
            <a:fillRect/>
          </a:stretch>
        </p:blipFill>
        <p:spPr>
          <a:xfrm>
            <a:off x="640080" y="1325880"/>
            <a:ext cx="3378244" cy="4846320"/>
          </a:xfrm>
          <a:prstGeom prst="rect">
            <a:avLst/>
          </a:prstGeom>
        </p:spPr>
      </p:pic>
      <p:sp>
        <p:nvSpPr>
          <p:cNvPr id="5" name="Shape 2"/>
          <p:cNvSpPr/>
          <p:nvPr/>
        </p:nvSpPr>
        <p:spPr>
          <a:xfrm>
            <a:off x="4475524" y="1234440"/>
            <a:ext cx="7167531" cy="868680"/>
          </a:xfrm>
          <a:prstGeom prst="roundRect">
            <a:avLst>
              <a:gd name="adj" fmla="val 12632"/>
            </a:avLst>
          </a:prstGeom>
          <a:solidFill>
            <a:srgbClr val="E8F3F2"/>
          </a:solidFill>
          <a:ln/>
          <a:effectLst>
            <a:outerShdw sx="100000" sy="100000" kx="0" ky="0" algn="bl" rotWithShape="0" blurRad="76200" dist="19050" dir="5400000">
              <a:srgbClr val="000000">
                <a:alpha val="12000"/>
              </a:srgbClr>
            </a:outerShdw>
          </a:effectLst>
        </p:spPr>
      </p:sp>
      <p:sp>
        <p:nvSpPr>
          <p:cNvPr id="6" name="Shape 3"/>
          <p:cNvSpPr/>
          <p:nvPr/>
        </p:nvSpPr>
        <p:spPr>
          <a:xfrm>
            <a:off x="4658404" y="1399032"/>
            <a:ext cx="420624" cy="420624"/>
          </a:xfrm>
          <a:prstGeom prst="ellipse">
            <a:avLst/>
          </a:prstGeom>
          <a:solidFill>
            <a:srgbClr val="1F7A8C"/>
          </a:solidFill>
          <a:ln/>
        </p:spPr>
      </p:sp>
      <p:pic>
        <p:nvPicPr>
          <p:cNvPr id="7" name="Image 1" descr="preencoded.png">    </p:cNvPr>
          <p:cNvPicPr>
            <a:picLocks noChangeAspect="1"/>
          </p:cNvPicPr>
          <p:nvPr/>
        </p:nvPicPr>
        <p:blipFill>
          <a:blip r:embed="rId2"/>
          <a:stretch>
            <a:fillRect/>
          </a:stretch>
        </p:blipFill>
        <p:spPr>
          <a:xfrm>
            <a:off x="4767766" y="1508394"/>
            <a:ext cx="201900" cy="201900"/>
          </a:xfrm>
          <a:prstGeom prst="rect">
            <a:avLst/>
          </a:prstGeom>
        </p:spPr>
      </p:pic>
      <p:sp>
        <p:nvSpPr>
          <p:cNvPr id="8" name="Text 4"/>
          <p:cNvSpPr txBox="1"/>
          <p:nvPr/>
        </p:nvSpPr>
        <p:spPr>
          <a:xfrm>
            <a:off x="5207044" y="1371600"/>
            <a:ext cx="6253131" cy="32004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Visitor</a:t>
            </a:r>
            <a:endParaRPr lang="en-US" sz="1600" dirty="0"/>
          </a:p>
        </p:txBody>
      </p:sp>
      <p:sp>
        <p:nvSpPr>
          <p:cNvPr id="9" name="Text 5"/>
          <p:cNvSpPr txBox="1"/>
          <p:nvPr/>
        </p:nvSpPr>
        <p:spPr>
          <a:xfrm>
            <a:off x="5207044" y="1691640"/>
            <a:ext cx="6253131" cy="3200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Browse categories, view components, search, register or log in.</a:t>
            </a:r>
            <a:endParaRPr lang="en-US" sz="1400" dirty="0"/>
          </a:p>
        </p:txBody>
      </p:sp>
      <p:sp>
        <p:nvSpPr>
          <p:cNvPr id="10" name="Shape 6"/>
          <p:cNvSpPr/>
          <p:nvPr/>
        </p:nvSpPr>
        <p:spPr>
          <a:xfrm>
            <a:off x="4475524" y="2286000"/>
            <a:ext cx="7167531" cy="868680"/>
          </a:xfrm>
          <a:prstGeom prst="roundRect">
            <a:avLst>
              <a:gd name="adj" fmla="val 12632"/>
            </a:avLst>
          </a:prstGeom>
          <a:solidFill>
            <a:srgbClr val="E8F3F2"/>
          </a:solidFill>
          <a:ln/>
          <a:effectLst>
            <a:outerShdw sx="100000" sy="100000" kx="0" ky="0" algn="bl" rotWithShape="0" blurRad="76200" dist="19050" dir="5400000">
              <a:srgbClr val="000000">
                <a:alpha val="12000"/>
              </a:srgbClr>
            </a:outerShdw>
          </a:effectLst>
        </p:spPr>
      </p:sp>
      <p:sp>
        <p:nvSpPr>
          <p:cNvPr id="11" name="Shape 7"/>
          <p:cNvSpPr/>
          <p:nvPr/>
        </p:nvSpPr>
        <p:spPr>
          <a:xfrm>
            <a:off x="4658404" y="2450592"/>
            <a:ext cx="420624" cy="420624"/>
          </a:xfrm>
          <a:prstGeom prst="ellipse">
            <a:avLst/>
          </a:prstGeom>
          <a:solidFill>
            <a:srgbClr val="1F7A8C"/>
          </a:solidFill>
          <a:ln/>
        </p:spPr>
      </p:sp>
      <p:pic>
        <p:nvPicPr>
          <p:cNvPr id="12" name="Image 2" descr="preencoded.png">    </p:cNvPr>
          <p:cNvPicPr>
            <a:picLocks noChangeAspect="1"/>
          </p:cNvPicPr>
          <p:nvPr/>
        </p:nvPicPr>
        <p:blipFill>
          <a:blip r:embed="rId3"/>
          <a:stretch>
            <a:fillRect/>
          </a:stretch>
        </p:blipFill>
        <p:spPr>
          <a:xfrm>
            <a:off x="4767766" y="2559954"/>
            <a:ext cx="201900" cy="201900"/>
          </a:xfrm>
          <a:prstGeom prst="rect">
            <a:avLst/>
          </a:prstGeom>
        </p:spPr>
      </p:pic>
      <p:sp>
        <p:nvSpPr>
          <p:cNvPr id="13" name="Text 8"/>
          <p:cNvSpPr txBox="1"/>
          <p:nvPr/>
        </p:nvSpPr>
        <p:spPr>
          <a:xfrm>
            <a:off x="5207044" y="2423160"/>
            <a:ext cx="6253131" cy="32004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User (a logged-in Visitor)</a:t>
            </a:r>
            <a:endParaRPr lang="en-US" sz="1600" dirty="0"/>
          </a:p>
        </p:txBody>
      </p:sp>
      <p:sp>
        <p:nvSpPr>
          <p:cNvPr id="14" name="Text 9"/>
          <p:cNvSpPr txBox="1"/>
          <p:nvPr/>
        </p:nvSpPr>
        <p:spPr>
          <a:xfrm>
            <a:off x="5207044" y="2743200"/>
            <a:ext cx="6253131" cy="3200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Also uses a component (the "Use this component" button).</a:t>
            </a:r>
            <a:endParaRPr lang="en-US" sz="1400" dirty="0"/>
          </a:p>
        </p:txBody>
      </p:sp>
      <p:sp>
        <p:nvSpPr>
          <p:cNvPr id="15" name="Shape 10"/>
          <p:cNvSpPr/>
          <p:nvPr/>
        </p:nvSpPr>
        <p:spPr>
          <a:xfrm>
            <a:off x="4475524" y="3337560"/>
            <a:ext cx="7167531" cy="1234440"/>
          </a:xfrm>
          <a:prstGeom prst="roundRect">
            <a:avLst>
              <a:gd name="adj" fmla="val 8889"/>
            </a:avLst>
          </a:prstGeom>
          <a:solidFill>
            <a:srgbClr val="E8F3F2"/>
          </a:solidFill>
          <a:ln/>
          <a:effectLst>
            <a:outerShdw sx="100000" sy="100000" kx="0" ky="0" algn="bl" rotWithShape="0" blurRad="76200" dist="19050" dir="5400000">
              <a:srgbClr val="000000">
                <a:alpha val="12000"/>
              </a:srgbClr>
            </a:outerShdw>
          </a:effectLst>
        </p:spPr>
      </p:sp>
      <p:sp>
        <p:nvSpPr>
          <p:cNvPr id="16" name="Shape 11"/>
          <p:cNvSpPr/>
          <p:nvPr/>
        </p:nvSpPr>
        <p:spPr>
          <a:xfrm>
            <a:off x="4658404" y="3502152"/>
            <a:ext cx="420624" cy="420624"/>
          </a:xfrm>
          <a:prstGeom prst="ellipse">
            <a:avLst/>
          </a:prstGeom>
          <a:solidFill>
            <a:srgbClr val="1F7A8C"/>
          </a:solidFill>
          <a:ln/>
        </p:spPr>
      </p:sp>
      <p:pic>
        <p:nvPicPr>
          <p:cNvPr id="17" name="Image 3" descr="preencoded.png">    </p:cNvPr>
          <p:cNvPicPr>
            <a:picLocks noChangeAspect="1"/>
          </p:cNvPicPr>
          <p:nvPr/>
        </p:nvPicPr>
        <p:blipFill>
          <a:blip r:embed="rId4"/>
          <a:stretch>
            <a:fillRect/>
          </a:stretch>
        </p:blipFill>
        <p:spPr>
          <a:xfrm>
            <a:off x="4767766" y="3611514"/>
            <a:ext cx="201900" cy="201900"/>
          </a:xfrm>
          <a:prstGeom prst="rect">
            <a:avLst/>
          </a:prstGeom>
        </p:spPr>
      </p:pic>
      <p:sp>
        <p:nvSpPr>
          <p:cNvPr id="18" name="Text 12"/>
          <p:cNvSpPr txBox="1"/>
          <p:nvPr/>
        </p:nvSpPr>
        <p:spPr>
          <a:xfrm>
            <a:off x="5207044" y="3474720"/>
            <a:ext cx="6253131" cy="32004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Cataloguer (a User with more rights)</a:t>
            </a:r>
            <a:endParaRPr lang="en-US" sz="1600" dirty="0"/>
          </a:p>
        </p:txBody>
      </p:sp>
      <p:sp>
        <p:nvSpPr>
          <p:cNvPr id="19" name="Text 13"/>
          <p:cNvSpPr txBox="1"/>
          <p:nvPr/>
        </p:nvSpPr>
        <p:spPr>
          <a:xfrm>
            <a:off x="5207044" y="3794760"/>
            <a:ext cx="6253131" cy="6858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Add, edit, delete components; associate keywords; manage categories and notations; view report and audit log; purge unused components.</a:t>
            </a:r>
            <a:endParaRPr lang="en-US" sz="1400" dirty="0"/>
          </a:p>
        </p:txBody>
      </p:sp>
      <p:sp>
        <p:nvSpPr>
          <p:cNvPr id="20" name="Shape 14"/>
          <p:cNvSpPr/>
          <p:nvPr/>
        </p:nvSpPr>
        <p:spPr>
          <a:xfrm>
            <a:off x="4475524" y="4754880"/>
            <a:ext cx="7167531" cy="1508760"/>
          </a:xfrm>
          <a:prstGeom prst="roundRect">
            <a:avLst>
              <a:gd name="adj" fmla="val 7273"/>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sp>
        <p:nvSpPr>
          <p:cNvPr id="21" name="Text 15"/>
          <p:cNvSpPr txBox="1"/>
          <p:nvPr/>
        </p:nvSpPr>
        <p:spPr>
          <a:xfrm>
            <a:off x="4658404" y="4892040"/>
            <a:ext cx="6801771" cy="1234440"/>
          </a:xfrm>
          <a:prstGeom prst="rect">
            <a:avLst/>
          </a:prstGeom>
          <a:noFill/>
          <a:ln/>
        </p:spPr>
        <p:txBody>
          <a:bodyPr wrap="square" lIns="0" tIns="0" rIns="0" bIns="0" rtlCol="0" anchor="t"/>
          <a:lstStyle/>
          <a:p>
            <a:pPr indent="0" marL="0">
              <a:spcAft>
                <a:spcPts val="500"/>
              </a:spcAft>
              <a:buNone/>
            </a:pPr>
            <a:r>
              <a:rPr lang="en-US" sz="1300" b="1" dirty="0">
                <a:solidFill>
                  <a:srgbClr val="0B3C49"/>
                </a:solidFill>
                <a:latin typeface="Calibri" pitchFamily="34" charset="0"/>
                <a:ea typeface="Calibri" pitchFamily="34" charset="-122"/>
                <a:cs typeface="Calibri" pitchFamily="34" charset="-120"/>
              </a:rPr>
              <a:t>How to read the arrows</a:t>
            </a:r>
            <a:endParaRPr lang="en-US" sz="1300" dirty="0"/>
          </a:p>
          <a:p>
            <a:pPr indent="0" marL="0">
              <a:spcAft>
                <a:spcPts val="500"/>
              </a:spcAft>
              <a:buNone/>
            </a:pPr>
            <a:r>
              <a:rPr lang="en-US" sz="1300" dirty="0">
                <a:solidFill>
                  <a:srgbClr val="10262B"/>
                </a:solidFill>
                <a:latin typeface="Calibri" pitchFamily="34" charset="0"/>
                <a:ea typeface="Calibri" pitchFamily="34" charset="-122"/>
                <a:cs typeface="Calibri" pitchFamily="34" charset="-120"/>
              </a:rPr>
              <a:t>Dashed arrow «extend»: optional extra behaviour.  Hollow triangle: generalisation (a User is a Visitor).</a:t>
            </a:r>
            <a:endParaRPr lang="en-US" sz="1300" dirty="0"/>
          </a:p>
          <a:p>
            <a:pPr indent="0" marL="0">
              <a:spcAft>
                <a:spcPts val="500"/>
              </a:spcAft>
              <a:buNone/>
            </a:pPr>
            <a:r>
              <a:rPr lang="en-US" sz="1300" dirty="0">
                <a:solidFill>
                  <a:srgbClr val="10262B"/>
                </a:solidFill>
                <a:latin typeface="Calibri" pitchFamily="34" charset="0"/>
                <a:ea typeface="Calibri" pitchFamily="34" charset="-122"/>
                <a:cs typeface="Calibri" pitchFamily="34" charset="-120"/>
              </a:rPr>
              <a:t>Use component extends Query and View details; View details extends Query and Browse; Associate keywords extends Add and Edit.</a:t>
            </a:r>
            <a:endParaRPr lang="en-US" sz="1300" dirty="0"/>
          </a:p>
        </p:txBody>
      </p:sp>
      <p:sp>
        <p:nvSpPr>
          <p:cNvPr id="22" name="Text 1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23" name="Text 17"/>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The domain model: 10 classes from the database schema</a:t>
            </a:r>
            <a:endParaRPr lang="en-US" sz="3200" dirty="0"/>
          </a:p>
        </p:txBody>
      </p:sp>
      <p:sp>
        <p:nvSpPr>
          <p:cNvPr id="3" name="Shape 1"/>
          <p:cNvSpPr/>
          <p:nvPr/>
        </p:nvSpPr>
        <p:spPr>
          <a:xfrm>
            <a:off x="548640" y="1234440"/>
            <a:ext cx="5418769" cy="5029200"/>
          </a:xfrm>
          <a:prstGeom prst="roundRect">
            <a:avLst>
              <a:gd name="adj" fmla="val 2182"/>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class-domain.png">    </p:cNvPr>
          <p:cNvPicPr>
            <a:picLocks noChangeAspect="1"/>
          </p:cNvPicPr>
          <p:nvPr/>
        </p:nvPicPr>
        <p:blipFill>
          <a:blip r:embed="rId1"/>
          <a:stretch>
            <a:fillRect/>
          </a:stretch>
        </p:blipFill>
        <p:spPr>
          <a:xfrm>
            <a:off x="640080" y="1325880"/>
            <a:ext cx="5235889" cy="4846320"/>
          </a:xfrm>
          <a:prstGeom prst="rect">
            <a:avLst/>
          </a:prstGeom>
        </p:spPr>
      </p:pic>
      <p:sp>
        <p:nvSpPr>
          <p:cNvPr id="5" name="Shape 2"/>
          <p:cNvSpPr/>
          <p:nvPr/>
        </p:nvSpPr>
        <p:spPr>
          <a:xfrm>
            <a:off x="6333169" y="1234440"/>
            <a:ext cx="384048" cy="384048"/>
          </a:xfrm>
          <a:prstGeom prst="ellipse">
            <a:avLst/>
          </a:prstGeom>
          <a:solidFill>
            <a:srgbClr val="1F7A8C"/>
          </a:solidFill>
          <a:ln/>
        </p:spPr>
      </p:sp>
      <p:pic>
        <p:nvPicPr>
          <p:cNvPr id="6" name="Image 1" descr="preencoded.png">    </p:cNvPr>
          <p:cNvPicPr>
            <a:picLocks noChangeAspect="1"/>
          </p:cNvPicPr>
          <p:nvPr/>
        </p:nvPicPr>
        <p:blipFill>
          <a:blip r:embed="rId2"/>
          <a:stretch>
            <a:fillRect/>
          </a:stretch>
        </p:blipFill>
        <p:spPr>
          <a:xfrm>
            <a:off x="6433021" y="1334292"/>
            <a:ext cx="184343" cy="184343"/>
          </a:xfrm>
          <a:prstGeom prst="rect">
            <a:avLst/>
          </a:prstGeom>
        </p:spPr>
      </p:pic>
      <p:sp>
        <p:nvSpPr>
          <p:cNvPr id="7" name="Text 3"/>
          <p:cNvSpPr txBox="1"/>
          <p:nvPr/>
        </p:nvSpPr>
        <p:spPr>
          <a:xfrm>
            <a:off x="6863521" y="1234440"/>
            <a:ext cx="4779534" cy="1143000"/>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Association classes: </a:t>
            </a:r>
            <a:pPr indent="0" marL="0">
              <a:buNone/>
            </a:pPr>
            <a:r>
              <a:rPr lang="en-US" sz="1400" dirty="0">
                <a:solidFill>
                  <a:srgbClr val="10262B"/>
                </a:solidFill>
                <a:latin typeface="Calibri" pitchFamily="34" charset="0"/>
                <a:ea typeface="Calibri" pitchFamily="34" charset="-122"/>
                <a:cs typeface="Calibri" pitchFamily="34" charset="-120"/>
              </a:rPr>
              <a:t>SearchResult (rank, used) links a search to a component; ComponentKeyword links component and keyword.</a:t>
            </a:r>
            <a:endParaRPr lang="en-US" sz="1400" dirty="0"/>
          </a:p>
        </p:txBody>
      </p:sp>
      <p:sp>
        <p:nvSpPr>
          <p:cNvPr id="8" name="Shape 4"/>
          <p:cNvSpPr/>
          <p:nvPr/>
        </p:nvSpPr>
        <p:spPr>
          <a:xfrm>
            <a:off x="6333169" y="2468880"/>
            <a:ext cx="384048" cy="384048"/>
          </a:xfrm>
          <a:prstGeom prst="ellipse">
            <a:avLst/>
          </a:prstGeom>
          <a:solidFill>
            <a:srgbClr val="1F7A8C"/>
          </a:solidFill>
          <a:ln/>
        </p:spPr>
      </p:sp>
      <p:pic>
        <p:nvPicPr>
          <p:cNvPr id="9" name="Image 2" descr="preencoded.png">    </p:cNvPr>
          <p:cNvPicPr>
            <a:picLocks noChangeAspect="1"/>
          </p:cNvPicPr>
          <p:nvPr/>
        </p:nvPicPr>
        <p:blipFill>
          <a:blip r:embed="rId3"/>
          <a:stretch>
            <a:fillRect/>
          </a:stretch>
        </p:blipFill>
        <p:spPr>
          <a:xfrm>
            <a:off x="6433021" y="2568732"/>
            <a:ext cx="184343" cy="184343"/>
          </a:xfrm>
          <a:prstGeom prst="rect">
            <a:avLst/>
          </a:prstGeom>
        </p:spPr>
      </p:pic>
      <p:sp>
        <p:nvSpPr>
          <p:cNvPr id="10" name="Text 5"/>
          <p:cNvSpPr txBox="1"/>
          <p:nvPr/>
        </p:nvSpPr>
        <p:spPr>
          <a:xfrm>
            <a:off x="6863521" y="2468880"/>
            <a:ext cx="4779534" cy="1005840"/>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Aggregation: </a:t>
            </a:r>
            <a:pPr indent="0" marL="0">
              <a:buNone/>
            </a:pPr>
            <a:r>
              <a:rPr lang="en-US" sz="1400" dirty="0">
                <a:solidFill>
                  <a:srgbClr val="10262B"/>
                </a:solidFill>
                <a:latin typeface="Calibri" pitchFamily="34" charset="0"/>
                <a:ea typeface="Calibri" pitchFamily="34" charset="-122"/>
                <a:cs typeface="Calibri" pitchFamily="34" charset="-120"/>
              </a:rPr>
              <a:t>A category holds sub-categories; they survive when the parent is removed (they are reassigned).</a:t>
            </a:r>
            <a:endParaRPr lang="en-US" sz="1400" dirty="0"/>
          </a:p>
        </p:txBody>
      </p:sp>
      <p:sp>
        <p:nvSpPr>
          <p:cNvPr id="11" name="Shape 6"/>
          <p:cNvSpPr/>
          <p:nvPr/>
        </p:nvSpPr>
        <p:spPr>
          <a:xfrm>
            <a:off x="6333169" y="3566160"/>
            <a:ext cx="384048" cy="384048"/>
          </a:xfrm>
          <a:prstGeom prst="ellipse">
            <a:avLst/>
          </a:prstGeom>
          <a:solidFill>
            <a:srgbClr val="1F7A8C"/>
          </a:solidFill>
          <a:ln/>
        </p:spPr>
      </p:sp>
      <p:pic>
        <p:nvPicPr>
          <p:cNvPr id="12" name="Image 3" descr="preencoded.png">    </p:cNvPr>
          <p:cNvPicPr>
            <a:picLocks noChangeAspect="1"/>
          </p:cNvPicPr>
          <p:nvPr/>
        </p:nvPicPr>
        <p:blipFill>
          <a:blip r:embed="rId4"/>
          <a:stretch>
            <a:fillRect/>
          </a:stretch>
        </p:blipFill>
        <p:spPr>
          <a:xfrm>
            <a:off x="6433021" y="3666012"/>
            <a:ext cx="184343" cy="184343"/>
          </a:xfrm>
          <a:prstGeom prst="rect">
            <a:avLst/>
          </a:prstGeom>
        </p:spPr>
      </p:pic>
      <p:sp>
        <p:nvSpPr>
          <p:cNvPr id="13" name="Text 7"/>
          <p:cNvSpPr txBox="1"/>
          <p:nvPr/>
        </p:nvSpPr>
        <p:spPr>
          <a:xfrm>
            <a:off x="6863521" y="3566160"/>
            <a:ext cx="4779534" cy="822960"/>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Composition: </a:t>
            </a:r>
            <a:pPr indent="0" marL="0">
              <a:buNone/>
            </a:pPr>
            <a:r>
              <a:rPr lang="en-US" sz="1400" dirty="0">
                <a:solidFill>
                  <a:srgbClr val="10262B"/>
                </a:solidFill>
                <a:latin typeface="Calibri" pitchFamily="34" charset="0"/>
                <a:ea typeface="Calibri" pitchFamily="34" charset="-122"/>
                <a:cs typeface="Calibri" pitchFamily="34" charset="-120"/>
              </a:rPr>
              <a:t>Usage events belong to a component and are deleted with it.</a:t>
            </a:r>
            <a:endParaRPr lang="en-US" sz="1400" dirty="0"/>
          </a:p>
        </p:txBody>
      </p:sp>
      <p:sp>
        <p:nvSpPr>
          <p:cNvPr id="14" name="Shape 8"/>
          <p:cNvSpPr/>
          <p:nvPr/>
        </p:nvSpPr>
        <p:spPr>
          <a:xfrm>
            <a:off x="6333169" y="4480560"/>
            <a:ext cx="384048" cy="384048"/>
          </a:xfrm>
          <a:prstGeom prst="ellipse">
            <a:avLst/>
          </a:prstGeom>
          <a:solidFill>
            <a:srgbClr val="1F7A8C"/>
          </a:solidFill>
          <a:ln/>
        </p:spPr>
      </p:sp>
      <p:pic>
        <p:nvPicPr>
          <p:cNvPr id="15" name="Image 4" descr="preencoded.png">    </p:cNvPr>
          <p:cNvPicPr>
            <a:picLocks noChangeAspect="1"/>
          </p:cNvPicPr>
          <p:nvPr/>
        </p:nvPicPr>
        <p:blipFill>
          <a:blip r:embed="rId5"/>
          <a:stretch>
            <a:fillRect/>
          </a:stretch>
        </p:blipFill>
        <p:spPr>
          <a:xfrm>
            <a:off x="6433021" y="4580412"/>
            <a:ext cx="184343" cy="184343"/>
          </a:xfrm>
          <a:prstGeom prst="rect">
            <a:avLst/>
          </a:prstGeom>
        </p:spPr>
      </p:pic>
      <p:sp>
        <p:nvSpPr>
          <p:cNvPr id="16" name="Text 9"/>
          <p:cNvSpPr txBox="1"/>
          <p:nvPr/>
        </p:nvSpPr>
        <p:spPr>
          <a:xfrm>
            <a:off x="6863521" y="4480560"/>
            <a:ext cx="4779534" cy="1005840"/>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Rules: </a:t>
            </a:r>
            <a:pPr indent="0" marL="0">
              <a:buNone/>
            </a:pPr>
            <a:r>
              <a:rPr lang="en-US" sz="1400" dirty="0">
                <a:solidFill>
                  <a:srgbClr val="10262B"/>
                </a:solidFill>
                <a:latin typeface="Calibri" pitchFamily="34" charset="0"/>
                <a:ea typeface="Calibri" pitchFamily="34" charset="-122"/>
                <a:cs typeface="Calibri" pitchFamily="34" charset="-120"/>
              </a:rPr>
              <a:t>Notation kind must equal component kind; a category cannot move under itself.</a:t>
            </a:r>
            <a:endParaRPr lang="en-US" sz="1400" dirty="0"/>
          </a:p>
        </p:txBody>
      </p:sp>
      <p:sp>
        <p:nvSpPr>
          <p:cNvPr id="17" name="Shape 10"/>
          <p:cNvSpPr/>
          <p:nvPr/>
        </p:nvSpPr>
        <p:spPr>
          <a:xfrm>
            <a:off x="6333169" y="5577840"/>
            <a:ext cx="384048" cy="384048"/>
          </a:xfrm>
          <a:prstGeom prst="ellipse">
            <a:avLst/>
          </a:prstGeom>
          <a:solidFill>
            <a:srgbClr val="1F7A8C"/>
          </a:solidFill>
          <a:ln/>
        </p:spPr>
      </p:sp>
      <p:pic>
        <p:nvPicPr>
          <p:cNvPr id="18" name="Image 5" descr="preencoded.png">    </p:cNvPr>
          <p:cNvPicPr>
            <a:picLocks noChangeAspect="1"/>
          </p:cNvPicPr>
          <p:nvPr/>
        </p:nvPicPr>
        <p:blipFill>
          <a:blip r:embed="rId6"/>
          <a:stretch>
            <a:fillRect/>
          </a:stretch>
        </p:blipFill>
        <p:spPr>
          <a:xfrm>
            <a:off x="6433021" y="5677692"/>
            <a:ext cx="184343" cy="184343"/>
          </a:xfrm>
          <a:prstGeom prst="rect">
            <a:avLst/>
          </a:prstGeom>
        </p:spPr>
      </p:pic>
      <p:sp>
        <p:nvSpPr>
          <p:cNvPr id="19" name="Text 11"/>
          <p:cNvSpPr txBox="1"/>
          <p:nvPr/>
        </p:nvSpPr>
        <p:spPr>
          <a:xfrm>
            <a:off x="6863521" y="5577840"/>
            <a:ext cx="4779534" cy="640080"/>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No inheritance: </a:t>
            </a:r>
            <a:pPr indent="0" marL="0">
              <a:buNone/>
            </a:pPr>
            <a:r>
              <a:rPr lang="en-US" sz="1400" dirty="0">
                <a:solidFill>
                  <a:srgbClr val="10262B"/>
                </a:solidFill>
                <a:latin typeface="Calibri" pitchFamily="34" charset="0"/>
                <a:ea typeface="Calibri" pitchFamily="34" charset="-122"/>
                <a:cs typeface="Calibri" pitchFamily="34" charset="-120"/>
              </a:rPr>
              <a:t>Role is an attribute of User.</a:t>
            </a:r>
            <a:endParaRPr lang="en-US" sz="1400" dirty="0"/>
          </a:p>
        </p:txBody>
      </p:sp>
      <p:sp>
        <p:nvSpPr>
          <p:cNvPr id="20" name="Text 1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21" name="Text 1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A web app, an API and a database, in clear layers</a:t>
            </a:r>
            <a:endParaRPr lang="en-US" sz="3200" dirty="0"/>
          </a:p>
        </p:txBody>
      </p:sp>
      <p:sp>
        <p:nvSpPr>
          <p:cNvPr id="3" name="Shape 1"/>
          <p:cNvSpPr/>
          <p:nvPr/>
        </p:nvSpPr>
        <p:spPr>
          <a:xfrm>
            <a:off x="548640" y="1325880"/>
            <a:ext cx="2011680" cy="1143000"/>
          </a:xfrm>
          <a:prstGeom prst="roundRect">
            <a:avLst>
              <a:gd name="adj" fmla="val 9600"/>
            </a:avLst>
          </a:prstGeom>
          <a:solidFill>
            <a:srgbClr val="E8F3F2"/>
          </a:solidFill>
          <a:ln/>
          <a:effectLst>
            <a:outerShdw sx="100000" sy="100000" kx="0" ky="0" algn="bl" rotWithShape="0" blurRad="76200" dist="19050" dir="5400000">
              <a:srgbClr val="000000">
                <a:alpha val="12000"/>
              </a:srgbClr>
            </a:outerShdw>
          </a:effectLst>
        </p:spPr>
      </p:sp>
      <p:sp>
        <p:nvSpPr>
          <p:cNvPr id="4" name="Shape 2"/>
          <p:cNvSpPr/>
          <p:nvPr/>
        </p:nvSpPr>
        <p:spPr>
          <a:xfrm>
            <a:off x="713232" y="1508760"/>
            <a:ext cx="420624" cy="420624"/>
          </a:xfrm>
          <a:prstGeom prst="ellipse">
            <a:avLst/>
          </a:prstGeom>
          <a:solidFill>
            <a:srgbClr val="1F7A8C"/>
          </a:solidFill>
          <a:ln/>
        </p:spPr>
      </p:sp>
      <p:pic>
        <p:nvPicPr>
          <p:cNvPr id="5" name="Image 0" descr="preencoded.png">    </p:cNvPr>
          <p:cNvPicPr>
            <a:picLocks noChangeAspect="1"/>
          </p:cNvPicPr>
          <p:nvPr/>
        </p:nvPicPr>
        <p:blipFill>
          <a:blip r:embed="rId1"/>
          <a:stretch>
            <a:fillRect/>
          </a:stretch>
        </p:blipFill>
        <p:spPr>
          <a:xfrm>
            <a:off x="822594" y="1618122"/>
            <a:ext cx="201900" cy="201900"/>
          </a:xfrm>
          <a:prstGeom prst="rect">
            <a:avLst/>
          </a:prstGeom>
        </p:spPr>
      </p:pic>
      <p:sp>
        <p:nvSpPr>
          <p:cNvPr id="6" name="Text 3"/>
          <p:cNvSpPr txBox="1"/>
          <p:nvPr/>
        </p:nvSpPr>
        <p:spPr>
          <a:xfrm>
            <a:off x="1234440" y="1490472"/>
            <a:ext cx="1234440" cy="45720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Browser</a:t>
            </a:r>
            <a:endParaRPr lang="en-US" sz="1500" dirty="0"/>
          </a:p>
        </p:txBody>
      </p:sp>
      <p:sp>
        <p:nvSpPr>
          <p:cNvPr id="7" name="Shape 4"/>
          <p:cNvSpPr/>
          <p:nvPr/>
        </p:nvSpPr>
        <p:spPr>
          <a:xfrm>
            <a:off x="2633472" y="1892808"/>
            <a:ext cx="869594" cy="0"/>
          </a:xfrm>
          <a:prstGeom prst="line">
            <a:avLst/>
          </a:prstGeom>
          <a:noFill/>
          <a:ln w="25400">
            <a:solidFill>
              <a:srgbClr val="1F7A8C"/>
            </a:solidFill>
            <a:prstDash val="solid"/>
            <a:tailEnd type="triangle"/>
          </a:ln>
        </p:spPr>
      </p:sp>
      <p:sp>
        <p:nvSpPr>
          <p:cNvPr id="8" name="Text 5"/>
          <p:cNvSpPr txBox="1"/>
          <p:nvPr/>
        </p:nvSpPr>
        <p:spPr>
          <a:xfrm>
            <a:off x="2596896" y="1984248"/>
            <a:ext cx="942746" cy="457200"/>
          </a:xfrm>
          <a:prstGeom prst="rect">
            <a:avLst/>
          </a:prstGeom>
          <a:noFill/>
          <a:ln/>
        </p:spPr>
        <p:txBody>
          <a:bodyPr wrap="square" lIns="0" tIns="0" rIns="0" bIns="0" rtlCol="0" anchor="t"/>
          <a:lstStyle/>
          <a:p>
            <a:pPr algn="ctr" indent="0" marL="0">
              <a:buNone/>
            </a:pPr>
            <a:r>
              <a:rPr lang="en-US" sz="1200" dirty="0">
                <a:solidFill>
                  <a:srgbClr val="5A7177"/>
                </a:solidFill>
                <a:latin typeface="Calibri" pitchFamily="34" charset="0"/>
                <a:ea typeface="Calibri" pitchFamily="34" charset="-122"/>
                <a:cs typeface="Calibri" pitchFamily="34" charset="-120"/>
              </a:rPr>
              <a:t>HTTPS</a:t>
            </a:r>
            <a:endParaRPr lang="en-US" sz="1200" dirty="0"/>
          </a:p>
        </p:txBody>
      </p:sp>
      <p:sp>
        <p:nvSpPr>
          <p:cNvPr id="9" name="Shape 6"/>
          <p:cNvSpPr/>
          <p:nvPr/>
        </p:nvSpPr>
        <p:spPr>
          <a:xfrm>
            <a:off x="3576218" y="1325880"/>
            <a:ext cx="2011680" cy="1143000"/>
          </a:xfrm>
          <a:prstGeom prst="roundRect">
            <a:avLst>
              <a:gd name="adj" fmla="val 9600"/>
            </a:avLst>
          </a:prstGeom>
          <a:solidFill>
            <a:srgbClr val="E8F3F2"/>
          </a:solidFill>
          <a:ln/>
          <a:effectLst>
            <a:outerShdw sx="100000" sy="100000" kx="0" ky="0" algn="bl" rotWithShape="0" blurRad="76200" dist="19050" dir="5400000">
              <a:srgbClr val="000000">
                <a:alpha val="12000"/>
              </a:srgbClr>
            </a:outerShdw>
          </a:effectLst>
        </p:spPr>
      </p:sp>
      <p:sp>
        <p:nvSpPr>
          <p:cNvPr id="10" name="Shape 7"/>
          <p:cNvSpPr/>
          <p:nvPr/>
        </p:nvSpPr>
        <p:spPr>
          <a:xfrm>
            <a:off x="3740810" y="1508760"/>
            <a:ext cx="420624" cy="420624"/>
          </a:xfrm>
          <a:prstGeom prst="ellipse">
            <a:avLst/>
          </a:prstGeom>
          <a:solidFill>
            <a:srgbClr val="1F7A8C"/>
          </a:solidFill>
          <a:ln/>
        </p:spPr>
      </p:sp>
      <p:pic>
        <p:nvPicPr>
          <p:cNvPr id="11" name="Image 1" descr="preencoded.png">    </p:cNvPr>
          <p:cNvPicPr>
            <a:picLocks noChangeAspect="1"/>
          </p:cNvPicPr>
          <p:nvPr/>
        </p:nvPicPr>
        <p:blipFill>
          <a:blip r:embed="rId2"/>
          <a:stretch>
            <a:fillRect/>
          </a:stretch>
        </p:blipFill>
        <p:spPr>
          <a:xfrm>
            <a:off x="3850173" y="1618122"/>
            <a:ext cx="201900" cy="201900"/>
          </a:xfrm>
          <a:prstGeom prst="rect">
            <a:avLst/>
          </a:prstGeom>
        </p:spPr>
      </p:pic>
      <p:sp>
        <p:nvSpPr>
          <p:cNvPr id="12" name="Text 8"/>
          <p:cNvSpPr txBox="1"/>
          <p:nvPr/>
        </p:nvSpPr>
        <p:spPr>
          <a:xfrm>
            <a:off x="4262018" y="1490472"/>
            <a:ext cx="1234440" cy="45720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Next.js web app</a:t>
            </a:r>
            <a:endParaRPr lang="en-US" sz="1500" dirty="0"/>
          </a:p>
        </p:txBody>
      </p:sp>
      <p:sp>
        <p:nvSpPr>
          <p:cNvPr id="13" name="Text 9"/>
          <p:cNvSpPr txBox="1"/>
          <p:nvPr/>
        </p:nvSpPr>
        <p:spPr>
          <a:xfrm>
            <a:off x="3740810" y="2039112"/>
            <a:ext cx="1737360" cy="32004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Vercel</a:t>
            </a:r>
            <a:endParaRPr lang="en-US" sz="1200" dirty="0"/>
          </a:p>
        </p:txBody>
      </p:sp>
      <p:sp>
        <p:nvSpPr>
          <p:cNvPr id="14" name="Shape 10"/>
          <p:cNvSpPr/>
          <p:nvPr/>
        </p:nvSpPr>
        <p:spPr>
          <a:xfrm>
            <a:off x="5661050" y="1892808"/>
            <a:ext cx="869594" cy="0"/>
          </a:xfrm>
          <a:prstGeom prst="line">
            <a:avLst/>
          </a:prstGeom>
          <a:noFill/>
          <a:ln w="25400">
            <a:solidFill>
              <a:srgbClr val="1F7A8C"/>
            </a:solidFill>
            <a:prstDash val="solid"/>
            <a:tailEnd type="triangle"/>
          </a:ln>
        </p:spPr>
      </p:sp>
      <p:sp>
        <p:nvSpPr>
          <p:cNvPr id="15" name="Text 11"/>
          <p:cNvSpPr txBox="1"/>
          <p:nvPr/>
        </p:nvSpPr>
        <p:spPr>
          <a:xfrm>
            <a:off x="5624474" y="1984248"/>
            <a:ext cx="942746" cy="457200"/>
          </a:xfrm>
          <a:prstGeom prst="rect">
            <a:avLst/>
          </a:prstGeom>
          <a:noFill/>
          <a:ln/>
        </p:spPr>
        <p:txBody>
          <a:bodyPr wrap="square" lIns="0" tIns="0" rIns="0" bIns="0" rtlCol="0" anchor="t"/>
          <a:lstStyle/>
          <a:p>
            <a:pPr algn="ctr" indent="0" marL="0">
              <a:buNone/>
            </a:pPr>
            <a:r>
              <a:rPr lang="en-US" sz="1200" dirty="0">
                <a:solidFill>
                  <a:srgbClr val="5A7177"/>
                </a:solidFill>
                <a:latin typeface="Calibri" pitchFamily="34" charset="0"/>
                <a:ea typeface="Calibri" pitchFamily="34" charset="-122"/>
                <a:cs typeface="Calibri" pitchFamily="34" charset="-120"/>
              </a:rPr>
              <a:t>JSON +</a:t>
            </a:r>
            <a:endParaRPr lang="en-US" sz="1200" dirty="0"/>
          </a:p>
          <a:p>
            <a:pPr algn="ctr" indent="0" marL="0">
              <a:buNone/>
            </a:pPr>
            <a:r>
              <a:rPr lang="en-US" sz="1200" dirty="0">
                <a:solidFill>
                  <a:srgbClr val="5A7177"/>
                </a:solidFill>
                <a:latin typeface="Calibri" pitchFamily="34" charset="0"/>
                <a:ea typeface="Calibri" pitchFamily="34" charset="-122"/>
                <a:cs typeface="Calibri" pitchFamily="34" charset="-120"/>
              </a:rPr>
              <a:t>Bearer token</a:t>
            </a:r>
            <a:endParaRPr lang="en-US" sz="1200" dirty="0"/>
          </a:p>
        </p:txBody>
      </p:sp>
      <p:sp>
        <p:nvSpPr>
          <p:cNvPr id="16" name="Shape 12"/>
          <p:cNvSpPr/>
          <p:nvPr/>
        </p:nvSpPr>
        <p:spPr>
          <a:xfrm>
            <a:off x="6603797" y="1325880"/>
            <a:ext cx="2011680" cy="1143000"/>
          </a:xfrm>
          <a:prstGeom prst="roundRect">
            <a:avLst>
              <a:gd name="adj" fmla="val 9600"/>
            </a:avLst>
          </a:prstGeom>
          <a:solidFill>
            <a:srgbClr val="E8F3F2"/>
          </a:solidFill>
          <a:ln/>
          <a:effectLst>
            <a:outerShdw sx="100000" sy="100000" kx="0" ky="0" algn="bl" rotWithShape="0" blurRad="76200" dist="19050" dir="5400000">
              <a:srgbClr val="000000">
                <a:alpha val="12000"/>
              </a:srgbClr>
            </a:outerShdw>
          </a:effectLst>
        </p:spPr>
      </p:sp>
      <p:sp>
        <p:nvSpPr>
          <p:cNvPr id="17" name="Shape 13"/>
          <p:cNvSpPr/>
          <p:nvPr/>
        </p:nvSpPr>
        <p:spPr>
          <a:xfrm>
            <a:off x="6768389" y="1508760"/>
            <a:ext cx="420624" cy="420624"/>
          </a:xfrm>
          <a:prstGeom prst="ellipse">
            <a:avLst/>
          </a:prstGeom>
          <a:solidFill>
            <a:srgbClr val="1F7A8C"/>
          </a:solidFill>
          <a:ln/>
        </p:spPr>
      </p:sp>
      <p:pic>
        <p:nvPicPr>
          <p:cNvPr id="18" name="Image 2" descr="preencoded.png">    </p:cNvPr>
          <p:cNvPicPr>
            <a:picLocks noChangeAspect="1"/>
          </p:cNvPicPr>
          <p:nvPr/>
        </p:nvPicPr>
        <p:blipFill>
          <a:blip r:embed="rId3"/>
          <a:stretch>
            <a:fillRect/>
          </a:stretch>
        </p:blipFill>
        <p:spPr>
          <a:xfrm>
            <a:off x="6877751" y="1618122"/>
            <a:ext cx="201900" cy="201900"/>
          </a:xfrm>
          <a:prstGeom prst="rect">
            <a:avLst/>
          </a:prstGeom>
        </p:spPr>
      </p:pic>
      <p:sp>
        <p:nvSpPr>
          <p:cNvPr id="19" name="Text 14"/>
          <p:cNvSpPr txBox="1"/>
          <p:nvPr/>
        </p:nvSpPr>
        <p:spPr>
          <a:xfrm>
            <a:off x="7289597" y="1490472"/>
            <a:ext cx="1234440" cy="45720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Express API</a:t>
            </a:r>
            <a:endParaRPr lang="en-US" sz="1500" dirty="0"/>
          </a:p>
        </p:txBody>
      </p:sp>
      <p:sp>
        <p:nvSpPr>
          <p:cNvPr id="20" name="Text 15"/>
          <p:cNvSpPr txBox="1"/>
          <p:nvPr/>
        </p:nvSpPr>
        <p:spPr>
          <a:xfrm>
            <a:off x="6768389" y="2039112"/>
            <a:ext cx="1737360" cy="32004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/api/v1, Vercel serverless</a:t>
            </a:r>
            <a:endParaRPr lang="en-US" sz="1200" dirty="0"/>
          </a:p>
        </p:txBody>
      </p:sp>
      <p:sp>
        <p:nvSpPr>
          <p:cNvPr id="21" name="Shape 16"/>
          <p:cNvSpPr/>
          <p:nvPr/>
        </p:nvSpPr>
        <p:spPr>
          <a:xfrm>
            <a:off x="8688629" y="1892808"/>
            <a:ext cx="869594" cy="0"/>
          </a:xfrm>
          <a:prstGeom prst="line">
            <a:avLst/>
          </a:prstGeom>
          <a:noFill/>
          <a:ln w="25400">
            <a:solidFill>
              <a:srgbClr val="1F7A8C"/>
            </a:solidFill>
            <a:prstDash val="solid"/>
            <a:tailEnd type="triangle"/>
          </a:ln>
        </p:spPr>
      </p:sp>
      <p:sp>
        <p:nvSpPr>
          <p:cNvPr id="22" name="Text 17"/>
          <p:cNvSpPr txBox="1"/>
          <p:nvPr/>
        </p:nvSpPr>
        <p:spPr>
          <a:xfrm>
            <a:off x="8652053" y="1984248"/>
            <a:ext cx="942746" cy="457200"/>
          </a:xfrm>
          <a:prstGeom prst="rect">
            <a:avLst/>
          </a:prstGeom>
          <a:noFill/>
          <a:ln/>
        </p:spPr>
        <p:txBody>
          <a:bodyPr wrap="square" lIns="0" tIns="0" rIns="0" bIns="0" rtlCol="0" anchor="t"/>
          <a:lstStyle/>
          <a:p>
            <a:pPr algn="ctr" indent="0" marL="0">
              <a:buNone/>
            </a:pPr>
            <a:r>
              <a:rPr lang="en-US" sz="1200" dirty="0">
                <a:solidFill>
                  <a:srgbClr val="5A7177"/>
                </a:solidFill>
                <a:latin typeface="Calibri" pitchFamily="34" charset="0"/>
                <a:ea typeface="Calibri" pitchFamily="34" charset="-122"/>
                <a:cs typeface="Calibri" pitchFamily="34" charset="-120"/>
              </a:rPr>
              <a:t>Prisma</a:t>
            </a:r>
            <a:endParaRPr lang="en-US" sz="1200" dirty="0"/>
          </a:p>
        </p:txBody>
      </p:sp>
      <p:sp>
        <p:nvSpPr>
          <p:cNvPr id="23" name="Shape 18"/>
          <p:cNvSpPr/>
          <p:nvPr/>
        </p:nvSpPr>
        <p:spPr>
          <a:xfrm>
            <a:off x="9631375" y="1325880"/>
            <a:ext cx="2011680" cy="1143000"/>
          </a:xfrm>
          <a:prstGeom prst="roundRect">
            <a:avLst>
              <a:gd name="adj" fmla="val 9600"/>
            </a:avLst>
          </a:prstGeom>
          <a:solidFill>
            <a:srgbClr val="0B3C49"/>
          </a:solidFill>
          <a:ln/>
          <a:effectLst>
            <a:outerShdw sx="100000" sy="100000" kx="0" ky="0" algn="bl" rotWithShape="0" blurRad="76200" dist="19050" dir="5400000">
              <a:srgbClr val="000000">
                <a:alpha val="12000"/>
              </a:srgbClr>
            </a:outerShdw>
          </a:effectLst>
        </p:spPr>
      </p:sp>
      <p:sp>
        <p:nvSpPr>
          <p:cNvPr id="24" name="Shape 19"/>
          <p:cNvSpPr/>
          <p:nvPr/>
        </p:nvSpPr>
        <p:spPr>
          <a:xfrm>
            <a:off x="9795967" y="1508760"/>
            <a:ext cx="420624" cy="420624"/>
          </a:xfrm>
          <a:prstGeom prst="ellipse">
            <a:avLst/>
          </a:prstGeom>
          <a:solidFill>
            <a:srgbClr val="1F7A8C"/>
          </a:solidFill>
          <a:ln/>
        </p:spPr>
      </p:sp>
      <p:pic>
        <p:nvPicPr>
          <p:cNvPr id="25" name="Image 3" descr="preencoded.png">    </p:cNvPr>
          <p:cNvPicPr>
            <a:picLocks noChangeAspect="1"/>
          </p:cNvPicPr>
          <p:nvPr/>
        </p:nvPicPr>
        <p:blipFill>
          <a:blip r:embed="rId4"/>
          <a:stretch>
            <a:fillRect/>
          </a:stretch>
        </p:blipFill>
        <p:spPr>
          <a:xfrm>
            <a:off x="9905329" y="1618122"/>
            <a:ext cx="201900" cy="201900"/>
          </a:xfrm>
          <a:prstGeom prst="rect">
            <a:avLst/>
          </a:prstGeom>
        </p:spPr>
      </p:pic>
      <p:sp>
        <p:nvSpPr>
          <p:cNvPr id="26" name="Text 20"/>
          <p:cNvSpPr txBox="1"/>
          <p:nvPr/>
        </p:nvSpPr>
        <p:spPr>
          <a:xfrm>
            <a:off x="10317175" y="1490472"/>
            <a:ext cx="12344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PostgreSQL</a:t>
            </a:r>
            <a:endParaRPr lang="en-US" sz="1500" dirty="0"/>
          </a:p>
        </p:txBody>
      </p:sp>
      <p:sp>
        <p:nvSpPr>
          <p:cNvPr id="27" name="Text 21"/>
          <p:cNvSpPr txBox="1"/>
          <p:nvPr/>
        </p:nvSpPr>
        <p:spPr>
          <a:xfrm>
            <a:off x="9795967" y="2039112"/>
            <a:ext cx="1737360" cy="320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Supabase</a:t>
            </a:r>
            <a:endParaRPr lang="en-US" sz="1200" dirty="0"/>
          </a:p>
        </p:txBody>
      </p:sp>
      <p:sp>
        <p:nvSpPr>
          <p:cNvPr id="28" name="Text 22"/>
          <p:cNvSpPr txBox="1"/>
          <p:nvPr/>
        </p:nvSpPr>
        <p:spPr>
          <a:xfrm>
            <a:off x="548640" y="2743200"/>
            <a:ext cx="5029200" cy="36576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Inside the API (apps/api/src)</a:t>
            </a:r>
            <a:endParaRPr lang="en-US" sz="1600" dirty="0"/>
          </a:p>
        </p:txBody>
      </p:sp>
      <p:sp>
        <p:nvSpPr>
          <p:cNvPr id="29" name="Shape 23"/>
          <p:cNvSpPr/>
          <p:nvPr/>
        </p:nvSpPr>
        <p:spPr>
          <a:xfrm>
            <a:off x="548640" y="3154680"/>
            <a:ext cx="5120640" cy="402336"/>
          </a:xfrm>
          <a:prstGeom prst="roundRect">
            <a:avLst>
              <a:gd name="adj" fmla="val 22727"/>
            </a:avLst>
          </a:prstGeom>
          <a:solidFill>
            <a:srgbClr val="E8F3F2"/>
          </a:solidFill>
          <a:ln/>
        </p:spPr>
      </p:sp>
      <p:sp>
        <p:nvSpPr>
          <p:cNvPr id="30" name="Text 24"/>
          <p:cNvSpPr txBox="1"/>
          <p:nvPr/>
        </p:nvSpPr>
        <p:spPr>
          <a:xfrm>
            <a:off x="731520" y="3154680"/>
            <a:ext cx="4846320" cy="402336"/>
          </a:xfrm>
          <a:prstGeom prst="rect">
            <a:avLst/>
          </a:prstGeom>
          <a:noFill/>
          <a:ln/>
        </p:spPr>
        <p:txBody>
          <a:bodyPr wrap="square" lIns="0" tIns="0" rIns="0" bIns="0" rtlCol="0" anchor="ctr"/>
          <a:lstStyle/>
          <a:p>
            <a:pPr indent="0" marL="0">
              <a:buNone/>
            </a:pPr>
            <a:r>
              <a:rPr lang="en-US" sz="1400" dirty="0">
                <a:solidFill>
                  <a:srgbClr val="10262B"/>
                </a:solidFill>
                <a:latin typeface="Calibri" pitchFamily="34" charset="0"/>
                <a:ea typeface="Calibri" pitchFamily="34" charset="-122"/>
                <a:cs typeface="Calibri" pitchFamily="34" charset="-120"/>
              </a:rPr>
              <a:t>Routes</a:t>
            </a:r>
            <a:endParaRPr lang="en-US" sz="1400" dirty="0"/>
          </a:p>
        </p:txBody>
      </p:sp>
      <p:sp>
        <p:nvSpPr>
          <p:cNvPr id="31" name="Shape 25"/>
          <p:cNvSpPr/>
          <p:nvPr/>
        </p:nvSpPr>
        <p:spPr>
          <a:xfrm>
            <a:off x="3108960" y="3557016"/>
            <a:ext cx="0" cy="91440"/>
          </a:xfrm>
          <a:prstGeom prst="line">
            <a:avLst/>
          </a:prstGeom>
          <a:noFill/>
          <a:ln w="19050">
            <a:solidFill>
              <a:srgbClr val="1F7A8C"/>
            </a:solidFill>
            <a:prstDash val="solid"/>
          </a:ln>
        </p:spPr>
      </p:sp>
      <p:sp>
        <p:nvSpPr>
          <p:cNvPr id="32" name="Shape 26"/>
          <p:cNvSpPr/>
          <p:nvPr/>
        </p:nvSpPr>
        <p:spPr>
          <a:xfrm>
            <a:off x="548640" y="3648456"/>
            <a:ext cx="5120640" cy="402336"/>
          </a:xfrm>
          <a:prstGeom prst="roundRect">
            <a:avLst>
              <a:gd name="adj" fmla="val 22727"/>
            </a:avLst>
          </a:prstGeom>
          <a:solidFill>
            <a:srgbClr val="E8F3F2"/>
          </a:solidFill>
          <a:ln/>
        </p:spPr>
      </p:sp>
      <p:sp>
        <p:nvSpPr>
          <p:cNvPr id="33" name="Text 27"/>
          <p:cNvSpPr txBox="1"/>
          <p:nvPr/>
        </p:nvSpPr>
        <p:spPr>
          <a:xfrm>
            <a:off x="731520" y="3648456"/>
            <a:ext cx="4846320" cy="402336"/>
          </a:xfrm>
          <a:prstGeom prst="rect">
            <a:avLst/>
          </a:prstGeom>
          <a:noFill/>
          <a:ln/>
        </p:spPr>
        <p:txBody>
          <a:bodyPr wrap="square" lIns="0" tIns="0" rIns="0" bIns="0" rtlCol="0" anchor="ctr"/>
          <a:lstStyle/>
          <a:p>
            <a:pPr indent="0" marL="0">
              <a:buNone/>
            </a:pPr>
            <a:r>
              <a:rPr lang="en-US" sz="1400" dirty="0">
                <a:solidFill>
                  <a:srgbClr val="10262B"/>
                </a:solidFill>
                <a:latin typeface="Calibri" pitchFamily="34" charset="0"/>
                <a:ea typeface="Calibri" pitchFamily="34" charset="-122"/>
                <a:cs typeface="Calibri" pitchFamily="34" charset="-120"/>
              </a:rPr>
              <a:t>Middleware: auth, rate limit, errors</a:t>
            </a:r>
            <a:endParaRPr lang="en-US" sz="1400" dirty="0"/>
          </a:p>
        </p:txBody>
      </p:sp>
      <p:sp>
        <p:nvSpPr>
          <p:cNvPr id="34" name="Shape 28"/>
          <p:cNvSpPr/>
          <p:nvPr/>
        </p:nvSpPr>
        <p:spPr>
          <a:xfrm>
            <a:off x="3108960" y="4050792"/>
            <a:ext cx="0" cy="91440"/>
          </a:xfrm>
          <a:prstGeom prst="line">
            <a:avLst/>
          </a:prstGeom>
          <a:noFill/>
          <a:ln w="19050">
            <a:solidFill>
              <a:srgbClr val="1F7A8C"/>
            </a:solidFill>
            <a:prstDash val="solid"/>
          </a:ln>
        </p:spPr>
      </p:sp>
      <p:sp>
        <p:nvSpPr>
          <p:cNvPr id="35" name="Shape 29"/>
          <p:cNvSpPr/>
          <p:nvPr/>
        </p:nvSpPr>
        <p:spPr>
          <a:xfrm>
            <a:off x="548640" y="4142232"/>
            <a:ext cx="5120640" cy="402336"/>
          </a:xfrm>
          <a:prstGeom prst="roundRect">
            <a:avLst>
              <a:gd name="adj" fmla="val 22727"/>
            </a:avLst>
          </a:prstGeom>
          <a:solidFill>
            <a:srgbClr val="E8F3F2"/>
          </a:solidFill>
          <a:ln/>
        </p:spPr>
      </p:sp>
      <p:sp>
        <p:nvSpPr>
          <p:cNvPr id="36" name="Text 30"/>
          <p:cNvSpPr txBox="1"/>
          <p:nvPr/>
        </p:nvSpPr>
        <p:spPr>
          <a:xfrm>
            <a:off x="731520" y="4142232"/>
            <a:ext cx="4846320" cy="402336"/>
          </a:xfrm>
          <a:prstGeom prst="rect">
            <a:avLst/>
          </a:prstGeom>
          <a:noFill/>
          <a:ln/>
        </p:spPr>
        <p:txBody>
          <a:bodyPr wrap="square" lIns="0" tIns="0" rIns="0" bIns="0" rtlCol="0" anchor="ctr"/>
          <a:lstStyle/>
          <a:p>
            <a:pPr indent="0" marL="0">
              <a:buNone/>
            </a:pPr>
            <a:r>
              <a:rPr lang="en-US" sz="1400" dirty="0">
                <a:solidFill>
                  <a:srgbClr val="10262B"/>
                </a:solidFill>
                <a:latin typeface="Calibri" pitchFamily="34" charset="0"/>
                <a:ea typeface="Calibri" pitchFamily="34" charset="-122"/>
                <a:cs typeface="Calibri" pitchFamily="34" charset="-120"/>
              </a:rPr>
              <a:t>Controllers: parse input with zod</a:t>
            </a:r>
            <a:endParaRPr lang="en-US" sz="1400" dirty="0"/>
          </a:p>
        </p:txBody>
      </p:sp>
      <p:sp>
        <p:nvSpPr>
          <p:cNvPr id="37" name="Shape 31"/>
          <p:cNvSpPr/>
          <p:nvPr/>
        </p:nvSpPr>
        <p:spPr>
          <a:xfrm>
            <a:off x="3108960" y="4544568"/>
            <a:ext cx="0" cy="91440"/>
          </a:xfrm>
          <a:prstGeom prst="line">
            <a:avLst/>
          </a:prstGeom>
          <a:noFill/>
          <a:ln w="19050">
            <a:solidFill>
              <a:srgbClr val="1F7A8C"/>
            </a:solidFill>
            <a:prstDash val="solid"/>
          </a:ln>
        </p:spPr>
      </p:sp>
      <p:sp>
        <p:nvSpPr>
          <p:cNvPr id="38" name="Shape 32"/>
          <p:cNvSpPr/>
          <p:nvPr/>
        </p:nvSpPr>
        <p:spPr>
          <a:xfrm>
            <a:off x="548640" y="4636008"/>
            <a:ext cx="5120640" cy="402336"/>
          </a:xfrm>
          <a:prstGeom prst="roundRect">
            <a:avLst>
              <a:gd name="adj" fmla="val 22727"/>
            </a:avLst>
          </a:prstGeom>
          <a:solidFill>
            <a:srgbClr val="0B3C49"/>
          </a:solidFill>
          <a:ln/>
        </p:spPr>
      </p:sp>
      <p:sp>
        <p:nvSpPr>
          <p:cNvPr id="39" name="Text 33"/>
          <p:cNvSpPr txBox="1"/>
          <p:nvPr/>
        </p:nvSpPr>
        <p:spPr>
          <a:xfrm>
            <a:off x="731520" y="4636008"/>
            <a:ext cx="48463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Services: all business rules and transactions</a:t>
            </a:r>
            <a:endParaRPr lang="en-US" sz="1400" dirty="0"/>
          </a:p>
        </p:txBody>
      </p:sp>
      <p:sp>
        <p:nvSpPr>
          <p:cNvPr id="40" name="Shape 34"/>
          <p:cNvSpPr/>
          <p:nvPr/>
        </p:nvSpPr>
        <p:spPr>
          <a:xfrm>
            <a:off x="3108960" y="5038344"/>
            <a:ext cx="0" cy="91440"/>
          </a:xfrm>
          <a:prstGeom prst="line">
            <a:avLst/>
          </a:prstGeom>
          <a:noFill/>
          <a:ln w="19050">
            <a:solidFill>
              <a:srgbClr val="1F7A8C"/>
            </a:solidFill>
            <a:prstDash val="solid"/>
          </a:ln>
        </p:spPr>
      </p:sp>
      <p:sp>
        <p:nvSpPr>
          <p:cNvPr id="41" name="Shape 35"/>
          <p:cNvSpPr/>
          <p:nvPr/>
        </p:nvSpPr>
        <p:spPr>
          <a:xfrm>
            <a:off x="548640" y="5129784"/>
            <a:ext cx="5120640" cy="402336"/>
          </a:xfrm>
          <a:prstGeom prst="roundRect">
            <a:avLst>
              <a:gd name="adj" fmla="val 22727"/>
            </a:avLst>
          </a:prstGeom>
          <a:solidFill>
            <a:srgbClr val="E8F3F2"/>
          </a:solidFill>
          <a:ln/>
        </p:spPr>
      </p:sp>
      <p:sp>
        <p:nvSpPr>
          <p:cNvPr id="42" name="Text 36"/>
          <p:cNvSpPr txBox="1"/>
          <p:nvPr/>
        </p:nvSpPr>
        <p:spPr>
          <a:xfrm>
            <a:off x="731520" y="5129784"/>
            <a:ext cx="4846320" cy="402336"/>
          </a:xfrm>
          <a:prstGeom prst="rect">
            <a:avLst/>
          </a:prstGeom>
          <a:noFill/>
          <a:ln/>
        </p:spPr>
        <p:txBody>
          <a:bodyPr wrap="square" lIns="0" tIns="0" rIns="0" bIns="0" rtlCol="0" anchor="ctr"/>
          <a:lstStyle/>
          <a:p>
            <a:pPr indent="0" marL="0">
              <a:buNone/>
            </a:pPr>
            <a:r>
              <a:rPr lang="en-US" sz="1400" dirty="0">
                <a:solidFill>
                  <a:srgbClr val="10262B"/>
                </a:solidFill>
                <a:latin typeface="Calibri" pitchFamily="34" charset="0"/>
                <a:ea typeface="Calibri" pitchFamily="34" charset="-122"/>
                <a:cs typeface="Calibri" pitchFamily="34" charset="-120"/>
              </a:rPr>
              <a:t>Prisma (lib/prisma.ts)</a:t>
            </a:r>
            <a:endParaRPr lang="en-US" sz="1400" dirty="0"/>
          </a:p>
        </p:txBody>
      </p:sp>
      <p:sp>
        <p:nvSpPr>
          <p:cNvPr id="43" name="Shape 37"/>
          <p:cNvSpPr/>
          <p:nvPr/>
        </p:nvSpPr>
        <p:spPr>
          <a:xfrm>
            <a:off x="3108960" y="5532120"/>
            <a:ext cx="0" cy="91440"/>
          </a:xfrm>
          <a:prstGeom prst="line">
            <a:avLst/>
          </a:prstGeom>
          <a:noFill/>
          <a:ln w="19050">
            <a:solidFill>
              <a:srgbClr val="1F7A8C"/>
            </a:solidFill>
            <a:prstDash val="solid"/>
          </a:ln>
        </p:spPr>
      </p:sp>
      <p:sp>
        <p:nvSpPr>
          <p:cNvPr id="44" name="Shape 38"/>
          <p:cNvSpPr/>
          <p:nvPr/>
        </p:nvSpPr>
        <p:spPr>
          <a:xfrm>
            <a:off x="548640" y="5623560"/>
            <a:ext cx="5120640" cy="402336"/>
          </a:xfrm>
          <a:prstGeom prst="roundRect">
            <a:avLst>
              <a:gd name="adj" fmla="val 22727"/>
            </a:avLst>
          </a:prstGeom>
          <a:solidFill>
            <a:srgbClr val="1F7A8C"/>
          </a:solidFill>
          <a:ln/>
        </p:spPr>
      </p:sp>
      <p:sp>
        <p:nvSpPr>
          <p:cNvPr id="45" name="Text 39"/>
          <p:cNvSpPr txBox="1"/>
          <p:nvPr/>
        </p:nvSpPr>
        <p:spPr>
          <a:xfrm>
            <a:off x="731520" y="5623560"/>
            <a:ext cx="4846320"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PostgreSQL</a:t>
            </a:r>
            <a:endParaRPr lang="en-US" sz="1400" dirty="0"/>
          </a:p>
        </p:txBody>
      </p:sp>
      <p:sp>
        <p:nvSpPr>
          <p:cNvPr id="46" name="Shape 40"/>
          <p:cNvSpPr/>
          <p:nvPr/>
        </p:nvSpPr>
        <p:spPr>
          <a:xfrm>
            <a:off x="6035040" y="2788920"/>
            <a:ext cx="5608015" cy="868680"/>
          </a:xfrm>
          <a:prstGeom prst="roundRect">
            <a:avLst>
              <a:gd name="adj" fmla="val 12632"/>
            </a:avLst>
          </a:prstGeom>
          <a:solidFill>
            <a:srgbClr val="E8F3F2"/>
          </a:solidFill>
          <a:ln/>
          <a:effectLst>
            <a:outerShdw sx="100000" sy="100000" kx="0" ky="0" algn="bl" rotWithShape="0" blurRad="76200" dist="19050" dir="5400000">
              <a:srgbClr val="000000">
                <a:alpha val="12000"/>
              </a:srgbClr>
            </a:outerShdw>
          </a:effectLst>
        </p:spPr>
      </p:sp>
      <p:sp>
        <p:nvSpPr>
          <p:cNvPr id="47" name="Shape 41"/>
          <p:cNvSpPr/>
          <p:nvPr/>
        </p:nvSpPr>
        <p:spPr>
          <a:xfrm>
            <a:off x="6217920" y="2999232"/>
            <a:ext cx="420624" cy="420624"/>
          </a:xfrm>
          <a:prstGeom prst="ellipse">
            <a:avLst/>
          </a:prstGeom>
          <a:solidFill>
            <a:srgbClr val="1F7A8C"/>
          </a:solidFill>
          <a:ln/>
        </p:spPr>
      </p:sp>
      <p:pic>
        <p:nvPicPr>
          <p:cNvPr id="48" name="Image 4" descr="preencoded.png">    </p:cNvPr>
          <p:cNvPicPr>
            <a:picLocks noChangeAspect="1"/>
          </p:cNvPicPr>
          <p:nvPr/>
        </p:nvPicPr>
        <p:blipFill>
          <a:blip r:embed="rId5"/>
          <a:stretch>
            <a:fillRect/>
          </a:stretch>
        </p:blipFill>
        <p:spPr>
          <a:xfrm>
            <a:off x="6327282" y="3108594"/>
            <a:ext cx="201900" cy="201900"/>
          </a:xfrm>
          <a:prstGeom prst="rect">
            <a:avLst/>
          </a:prstGeom>
        </p:spPr>
      </p:pic>
      <p:sp>
        <p:nvSpPr>
          <p:cNvPr id="49" name="Text 42"/>
          <p:cNvSpPr txBox="1"/>
          <p:nvPr/>
        </p:nvSpPr>
        <p:spPr>
          <a:xfrm>
            <a:off x="6766560" y="2852928"/>
            <a:ext cx="4693615" cy="731520"/>
          </a:xfrm>
          <a:prstGeom prst="rect">
            <a:avLst/>
          </a:prstGeom>
          <a:noFill/>
          <a:ln/>
        </p:spPr>
        <p:txBody>
          <a:bodyPr wrap="square" lIns="0" tIns="0" rIns="0" bIns="0" rtlCol="0" anchor="ctr"/>
          <a:lstStyle/>
          <a:p>
            <a:pPr indent="0" marL="0">
              <a:buNone/>
            </a:pPr>
            <a:r>
              <a:rPr lang="en-US" sz="1300" b="1" dirty="0">
                <a:solidFill>
                  <a:srgbClr val="0B3C49"/>
                </a:solidFill>
                <a:latin typeface="Courier New" pitchFamily="34" charset="0"/>
                <a:ea typeface="Courier New" pitchFamily="34" charset="-122"/>
                <a:cs typeface="Courier New" pitchFamily="34" charset="-120"/>
              </a:rPr>
              <a:t>packages/shared: </a:t>
            </a:r>
            <a:pPr indent="0" marL="0">
              <a:buNone/>
            </a:pPr>
            <a:r>
              <a:rPr lang="en-US" sz="1300" dirty="0">
                <a:solidFill>
                  <a:srgbClr val="10262B"/>
                </a:solidFill>
                <a:latin typeface="Calibri" pitchFamily="34" charset="0"/>
                <a:ea typeface="Calibri" pitchFamily="34" charset="-122"/>
                <a:cs typeface="Calibri" pitchFamily="34" charset="-120"/>
              </a:rPr>
              <a:t>zod schemas used by the web app and the API, so both validate the same way.</a:t>
            </a:r>
            <a:endParaRPr lang="en-US" sz="1300" dirty="0"/>
          </a:p>
        </p:txBody>
      </p:sp>
      <p:sp>
        <p:nvSpPr>
          <p:cNvPr id="50" name="Shape 43"/>
          <p:cNvSpPr/>
          <p:nvPr/>
        </p:nvSpPr>
        <p:spPr>
          <a:xfrm>
            <a:off x="6035040" y="3840480"/>
            <a:ext cx="5608015" cy="1783080"/>
          </a:xfrm>
          <a:prstGeom prst="roundRect">
            <a:avLst>
              <a:gd name="adj" fmla="val 6154"/>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sp>
        <p:nvSpPr>
          <p:cNvPr id="51" name="Text 44"/>
          <p:cNvSpPr txBox="1"/>
          <p:nvPr/>
        </p:nvSpPr>
        <p:spPr>
          <a:xfrm>
            <a:off x="6217920" y="3950208"/>
            <a:ext cx="5242255" cy="1600200"/>
          </a:xfrm>
          <a:prstGeom prst="rect">
            <a:avLst/>
          </a:prstGeom>
          <a:noFill/>
          <a:ln/>
        </p:spPr>
        <p:txBody>
          <a:bodyPr wrap="square" lIns="0" tIns="0" rIns="0" bIns="0" rtlCol="0" anchor="t"/>
          <a:lstStyle/>
          <a:p>
            <a:pPr indent="0" marL="0">
              <a:spcAft>
                <a:spcPts val="400"/>
              </a:spcAft>
              <a:buNone/>
            </a:pPr>
            <a:r>
              <a:rPr lang="en-US" sz="1400" b="1" dirty="0">
                <a:solidFill>
                  <a:srgbClr val="0B3C49"/>
                </a:solidFill>
                <a:latin typeface="Calibri" pitchFamily="34" charset="0"/>
                <a:ea typeface="Calibri" pitchFamily="34" charset="-122"/>
                <a:cs typeface="Calibri" pitchFamily="34" charset="-120"/>
              </a:rPr>
              <a:t>One request, end to end (search)</a:t>
            </a:r>
            <a:endParaRPr lang="en-US" sz="1400" dirty="0"/>
          </a:p>
          <a:p>
            <a:pPr indent="0" marL="0">
              <a:spcAft>
                <a:spcPts val="400"/>
              </a:spcAft>
              <a:buNone/>
            </a:pPr>
            <a:r>
              <a:rPr lang="en-US" sz="1400" dirty="0">
                <a:solidFill>
                  <a:srgbClr val="10262B"/>
                </a:solidFill>
                <a:latin typeface="Calibri" pitchFamily="34" charset="0"/>
                <a:ea typeface="Calibri" pitchFamily="34" charset="-122"/>
                <a:cs typeface="Calibri" pitchFamily="34" charset="-120"/>
              </a:rPr>
              <a:t>Search form (app/search) &gt; lib/api.ts adds the Bearer token &gt; POST /api/v1/search &gt; search controller parses the body with zod &gt; search service ranks and saves the query and counters in one transaction &gt; JSON back &gt; the useMutation hook (TanStack Query) shows the results.</a:t>
            </a:r>
            <a:endParaRPr lang="en-US" sz="1400" dirty="0"/>
          </a:p>
        </p:txBody>
      </p:sp>
      <p:sp>
        <p:nvSpPr>
          <p:cNvPr id="52" name="Shape 45"/>
          <p:cNvSpPr/>
          <p:nvPr/>
        </p:nvSpPr>
        <p:spPr>
          <a:xfrm>
            <a:off x="6035040" y="5806440"/>
            <a:ext cx="5608015" cy="457200"/>
          </a:xfrm>
          <a:prstGeom prst="roundRect">
            <a:avLst>
              <a:gd name="adj" fmla="val 24000"/>
            </a:avLst>
          </a:prstGeom>
          <a:solidFill>
            <a:srgbClr val="F4A62A"/>
          </a:solidFill>
          <a:ln/>
        </p:spPr>
      </p:sp>
      <p:sp>
        <p:nvSpPr>
          <p:cNvPr id="53" name="Text 46"/>
          <p:cNvSpPr txBox="1"/>
          <p:nvPr/>
        </p:nvSpPr>
        <p:spPr>
          <a:xfrm>
            <a:off x="6217920" y="5806440"/>
            <a:ext cx="5242255" cy="457200"/>
          </a:xfrm>
          <a:prstGeom prst="rect">
            <a:avLst/>
          </a:prstGeom>
          <a:noFill/>
          <a:ln/>
        </p:spPr>
        <p:txBody>
          <a:bodyPr wrap="square" lIns="0" tIns="0" rIns="0" bIns="0" rtlCol="0" anchor="ctr"/>
          <a:lstStyle/>
          <a:p>
            <a:pPr indent="0" marL="0">
              <a:buNone/>
            </a:pPr>
            <a:r>
              <a:rPr lang="en-US" sz="1500" b="1" dirty="0">
                <a:solidFill>
                  <a:srgbClr val="10262B"/>
                </a:solidFill>
                <a:latin typeface="Calibri" pitchFamily="34" charset="0"/>
                <a:ea typeface="Calibri" pitchFamily="34" charset="-122"/>
                <a:cs typeface="Calibri" pitchFamily="34" charset="-120"/>
              </a:rPr>
              <a:t>Only services touch the database.</a:t>
            </a:r>
            <a:endParaRPr lang="en-US" sz="1500" dirty="0"/>
          </a:p>
        </p:txBody>
      </p:sp>
      <p:sp>
        <p:nvSpPr>
          <p:cNvPr id="54" name="Text 4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55" name="Text 48"/>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One language end to end: TypeScript</a:t>
            </a:r>
            <a:endParaRPr lang="en-US" sz="3200" dirty="0"/>
          </a:p>
        </p:txBody>
      </p:sp>
      <p:sp>
        <p:nvSpPr>
          <p:cNvPr id="3" name="Shape 1"/>
          <p:cNvSpPr/>
          <p:nvPr/>
        </p:nvSpPr>
        <p:spPr>
          <a:xfrm>
            <a:off x="548640" y="1325880"/>
            <a:ext cx="3200400" cy="4754880"/>
          </a:xfrm>
          <a:prstGeom prst="roundRect">
            <a:avLst>
              <a:gd name="adj" fmla="val 3429"/>
            </a:avLst>
          </a:prstGeom>
          <a:solidFill>
            <a:srgbClr val="0B3C49"/>
          </a:solidFill>
          <a:ln/>
          <a:effectLst>
            <a:outerShdw sx="100000" sy="100000" kx="0" ky="0" algn="bl" rotWithShape="0" blurRad="76200" dist="19050" dir="5400000">
              <a:srgbClr val="000000">
                <a:alpha val="12000"/>
              </a:srgbClr>
            </a:outerShdw>
          </a:effectLst>
        </p:spPr>
      </p:sp>
      <p:sp>
        <p:nvSpPr>
          <p:cNvPr id="4" name="Text 2"/>
          <p:cNvSpPr txBox="1"/>
          <p:nvPr/>
        </p:nvSpPr>
        <p:spPr>
          <a:xfrm>
            <a:off x="822960" y="1554480"/>
            <a:ext cx="2651760" cy="411480"/>
          </a:xfrm>
          <a:prstGeom prst="rect">
            <a:avLst/>
          </a:prstGeom>
          <a:noFill/>
          <a:ln/>
        </p:spPr>
        <p:txBody>
          <a:bodyPr wrap="square" lIns="0" tIns="0" rIns="0" bIns="0" rtlCol="0" anchor="t"/>
          <a:lstStyle/>
          <a:p>
            <a:pPr indent="0" marL="0">
              <a:buNone/>
            </a:pPr>
            <a:r>
              <a:rPr lang="en-US" sz="2000" b="1" dirty="0">
                <a:solidFill>
                  <a:srgbClr val="F4A62A"/>
                </a:solidFill>
                <a:latin typeface="Cambria" pitchFamily="34" charset="0"/>
                <a:ea typeface="Cambria" pitchFamily="34" charset="-122"/>
                <a:cs typeface="Cambria" pitchFamily="34" charset="-120"/>
              </a:rPr>
              <a:t>Why</a:t>
            </a:r>
            <a:endParaRPr lang="en-US" sz="2000" dirty="0"/>
          </a:p>
        </p:txBody>
      </p:sp>
      <p:sp>
        <p:nvSpPr>
          <p:cNvPr id="5" name="Shape 3"/>
          <p:cNvSpPr/>
          <p:nvPr/>
        </p:nvSpPr>
        <p:spPr>
          <a:xfrm>
            <a:off x="822960" y="2267712"/>
            <a:ext cx="146304" cy="146304"/>
          </a:xfrm>
          <a:prstGeom prst="ellipse">
            <a:avLst/>
          </a:prstGeom>
          <a:solidFill>
            <a:srgbClr val="F4A62A"/>
          </a:solidFill>
          <a:ln/>
        </p:spPr>
      </p:sp>
      <p:sp>
        <p:nvSpPr>
          <p:cNvPr id="6" name="Text 4"/>
          <p:cNvSpPr txBox="1"/>
          <p:nvPr/>
        </p:nvSpPr>
        <p:spPr>
          <a:xfrm>
            <a:off x="1097280" y="2194560"/>
            <a:ext cx="242316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Shared validation schemas between web and API</a:t>
            </a:r>
            <a:endParaRPr lang="en-US" sz="1600" dirty="0"/>
          </a:p>
        </p:txBody>
      </p:sp>
      <p:sp>
        <p:nvSpPr>
          <p:cNvPr id="7" name="Shape 5"/>
          <p:cNvSpPr/>
          <p:nvPr/>
        </p:nvSpPr>
        <p:spPr>
          <a:xfrm>
            <a:off x="822960" y="3502152"/>
            <a:ext cx="146304" cy="146304"/>
          </a:xfrm>
          <a:prstGeom prst="ellipse">
            <a:avLst/>
          </a:prstGeom>
          <a:solidFill>
            <a:srgbClr val="F4A62A"/>
          </a:solidFill>
          <a:ln/>
        </p:spPr>
      </p:sp>
      <p:sp>
        <p:nvSpPr>
          <p:cNvPr id="8" name="Text 6"/>
          <p:cNvSpPr txBox="1"/>
          <p:nvPr/>
        </p:nvSpPr>
        <p:spPr>
          <a:xfrm>
            <a:off x="1097280" y="3429000"/>
            <a:ext cx="242316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relational database for hierarchy and transactions</a:t>
            </a:r>
            <a:endParaRPr lang="en-US" sz="1600" dirty="0"/>
          </a:p>
        </p:txBody>
      </p:sp>
      <p:sp>
        <p:nvSpPr>
          <p:cNvPr id="9" name="Shape 7"/>
          <p:cNvSpPr/>
          <p:nvPr/>
        </p:nvSpPr>
        <p:spPr>
          <a:xfrm>
            <a:off x="822960" y="4736592"/>
            <a:ext cx="146304" cy="146304"/>
          </a:xfrm>
          <a:prstGeom prst="ellipse">
            <a:avLst/>
          </a:prstGeom>
          <a:solidFill>
            <a:srgbClr val="F4A62A"/>
          </a:solidFill>
          <a:ln/>
        </p:spPr>
      </p:sp>
      <p:sp>
        <p:nvSpPr>
          <p:cNvPr id="10" name="Text 8"/>
          <p:cNvSpPr txBox="1"/>
          <p:nvPr/>
        </p:nvSpPr>
        <p:spPr>
          <a:xfrm>
            <a:off x="1097280" y="4663440"/>
            <a:ext cx="242316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Everything checked on every push by CI</a:t>
            </a:r>
            <a:endParaRPr lang="en-US" sz="1600" dirty="0"/>
          </a:p>
        </p:txBody>
      </p:sp>
      <p:sp>
        <p:nvSpPr>
          <p:cNvPr id="11" name="Shape 9"/>
          <p:cNvSpPr/>
          <p:nvPr/>
        </p:nvSpPr>
        <p:spPr>
          <a:xfrm>
            <a:off x="4023360" y="1325880"/>
            <a:ext cx="2357018" cy="2240280"/>
          </a:xfrm>
          <a:prstGeom prst="roundRect">
            <a:avLst>
              <a:gd name="adj" fmla="val 4898"/>
            </a:avLst>
          </a:prstGeom>
          <a:solidFill>
            <a:srgbClr val="E8F3F2"/>
          </a:solidFill>
          <a:ln/>
          <a:effectLst>
            <a:outerShdw sx="100000" sy="100000" kx="0" ky="0" algn="bl" rotWithShape="0" blurRad="76200" dist="19050" dir="5400000">
              <a:srgbClr val="000000">
                <a:alpha val="12000"/>
              </a:srgbClr>
            </a:outerShdw>
          </a:effectLst>
        </p:spPr>
      </p:sp>
      <p:sp>
        <p:nvSpPr>
          <p:cNvPr id="12" name="Shape 10"/>
          <p:cNvSpPr/>
          <p:nvPr/>
        </p:nvSpPr>
        <p:spPr>
          <a:xfrm>
            <a:off x="4206240" y="1508760"/>
            <a:ext cx="420624" cy="420624"/>
          </a:xfrm>
          <a:prstGeom prst="ellipse">
            <a:avLst/>
          </a:prstGeom>
          <a:solidFill>
            <a:srgbClr val="1F7A8C"/>
          </a:solidFill>
          <a:ln/>
        </p:spPr>
      </p:sp>
      <p:pic>
        <p:nvPicPr>
          <p:cNvPr id="13" name="Image 0" descr="preencoded.png">    </p:cNvPr>
          <p:cNvPicPr>
            <a:picLocks noChangeAspect="1"/>
          </p:cNvPicPr>
          <p:nvPr/>
        </p:nvPicPr>
        <p:blipFill>
          <a:blip r:embed="rId1"/>
          <a:stretch>
            <a:fillRect/>
          </a:stretch>
        </p:blipFill>
        <p:spPr>
          <a:xfrm>
            <a:off x="4315602" y="1618122"/>
            <a:ext cx="201900" cy="201900"/>
          </a:xfrm>
          <a:prstGeom prst="rect">
            <a:avLst/>
          </a:prstGeom>
        </p:spPr>
      </p:pic>
      <p:sp>
        <p:nvSpPr>
          <p:cNvPr id="14" name="Text 11"/>
          <p:cNvSpPr txBox="1"/>
          <p:nvPr/>
        </p:nvSpPr>
        <p:spPr>
          <a:xfrm>
            <a:off x="4754880" y="1508760"/>
            <a:ext cx="1442618" cy="420624"/>
          </a:xfrm>
          <a:prstGeom prst="rect">
            <a:avLst/>
          </a:prstGeom>
          <a:noFill/>
          <a:ln/>
        </p:spPr>
        <p:txBody>
          <a:bodyPr wrap="square" lIns="0" tIns="0" rIns="0" bIns="0" rtlCol="0" anchor="ctr"/>
          <a:lstStyle/>
          <a:p>
            <a:pPr indent="0" marL="0">
              <a:buNone/>
            </a:pPr>
            <a:r>
              <a:rPr lang="en-US" sz="1800" b="1" dirty="0">
                <a:solidFill>
                  <a:srgbClr val="0B3C49"/>
                </a:solidFill>
                <a:latin typeface="Calibri" pitchFamily="34" charset="0"/>
                <a:ea typeface="Calibri" pitchFamily="34" charset="-122"/>
                <a:cs typeface="Calibri" pitchFamily="34" charset="-120"/>
              </a:rPr>
              <a:t>Web</a:t>
            </a:r>
            <a:endParaRPr lang="en-US" sz="1800" dirty="0"/>
          </a:p>
        </p:txBody>
      </p:sp>
      <p:sp>
        <p:nvSpPr>
          <p:cNvPr id="15" name="Text 12"/>
          <p:cNvSpPr txBox="1"/>
          <p:nvPr/>
        </p:nvSpPr>
        <p:spPr>
          <a:xfrm>
            <a:off x="4206240" y="2103120"/>
            <a:ext cx="1991258" cy="1325880"/>
          </a:xfrm>
          <a:prstGeom prst="rect">
            <a:avLst/>
          </a:prstGeom>
          <a:noFill/>
          <a:ln/>
        </p:spPr>
        <p:txBody>
          <a:bodyPr wrap="square" lIns="0" tIns="0" rIns="0" bIns="0" rtlCol="0" anchor="t"/>
          <a:lstStyle/>
          <a:p>
            <a:pPr indent="0" marL="0">
              <a:buNone/>
            </a:pPr>
            <a:r>
              <a:rPr lang="en-US" sz="1600" dirty="0">
                <a:solidFill>
                  <a:srgbClr val="10262B"/>
                </a:solidFill>
                <a:latin typeface="Calibri" pitchFamily="34" charset="0"/>
                <a:ea typeface="Calibri" pitchFamily="34" charset="-122"/>
                <a:cs typeface="Calibri" pitchFamily="34" charset="-120"/>
              </a:rPr>
              <a:t>Next.js 16, React 19, Tailwind CSS 4, shadcn/ui, TanStack Query</a:t>
            </a:r>
            <a:endParaRPr lang="en-US" sz="1600" dirty="0"/>
          </a:p>
        </p:txBody>
      </p:sp>
      <p:sp>
        <p:nvSpPr>
          <p:cNvPr id="16" name="Shape 13"/>
          <p:cNvSpPr/>
          <p:nvPr/>
        </p:nvSpPr>
        <p:spPr>
          <a:xfrm>
            <a:off x="6654698" y="1325880"/>
            <a:ext cx="2357018" cy="2240280"/>
          </a:xfrm>
          <a:prstGeom prst="roundRect">
            <a:avLst>
              <a:gd name="adj" fmla="val 4898"/>
            </a:avLst>
          </a:prstGeom>
          <a:solidFill>
            <a:srgbClr val="E8F3F2"/>
          </a:solidFill>
          <a:ln/>
          <a:effectLst>
            <a:outerShdw sx="100000" sy="100000" kx="0" ky="0" algn="bl" rotWithShape="0" blurRad="76200" dist="19050" dir="5400000">
              <a:srgbClr val="000000">
                <a:alpha val="12000"/>
              </a:srgbClr>
            </a:outerShdw>
          </a:effectLst>
        </p:spPr>
      </p:sp>
      <p:sp>
        <p:nvSpPr>
          <p:cNvPr id="17" name="Shape 14"/>
          <p:cNvSpPr/>
          <p:nvPr/>
        </p:nvSpPr>
        <p:spPr>
          <a:xfrm>
            <a:off x="6837578" y="1508760"/>
            <a:ext cx="420624" cy="420624"/>
          </a:xfrm>
          <a:prstGeom prst="ellipse">
            <a:avLst/>
          </a:prstGeom>
          <a:solidFill>
            <a:srgbClr val="1F7A8C"/>
          </a:solidFill>
          <a:ln/>
        </p:spPr>
      </p:sp>
      <p:pic>
        <p:nvPicPr>
          <p:cNvPr id="18" name="Image 1" descr="preencoded.png">    </p:cNvPr>
          <p:cNvPicPr>
            <a:picLocks noChangeAspect="1"/>
          </p:cNvPicPr>
          <p:nvPr/>
        </p:nvPicPr>
        <p:blipFill>
          <a:blip r:embed="rId2"/>
          <a:stretch>
            <a:fillRect/>
          </a:stretch>
        </p:blipFill>
        <p:spPr>
          <a:xfrm>
            <a:off x="6946941" y="1618122"/>
            <a:ext cx="201900" cy="201900"/>
          </a:xfrm>
          <a:prstGeom prst="rect">
            <a:avLst/>
          </a:prstGeom>
        </p:spPr>
      </p:pic>
      <p:sp>
        <p:nvSpPr>
          <p:cNvPr id="19" name="Text 15"/>
          <p:cNvSpPr txBox="1"/>
          <p:nvPr/>
        </p:nvSpPr>
        <p:spPr>
          <a:xfrm>
            <a:off x="7386218" y="1508760"/>
            <a:ext cx="1442618" cy="420624"/>
          </a:xfrm>
          <a:prstGeom prst="rect">
            <a:avLst/>
          </a:prstGeom>
          <a:noFill/>
          <a:ln/>
        </p:spPr>
        <p:txBody>
          <a:bodyPr wrap="square" lIns="0" tIns="0" rIns="0" bIns="0" rtlCol="0" anchor="ctr"/>
          <a:lstStyle/>
          <a:p>
            <a:pPr indent="0" marL="0">
              <a:buNone/>
            </a:pPr>
            <a:r>
              <a:rPr lang="en-US" sz="1800" b="1" dirty="0">
                <a:solidFill>
                  <a:srgbClr val="0B3C49"/>
                </a:solidFill>
                <a:latin typeface="Calibri" pitchFamily="34" charset="0"/>
                <a:ea typeface="Calibri" pitchFamily="34" charset="-122"/>
                <a:cs typeface="Calibri" pitchFamily="34" charset="-120"/>
              </a:rPr>
              <a:t>API</a:t>
            </a:r>
            <a:endParaRPr lang="en-US" sz="1800" dirty="0"/>
          </a:p>
        </p:txBody>
      </p:sp>
      <p:sp>
        <p:nvSpPr>
          <p:cNvPr id="20" name="Text 16"/>
          <p:cNvSpPr txBox="1"/>
          <p:nvPr/>
        </p:nvSpPr>
        <p:spPr>
          <a:xfrm>
            <a:off x="6837578" y="2103120"/>
            <a:ext cx="1991258" cy="1325880"/>
          </a:xfrm>
          <a:prstGeom prst="rect">
            <a:avLst/>
          </a:prstGeom>
          <a:noFill/>
          <a:ln/>
        </p:spPr>
        <p:txBody>
          <a:bodyPr wrap="square" lIns="0" tIns="0" rIns="0" bIns="0" rtlCol="0" anchor="t"/>
          <a:lstStyle/>
          <a:p>
            <a:pPr indent="0" marL="0">
              <a:buNone/>
            </a:pPr>
            <a:r>
              <a:rPr lang="en-US" sz="1600" dirty="0">
                <a:solidFill>
                  <a:srgbClr val="10262B"/>
                </a:solidFill>
                <a:latin typeface="Calibri" pitchFamily="34" charset="0"/>
                <a:ea typeface="Calibri" pitchFamily="34" charset="-122"/>
                <a:cs typeface="Calibri" pitchFamily="34" charset="-120"/>
              </a:rPr>
              <a:t>Node.js 22, Express 5, zod 4, JWT (HS256) and bcrypt</a:t>
            </a:r>
            <a:endParaRPr lang="en-US" sz="1600" dirty="0"/>
          </a:p>
        </p:txBody>
      </p:sp>
      <p:sp>
        <p:nvSpPr>
          <p:cNvPr id="21" name="Shape 17"/>
          <p:cNvSpPr/>
          <p:nvPr/>
        </p:nvSpPr>
        <p:spPr>
          <a:xfrm>
            <a:off x="9286037" y="1325880"/>
            <a:ext cx="2357018" cy="2240280"/>
          </a:xfrm>
          <a:prstGeom prst="roundRect">
            <a:avLst>
              <a:gd name="adj" fmla="val 4898"/>
            </a:avLst>
          </a:prstGeom>
          <a:solidFill>
            <a:srgbClr val="E8F3F2"/>
          </a:solidFill>
          <a:ln/>
          <a:effectLst>
            <a:outerShdw sx="100000" sy="100000" kx="0" ky="0" algn="bl" rotWithShape="0" blurRad="76200" dist="19050" dir="5400000">
              <a:srgbClr val="000000">
                <a:alpha val="12000"/>
              </a:srgbClr>
            </a:outerShdw>
          </a:effectLst>
        </p:spPr>
      </p:sp>
      <p:sp>
        <p:nvSpPr>
          <p:cNvPr id="22" name="Shape 18"/>
          <p:cNvSpPr/>
          <p:nvPr/>
        </p:nvSpPr>
        <p:spPr>
          <a:xfrm>
            <a:off x="9468917" y="1508760"/>
            <a:ext cx="420624" cy="420624"/>
          </a:xfrm>
          <a:prstGeom prst="ellipse">
            <a:avLst/>
          </a:prstGeom>
          <a:solidFill>
            <a:srgbClr val="1F7A8C"/>
          </a:solidFill>
          <a:ln/>
        </p:spPr>
      </p:sp>
      <p:pic>
        <p:nvPicPr>
          <p:cNvPr id="23" name="Image 2" descr="preencoded.png">    </p:cNvPr>
          <p:cNvPicPr>
            <a:picLocks noChangeAspect="1"/>
          </p:cNvPicPr>
          <p:nvPr/>
        </p:nvPicPr>
        <p:blipFill>
          <a:blip r:embed="rId3"/>
          <a:stretch>
            <a:fillRect/>
          </a:stretch>
        </p:blipFill>
        <p:spPr>
          <a:xfrm>
            <a:off x="9578279" y="1618122"/>
            <a:ext cx="201900" cy="201900"/>
          </a:xfrm>
          <a:prstGeom prst="rect">
            <a:avLst/>
          </a:prstGeom>
        </p:spPr>
      </p:pic>
      <p:sp>
        <p:nvSpPr>
          <p:cNvPr id="24" name="Text 19"/>
          <p:cNvSpPr txBox="1"/>
          <p:nvPr/>
        </p:nvSpPr>
        <p:spPr>
          <a:xfrm>
            <a:off x="10017557" y="1508760"/>
            <a:ext cx="1442618" cy="420624"/>
          </a:xfrm>
          <a:prstGeom prst="rect">
            <a:avLst/>
          </a:prstGeom>
          <a:noFill/>
          <a:ln/>
        </p:spPr>
        <p:txBody>
          <a:bodyPr wrap="square" lIns="0" tIns="0" rIns="0" bIns="0" rtlCol="0" anchor="ctr"/>
          <a:lstStyle/>
          <a:p>
            <a:pPr indent="0" marL="0">
              <a:buNone/>
            </a:pPr>
            <a:r>
              <a:rPr lang="en-US" sz="1800" b="1" dirty="0">
                <a:solidFill>
                  <a:srgbClr val="0B3C49"/>
                </a:solidFill>
                <a:latin typeface="Calibri" pitchFamily="34" charset="0"/>
                <a:ea typeface="Calibri" pitchFamily="34" charset="-122"/>
                <a:cs typeface="Calibri" pitchFamily="34" charset="-120"/>
              </a:rPr>
              <a:t>Data</a:t>
            </a:r>
            <a:endParaRPr lang="en-US" sz="1800" dirty="0"/>
          </a:p>
        </p:txBody>
      </p:sp>
      <p:sp>
        <p:nvSpPr>
          <p:cNvPr id="25" name="Text 20"/>
          <p:cNvSpPr txBox="1"/>
          <p:nvPr/>
        </p:nvSpPr>
        <p:spPr>
          <a:xfrm>
            <a:off x="9468917" y="2103120"/>
            <a:ext cx="1991258" cy="1325880"/>
          </a:xfrm>
          <a:prstGeom prst="rect">
            <a:avLst/>
          </a:prstGeom>
          <a:noFill/>
          <a:ln/>
        </p:spPr>
        <p:txBody>
          <a:bodyPr wrap="square" lIns="0" tIns="0" rIns="0" bIns="0" rtlCol="0" anchor="t"/>
          <a:lstStyle/>
          <a:p>
            <a:pPr indent="0" marL="0">
              <a:buNone/>
            </a:pPr>
            <a:r>
              <a:rPr lang="en-US" sz="1600" dirty="0">
                <a:solidFill>
                  <a:srgbClr val="10262B"/>
                </a:solidFill>
                <a:latin typeface="Calibri" pitchFamily="34" charset="0"/>
                <a:ea typeface="Calibri" pitchFamily="34" charset="-122"/>
                <a:cs typeface="Calibri" pitchFamily="34" charset="-120"/>
              </a:rPr>
              <a:t>PostgreSQL (Supabase in production), Prisma 7, recursive SQL for category paths</a:t>
            </a:r>
            <a:endParaRPr lang="en-US" sz="1600" dirty="0"/>
          </a:p>
        </p:txBody>
      </p:sp>
      <p:sp>
        <p:nvSpPr>
          <p:cNvPr id="26" name="Shape 21"/>
          <p:cNvSpPr/>
          <p:nvPr/>
        </p:nvSpPr>
        <p:spPr>
          <a:xfrm>
            <a:off x="4023360" y="3840480"/>
            <a:ext cx="3672688" cy="2240280"/>
          </a:xfrm>
          <a:prstGeom prst="roundRect">
            <a:avLst>
              <a:gd name="adj" fmla="val 4898"/>
            </a:avLst>
          </a:prstGeom>
          <a:solidFill>
            <a:srgbClr val="E8F3F2"/>
          </a:solidFill>
          <a:ln/>
          <a:effectLst>
            <a:outerShdw sx="100000" sy="100000" kx="0" ky="0" algn="bl" rotWithShape="0" blurRad="76200" dist="19050" dir="5400000">
              <a:srgbClr val="000000">
                <a:alpha val="12000"/>
              </a:srgbClr>
            </a:outerShdw>
          </a:effectLst>
        </p:spPr>
      </p:sp>
      <p:sp>
        <p:nvSpPr>
          <p:cNvPr id="27" name="Shape 22"/>
          <p:cNvSpPr/>
          <p:nvPr/>
        </p:nvSpPr>
        <p:spPr>
          <a:xfrm>
            <a:off x="4206240" y="4023360"/>
            <a:ext cx="420624" cy="420624"/>
          </a:xfrm>
          <a:prstGeom prst="ellipse">
            <a:avLst/>
          </a:prstGeom>
          <a:solidFill>
            <a:srgbClr val="1F7A8C"/>
          </a:solidFill>
          <a:ln/>
        </p:spPr>
      </p:sp>
      <p:pic>
        <p:nvPicPr>
          <p:cNvPr id="28" name="Image 3" descr="preencoded.png">    </p:cNvPr>
          <p:cNvPicPr>
            <a:picLocks noChangeAspect="1"/>
          </p:cNvPicPr>
          <p:nvPr/>
        </p:nvPicPr>
        <p:blipFill>
          <a:blip r:embed="rId4"/>
          <a:stretch>
            <a:fillRect/>
          </a:stretch>
        </p:blipFill>
        <p:spPr>
          <a:xfrm>
            <a:off x="4315602" y="4132722"/>
            <a:ext cx="201900" cy="201900"/>
          </a:xfrm>
          <a:prstGeom prst="rect">
            <a:avLst/>
          </a:prstGeom>
        </p:spPr>
      </p:pic>
      <p:sp>
        <p:nvSpPr>
          <p:cNvPr id="29" name="Text 23"/>
          <p:cNvSpPr txBox="1"/>
          <p:nvPr/>
        </p:nvSpPr>
        <p:spPr>
          <a:xfrm>
            <a:off x="4754880" y="4023360"/>
            <a:ext cx="2758288" cy="420624"/>
          </a:xfrm>
          <a:prstGeom prst="rect">
            <a:avLst/>
          </a:prstGeom>
          <a:noFill/>
          <a:ln/>
        </p:spPr>
        <p:txBody>
          <a:bodyPr wrap="square" lIns="0" tIns="0" rIns="0" bIns="0" rtlCol="0" anchor="ctr"/>
          <a:lstStyle/>
          <a:p>
            <a:pPr indent="0" marL="0">
              <a:buNone/>
            </a:pPr>
            <a:r>
              <a:rPr lang="en-US" sz="1800" b="1" dirty="0">
                <a:solidFill>
                  <a:srgbClr val="0B3C49"/>
                </a:solidFill>
                <a:latin typeface="Calibri" pitchFamily="34" charset="0"/>
                <a:ea typeface="Calibri" pitchFamily="34" charset="-122"/>
                <a:cs typeface="Calibri" pitchFamily="34" charset="-120"/>
              </a:rPr>
              <a:t>Quality</a:t>
            </a:r>
            <a:endParaRPr lang="en-US" sz="1800" dirty="0"/>
          </a:p>
        </p:txBody>
      </p:sp>
      <p:sp>
        <p:nvSpPr>
          <p:cNvPr id="30" name="Text 24"/>
          <p:cNvSpPr txBox="1"/>
          <p:nvPr/>
        </p:nvSpPr>
        <p:spPr>
          <a:xfrm>
            <a:off x="4206240" y="4617720"/>
            <a:ext cx="3306928" cy="1325880"/>
          </a:xfrm>
          <a:prstGeom prst="rect">
            <a:avLst/>
          </a:prstGeom>
          <a:noFill/>
          <a:ln/>
        </p:spPr>
        <p:txBody>
          <a:bodyPr wrap="square" lIns="0" tIns="0" rIns="0" bIns="0" rtlCol="0" anchor="t"/>
          <a:lstStyle/>
          <a:p>
            <a:pPr indent="0" marL="0">
              <a:buNone/>
            </a:pPr>
            <a:r>
              <a:rPr lang="en-US" sz="1600" dirty="0">
                <a:solidFill>
                  <a:srgbClr val="10262B"/>
                </a:solidFill>
                <a:latin typeface="Calibri" pitchFamily="34" charset="0"/>
                <a:ea typeface="Calibri" pitchFamily="34" charset="-122"/>
                <a:cs typeface="Calibri" pitchFamily="34" charset="-120"/>
              </a:rPr>
              <a:t>Vitest, Supertest, Playwright with axe, ESLint, Prettier, GitHub Actions</a:t>
            </a:r>
            <a:endParaRPr lang="en-US" sz="1600" dirty="0"/>
          </a:p>
        </p:txBody>
      </p:sp>
      <p:sp>
        <p:nvSpPr>
          <p:cNvPr id="31" name="Shape 25"/>
          <p:cNvSpPr/>
          <p:nvPr/>
        </p:nvSpPr>
        <p:spPr>
          <a:xfrm>
            <a:off x="7970368" y="3840480"/>
            <a:ext cx="3672688" cy="2240280"/>
          </a:xfrm>
          <a:prstGeom prst="roundRect">
            <a:avLst>
              <a:gd name="adj" fmla="val 4898"/>
            </a:avLst>
          </a:prstGeom>
          <a:solidFill>
            <a:srgbClr val="E8F3F2"/>
          </a:solidFill>
          <a:ln/>
          <a:effectLst>
            <a:outerShdw sx="100000" sy="100000" kx="0" ky="0" algn="bl" rotWithShape="0" blurRad="76200" dist="19050" dir="5400000">
              <a:srgbClr val="000000">
                <a:alpha val="12000"/>
              </a:srgbClr>
            </a:outerShdw>
          </a:effectLst>
        </p:spPr>
      </p:sp>
      <p:sp>
        <p:nvSpPr>
          <p:cNvPr id="32" name="Shape 26"/>
          <p:cNvSpPr/>
          <p:nvPr/>
        </p:nvSpPr>
        <p:spPr>
          <a:xfrm>
            <a:off x="8153248" y="4023360"/>
            <a:ext cx="420624" cy="420624"/>
          </a:xfrm>
          <a:prstGeom prst="ellipse">
            <a:avLst/>
          </a:prstGeom>
          <a:solidFill>
            <a:srgbClr val="1F7A8C"/>
          </a:solidFill>
          <a:ln/>
        </p:spPr>
      </p:sp>
      <p:pic>
        <p:nvPicPr>
          <p:cNvPr id="33" name="Image 4" descr="preencoded.png">    </p:cNvPr>
          <p:cNvPicPr>
            <a:picLocks noChangeAspect="1"/>
          </p:cNvPicPr>
          <p:nvPr/>
        </p:nvPicPr>
        <p:blipFill>
          <a:blip r:embed="rId5"/>
          <a:stretch>
            <a:fillRect/>
          </a:stretch>
        </p:blipFill>
        <p:spPr>
          <a:xfrm>
            <a:off x="8262610" y="4132722"/>
            <a:ext cx="201900" cy="201900"/>
          </a:xfrm>
          <a:prstGeom prst="rect">
            <a:avLst/>
          </a:prstGeom>
        </p:spPr>
      </p:pic>
      <p:sp>
        <p:nvSpPr>
          <p:cNvPr id="34" name="Text 27"/>
          <p:cNvSpPr txBox="1"/>
          <p:nvPr/>
        </p:nvSpPr>
        <p:spPr>
          <a:xfrm>
            <a:off x="8701888" y="4023360"/>
            <a:ext cx="2758288" cy="420624"/>
          </a:xfrm>
          <a:prstGeom prst="rect">
            <a:avLst/>
          </a:prstGeom>
          <a:noFill/>
          <a:ln/>
        </p:spPr>
        <p:txBody>
          <a:bodyPr wrap="square" lIns="0" tIns="0" rIns="0" bIns="0" rtlCol="0" anchor="ctr"/>
          <a:lstStyle/>
          <a:p>
            <a:pPr indent="0" marL="0">
              <a:buNone/>
            </a:pPr>
            <a:r>
              <a:rPr lang="en-US" sz="1800" b="1" dirty="0">
                <a:solidFill>
                  <a:srgbClr val="0B3C49"/>
                </a:solidFill>
                <a:latin typeface="Calibri" pitchFamily="34" charset="0"/>
                <a:ea typeface="Calibri" pitchFamily="34" charset="-122"/>
                <a:cs typeface="Calibri" pitchFamily="34" charset="-120"/>
              </a:rPr>
              <a:t>Deploy</a:t>
            </a:r>
            <a:endParaRPr lang="en-US" sz="1800" dirty="0"/>
          </a:p>
        </p:txBody>
      </p:sp>
      <p:sp>
        <p:nvSpPr>
          <p:cNvPr id="35" name="Text 28"/>
          <p:cNvSpPr txBox="1"/>
          <p:nvPr/>
        </p:nvSpPr>
        <p:spPr>
          <a:xfrm>
            <a:off x="8153248" y="4617720"/>
            <a:ext cx="3306928" cy="1325880"/>
          </a:xfrm>
          <a:prstGeom prst="rect">
            <a:avLst/>
          </a:prstGeom>
          <a:noFill/>
          <a:ln/>
        </p:spPr>
        <p:txBody>
          <a:bodyPr wrap="square" lIns="0" tIns="0" rIns="0" bIns="0" rtlCol="0" anchor="t"/>
          <a:lstStyle/>
          <a:p>
            <a:pPr indent="0" marL="0">
              <a:buNone/>
            </a:pPr>
            <a:r>
              <a:rPr lang="en-US" sz="1600" dirty="0">
                <a:solidFill>
                  <a:srgbClr val="10262B"/>
                </a:solidFill>
                <a:latin typeface="Calibri" pitchFamily="34" charset="0"/>
                <a:ea typeface="Calibri" pitchFamily="34" charset="-122"/>
                <a:cs typeface="Calibri" pitchFamily="34" charset="-120"/>
              </a:rPr>
              <a:t>Vercel for web and API, npm workspaces monorepo</a:t>
            </a:r>
            <a:endParaRPr lang="en-US" sz="1600" dirty="0"/>
          </a:p>
        </p:txBody>
      </p:sp>
      <p:sp>
        <p:nvSpPr>
          <p:cNvPr id="36" name="Text 2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37" name="Text 30"/>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From cataloguing to purge: five steps and four counters</a:t>
            </a:r>
            <a:endParaRPr lang="en-US" sz="3200" dirty="0"/>
          </a:p>
        </p:txBody>
      </p:sp>
      <p:sp>
        <p:nvSpPr>
          <p:cNvPr id="3" name="Shape 1"/>
          <p:cNvSpPr/>
          <p:nvPr/>
        </p:nvSpPr>
        <p:spPr>
          <a:xfrm>
            <a:off x="548640" y="1325880"/>
            <a:ext cx="2036003" cy="3246120"/>
          </a:xfrm>
          <a:prstGeom prst="roundRect">
            <a:avLst>
              <a:gd name="adj" fmla="val 5389"/>
            </a:avLst>
          </a:prstGeom>
          <a:solidFill>
            <a:srgbClr val="E8F3F2"/>
          </a:solidFill>
          <a:ln/>
          <a:effectLst>
            <a:outerShdw sx="100000" sy="100000" kx="0" ky="0" algn="bl" rotWithShape="0" blurRad="76200" dist="19050" dir="5400000">
              <a:srgbClr val="000000">
                <a:alpha val="12000"/>
              </a:srgbClr>
            </a:outerShdw>
          </a:effectLst>
        </p:spPr>
      </p:sp>
      <p:sp>
        <p:nvSpPr>
          <p:cNvPr id="4" name="Shape 2"/>
          <p:cNvSpPr/>
          <p:nvPr/>
        </p:nvSpPr>
        <p:spPr>
          <a:xfrm>
            <a:off x="713232" y="1490472"/>
            <a:ext cx="420624" cy="420624"/>
          </a:xfrm>
          <a:prstGeom prst="ellipse">
            <a:avLst/>
          </a:prstGeom>
          <a:solidFill>
            <a:srgbClr val="F4A62A"/>
          </a:solidFill>
          <a:ln/>
        </p:spPr>
      </p:sp>
      <p:sp>
        <p:nvSpPr>
          <p:cNvPr id="5" name="Text 3"/>
          <p:cNvSpPr txBox="1"/>
          <p:nvPr/>
        </p:nvSpPr>
        <p:spPr>
          <a:xfrm>
            <a:off x="713232" y="1490472"/>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34440" y="1490472"/>
            <a:ext cx="1213043" cy="420624"/>
          </a:xfrm>
          <a:prstGeom prst="rect">
            <a:avLst/>
          </a:prstGeom>
          <a:noFill/>
          <a:ln/>
        </p:spPr>
        <p:txBody>
          <a:bodyPr wrap="square" lIns="0" tIns="0" rIns="0" bIns="0" rtlCol="0" anchor="ctr"/>
          <a:lstStyle/>
          <a:p>
            <a:pPr indent="0" marL="0">
              <a:buNone/>
            </a:pPr>
            <a:r>
              <a:rPr lang="en-US" sz="1700" b="1" dirty="0">
                <a:solidFill>
                  <a:srgbClr val="0B3C49"/>
                </a:solidFill>
                <a:latin typeface="Calibri" pitchFamily="34" charset="0"/>
                <a:ea typeface="Calibri" pitchFamily="34" charset="-122"/>
                <a:cs typeface="Calibri" pitchFamily="34" charset="-120"/>
              </a:rPr>
              <a:t>Log in.</a:t>
            </a:r>
            <a:endParaRPr lang="en-US" sz="1700" dirty="0"/>
          </a:p>
        </p:txBody>
      </p:sp>
      <p:sp>
        <p:nvSpPr>
          <p:cNvPr id="7" name="Text 5"/>
          <p:cNvSpPr txBox="1"/>
          <p:nvPr/>
        </p:nvSpPr>
        <p:spPr>
          <a:xfrm>
            <a:off x="713232" y="2057400"/>
            <a:ext cx="1706819" cy="19202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JWT, valid one day. Cataloguer accounts come from the seed script.</a:t>
            </a:r>
            <a:endParaRPr lang="en-US" sz="1400" dirty="0"/>
          </a:p>
        </p:txBody>
      </p:sp>
      <p:sp>
        <p:nvSpPr>
          <p:cNvPr id="8" name="Shape 6"/>
          <p:cNvSpPr/>
          <p:nvPr/>
        </p:nvSpPr>
        <p:spPr>
          <a:xfrm>
            <a:off x="2813243" y="1325880"/>
            <a:ext cx="2036003" cy="3246120"/>
          </a:xfrm>
          <a:prstGeom prst="roundRect">
            <a:avLst>
              <a:gd name="adj" fmla="val 5389"/>
            </a:avLst>
          </a:prstGeom>
          <a:solidFill>
            <a:srgbClr val="E8F3F2"/>
          </a:solidFill>
          <a:ln/>
          <a:effectLst>
            <a:outerShdw sx="100000" sy="100000" kx="0" ky="0" algn="bl" rotWithShape="0" blurRad="76200" dist="19050" dir="5400000">
              <a:srgbClr val="000000">
                <a:alpha val="12000"/>
              </a:srgbClr>
            </a:outerShdw>
          </a:effectLst>
        </p:spPr>
      </p:sp>
      <p:sp>
        <p:nvSpPr>
          <p:cNvPr id="9" name="Shape 7"/>
          <p:cNvSpPr/>
          <p:nvPr/>
        </p:nvSpPr>
        <p:spPr>
          <a:xfrm>
            <a:off x="2977835" y="1490472"/>
            <a:ext cx="420624" cy="420624"/>
          </a:xfrm>
          <a:prstGeom prst="ellipse">
            <a:avLst/>
          </a:prstGeom>
          <a:solidFill>
            <a:srgbClr val="F4A62A"/>
          </a:solidFill>
          <a:ln/>
        </p:spPr>
      </p:sp>
      <p:sp>
        <p:nvSpPr>
          <p:cNvPr id="10" name="Text 8"/>
          <p:cNvSpPr txBox="1"/>
          <p:nvPr/>
        </p:nvSpPr>
        <p:spPr>
          <a:xfrm>
            <a:off x="2977835" y="1490472"/>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3499043" y="1490472"/>
            <a:ext cx="1213043" cy="420624"/>
          </a:xfrm>
          <a:prstGeom prst="rect">
            <a:avLst/>
          </a:prstGeom>
          <a:noFill/>
          <a:ln/>
        </p:spPr>
        <p:txBody>
          <a:bodyPr wrap="square" lIns="0" tIns="0" rIns="0" bIns="0" rtlCol="0" anchor="ctr"/>
          <a:lstStyle/>
          <a:p>
            <a:pPr indent="0" marL="0">
              <a:buNone/>
            </a:pPr>
            <a:r>
              <a:rPr lang="en-US" sz="1700" b="1" dirty="0">
                <a:solidFill>
                  <a:srgbClr val="0B3C49"/>
                </a:solidFill>
                <a:latin typeface="Calibri" pitchFamily="34" charset="0"/>
                <a:ea typeface="Calibri" pitchFamily="34" charset="-122"/>
                <a:cs typeface="Calibri" pitchFamily="34" charset="-120"/>
              </a:rPr>
              <a:t>Catalogue.</a:t>
            </a:r>
            <a:endParaRPr lang="en-US" sz="1700" dirty="0"/>
          </a:p>
        </p:txBody>
      </p:sp>
      <p:sp>
        <p:nvSpPr>
          <p:cNvPr id="12" name="Text 10"/>
          <p:cNvSpPr txBox="1"/>
          <p:nvPr/>
        </p:nvSpPr>
        <p:spPr>
          <a:xfrm>
            <a:off x="2977835" y="2057400"/>
            <a:ext cx="1706819" cy="19202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Pick kind, notation, category, keywords, optional source URL and content. Notation kind must match. An audit row is written.</a:t>
            </a:r>
            <a:endParaRPr lang="en-US" sz="1400" dirty="0"/>
          </a:p>
        </p:txBody>
      </p:sp>
      <p:sp>
        <p:nvSpPr>
          <p:cNvPr id="13" name="Shape 11"/>
          <p:cNvSpPr/>
          <p:nvPr/>
        </p:nvSpPr>
        <p:spPr>
          <a:xfrm>
            <a:off x="5077846" y="1325880"/>
            <a:ext cx="2036003" cy="3246120"/>
          </a:xfrm>
          <a:prstGeom prst="roundRect">
            <a:avLst>
              <a:gd name="adj" fmla="val 5389"/>
            </a:avLst>
          </a:prstGeom>
          <a:solidFill>
            <a:srgbClr val="E8F3F2"/>
          </a:solidFill>
          <a:ln/>
          <a:effectLst>
            <a:outerShdw sx="100000" sy="100000" kx="0" ky="0" algn="bl" rotWithShape="0" blurRad="76200" dist="19050" dir="5400000">
              <a:srgbClr val="000000">
                <a:alpha val="12000"/>
              </a:srgbClr>
            </a:outerShdw>
          </a:effectLst>
        </p:spPr>
      </p:sp>
      <p:sp>
        <p:nvSpPr>
          <p:cNvPr id="14" name="Shape 12"/>
          <p:cNvSpPr/>
          <p:nvPr/>
        </p:nvSpPr>
        <p:spPr>
          <a:xfrm>
            <a:off x="5242438" y="1490472"/>
            <a:ext cx="420624" cy="420624"/>
          </a:xfrm>
          <a:prstGeom prst="ellipse">
            <a:avLst/>
          </a:prstGeom>
          <a:solidFill>
            <a:srgbClr val="F4A62A"/>
          </a:solidFill>
          <a:ln/>
        </p:spPr>
      </p:sp>
      <p:sp>
        <p:nvSpPr>
          <p:cNvPr id="15" name="Text 13"/>
          <p:cNvSpPr txBox="1"/>
          <p:nvPr/>
        </p:nvSpPr>
        <p:spPr>
          <a:xfrm>
            <a:off x="5242438" y="1490472"/>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5763646" y="1490472"/>
            <a:ext cx="1213043" cy="420624"/>
          </a:xfrm>
          <a:prstGeom prst="rect">
            <a:avLst/>
          </a:prstGeom>
          <a:noFill/>
          <a:ln/>
        </p:spPr>
        <p:txBody>
          <a:bodyPr wrap="square" lIns="0" tIns="0" rIns="0" bIns="0" rtlCol="0" anchor="ctr"/>
          <a:lstStyle/>
          <a:p>
            <a:pPr indent="0" marL="0">
              <a:buNone/>
            </a:pPr>
            <a:r>
              <a:rPr lang="en-US" sz="1700" b="1" dirty="0">
                <a:solidFill>
                  <a:srgbClr val="0B3C49"/>
                </a:solidFill>
                <a:latin typeface="Calibri" pitchFamily="34" charset="0"/>
                <a:ea typeface="Calibri" pitchFamily="34" charset="-122"/>
                <a:cs typeface="Calibri" pitchFamily="34" charset="-120"/>
              </a:rPr>
              <a:t>Search.</a:t>
            </a:r>
            <a:endParaRPr lang="en-US" sz="1700" dirty="0"/>
          </a:p>
        </p:txBody>
      </p:sp>
      <p:sp>
        <p:nvSpPr>
          <p:cNvPr id="17" name="Text 15"/>
          <p:cNvSpPr txBox="1"/>
          <p:nvPr/>
        </p:nvSpPr>
        <p:spPr>
          <a:xfrm>
            <a:off x="5242438" y="2057400"/>
            <a:ext cx="1706819" cy="19202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1 to 10 keywords, any or all. Exact keyword = 2 points, prefix (3+ letters) = 1. For the components on the returned page: hits +1 and hits-not-used +1, in one transaction.</a:t>
            </a:r>
            <a:endParaRPr lang="en-US" sz="1400" dirty="0"/>
          </a:p>
        </p:txBody>
      </p:sp>
      <p:sp>
        <p:nvSpPr>
          <p:cNvPr id="18" name="Shape 16"/>
          <p:cNvSpPr/>
          <p:nvPr/>
        </p:nvSpPr>
        <p:spPr>
          <a:xfrm>
            <a:off x="7342449" y="1325880"/>
            <a:ext cx="2036003" cy="3246120"/>
          </a:xfrm>
          <a:prstGeom prst="roundRect">
            <a:avLst>
              <a:gd name="adj" fmla="val 5389"/>
            </a:avLst>
          </a:prstGeom>
          <a:solidFill>
            <a:srgbClr val="E8F3F2"/>
          </a:solidFill>
          <a:ln/>
          <a:effectLst>
            <a:outerShdw sx="100000" sy="100000" kx="0" ky="0" algn="bl" rotWithShape="0" blurRad="76200" dist="19050" dir="5400000">
              <a:srgbClr val="000000">
                <a:alpha val="12000"/>
              </a:srgbClr>
            </a:outerShdw>
          </a:effectLst>
        </p:spPr>
      </p:sp>
      <p:sp>
        <p:nvSpPr>
          <p:cNvPr id="19" name="Shape 17"/>
          <p:cNvSpPr/>
          <p:nvPr/>
        </p:nvSpPr>
        <p:spPr>
          <a:xfrm>
            <a:off x="7507041" y="1490472"/>
            <a:ext cx="420624" cy="420624"/>
          </a:xfrm>
          <a:prstGeom prst="ellipse">
            <a:avLst/>
          </a:prstGeom>
          <a:solidFill>
            <a:srgbClr val="F4A62A"/>
          </a:solidFill>
          <a:ln/>
        </p:spPr>
      </p:sp>
      <p:sp>
        <p:nvSpPr>
          <p:cNvPr id="20" name="Text 18"/>
          <p:cNvSpPr txBox="1"/>
          <p:nvPr/>
        </p:nvSpPr>
        <p:spPr>
          <a:xfrm>
            <a:off x="7507041" y="1490472"/>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8028249" y="1490472"/>
            <a:ext cx="1213043" cy="420624"/>
          </a:xfrm>
          <a:prstGeom prst="rect">
            <a:avLst/>
          </a:prstGeom>
          <a:noFill/>
          <a:ln/>
        </p:spPr>
        <p:txBody>
          <a:bodyPr wrap="square" lIns="0" tIns="0" rIns="0" bIns="0" rtlCol="0" anchor="ctr"/>
          <a:lstStyle/>
          <a:p>
            <a:pPr indent="0" marL="0">
              <a:buNone/>
            </a:pPr>
            <a:r>
              <a:rPr lang="en-US" sz="1700" b="1" dirty="0">
                <a:solidFill>
                  <a:srgbClr val="0B3C49"/>
                </a:solidFill>
                <a:latin typeface="Calibri" pitchFamily="34" charset="0"/>
                <a:ea typeface="Calibri" pitchFamily="34" charset="-122"/>
                <a:cs typeface="Calibri" pitchFamily="34" charset="-120"/>
              </a:rPr>
              <a:t>Use.</a:t>
            </a:r>
            <a:endParaRPr lang="en-US" sz="1700" dirty="0"/>
          </a:p>
        </p:txBody>
      </p:sp>
      <p:sp>
        <p:nvSpPr>
          <p:cNvPr id="22" name="Text 20"/>
          <p:cNvSpPr txBox="1"/>
          <p:nvPr/>
        </p:nvSpPr>
        <p:spPr>
          <a:xfrm>
            <a:off x="7507041" y="2057400"/>
            <a:ext cx="1706819" cy="19202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"Use this component" (login): uses +1, last used set. If it came from a search result not yet used: hits-not-used -1, never below 0.</a:t>
            </a:r>
            <a:endParaRPr lang="en-US" sz="1400" dirty="0"/>
          </a:p>
        </p:txBody>
      </p:sp>
      <p:sp>
        <p:nvSpPr>
          <p:cNvPr id="23" name="Shape 21"/>
          <p:cNvSpPr/>
          <p:nvPr/>
        </p:nvSpPr>
        <p:spPr>
          <a:xfrm>
            <a:off x="9607052" y="1325880"/>
            <a:ext cx="2036003" cy="3246120"/>
          </a:xfrm>
          <a:prstGeom prst="roundRect">
            <a:avLst>
              <a:gd name="adj" fmla="val 5389"/>
            </a:avLst>
          </a:prstGeom>
          <a:solidFill>
            <a:srgbClr val="E8F3F2"/>
          </a:solidFill>
          <a:ln/>
          <a:effectLst>
            <a:outerShdw sx="100000" sy="100000" kx="0" ky="0" algn="bl" rotWithShape="0" blurRad="76200" dist="19050" dir="5400000">
              <a:srgbClr val="000000">
                <a:alpha val="12000"/>
              </a:srgbClr>
            </a:outerShdw>
          </a:effectLst>
        </p:spPr>
      </p:sp>
      <p:sp>
        <p:nvSpPr>
          <p:cNvPr id="24" name="Shape 22"/>
          <p:cNvSpPr/>
          <p:nvPr/>
        </p:nvSpPr>
        <p:spPr>
          <a:xfrm>
            <a:off x="9771644" y="1490472"/>
            <a:ext cx="420624" cy="420624"/>
          </a:xfrm>
          <a:prstGeom prst="ellipse">
            <a:avLst/>
          </a:prstGeom>
          <a:solidFill>
            <a:srgbClr val="F4A62A"/>
          </a:solidFill>
          <a:ln/>
        </p:spPr>
      </p:sp>
      <p:sp>
        <p:nvSpPr>
          <p:cNvPr id="25" name="Text 23"/>
          <p:cNvSpPr txBox="1"/>
          <p:nvPr/>
        </p:nvSpPr>
        <p:spPr>
          <a:xfrm>
            <a:off x="9771644" y="1490472"/>
            <a:ext cx="420624" cy="42062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10292852" y="1490472"/>
            <a:ext cx="1213043" cy="420624"/>
          </a:xfrm>
          <a:prstGeom prst="rect">
            <a:avLst/>
          </a:prstGeom>
          <a:noFill/>
          <a:ln/>
        </p:spPr>
        <p:txBody>
          <a:bodyPr wrap="square" lIns="0" tIns="0" rIns="0" bIns="0" rtlCol="0" anchor="ctr"/>
          <a:lstStyle/>
          <a:p>
            <a:pPr indent="0" marL="0">
              <a:buNone/>
            </a:pPr>
            <a:r>
              <a:rPr lang="en-US" sz="1700" b="1" dirty="0">
                <a:solidFill>
                  <a:srgbClr val="0B3C49"/>
                </a:solidFill>
                <a:latin typeface="Calibri" pitchFamily="34" charset="0"/>
                <a:ea typeface="Calibri" pitchFamily="34" charset="-122"/>
                <a:cs typeface="Calibri" pitchFamily="34" charset="-120"/>
              </a:rPr>
              <a:t>Purge.</a:t>
            </a:r>
            <a:endParaRPr lang="en-US" sz="1700" dirty="0"/>
          </a:p>
        </p:txBody>
      </p:sp>
      <p:sp>
        <p:nvSpPr>
          <p:cNvPr id="27" name="Text 25"/>
          <p:cNvSpPr txBox="1"/>
          <p:nvPr/>
        </p:nvSpPr>
        <p:spPr>
          <a:xfrm>
            <a:off x="9771644" y="2057400"/>
            <a:ext cx="1706819" cy="19202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Cataloguer sets criteria, reviews candidates, confirms. The server checks again and deletes; one audit entry each.</a:t>
            </a:r>
            <a:endParaRPr lang="en-US" sz="1400" dirty="0"/>
          </a:p>
        </p:txBody>
      </p:sp>
      <p:sp>
        <p:nvSpPr>
          <p:cNvPr id="28" name="Shape 26"/>
          <p:cNvSpPr/>
          <p:nvPr/>
        </p:nvSpPr>
        <p:spPr>
          <a:xfrm>
            <a:off x="9771644" y="4005072"/>
            <a:ext cx="1706819" cy="384048"/>
          </a:xfrm>
          <a:prstGeom prst="roundRect">
            <a:avLst>
              <a:gd name="adj" fmla="val 23810"/>
            </a:avLst>
          </a:prstGeom>
          <a:solidFill>
            <a:srgbClr val="0B3C49"/>
          </a:solidFill>
          <a:ln/>
        </p:spPr>
      </p:sp>
      <p:sp>
        <p:nvSpPr>
          <p:cNvPr id="29" name="Text 27"/>
          <p:cNvSpPr txBox="1"/>
          <p:nvPr/>
        </p:nvSpPr>
        <p:spPr>
          <a:xfrm>
            <a:off x="9771644" y="4005072"/>
            <a:ext cx="170681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Manual, no scheduler</a:t>
            </a:r>
            <a:endParaRPr lang="en-US" sz="1300" dirty="0"/>
          </a:p>
        </p:txBody>
      </p:sp>
      <p:sp>
        <p:nvSpPr>
          <p:cNvPr id="30" name="Shape 28"/>
          <p:cNvSpPr/>
          <p:nvPr/>
        </p:nvSpPr>
        <p:spPr>
          <a:xfrm>
            <a:off x="548640" y="4892040"/>
            <a:ext cx="11094415" cy="1188720"/>
          </a:xfrm>
          <a:prstGeom prst="roundRect">
            <a:avLst>
              <a:gd name="adj" fmla="val 9231"/>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sp>
        <p:nvSpPr>
          <p:cNvPr id="31" name="Text 29"/>
          <p:cNvSpPr txBox="1"/>
          <p:nvPr/>
        </p:nvSpPr>
        <p:spPr>
          <a:xfrm>
            <a:off x="777240" y="4983480"/>
            <a:ext cx="3657600" cy="365760"/>
          </a:xfrm>
          <a:prstGeom prst="rect">
            <a:avLst/>
          </a:prstGeom>
          <a:noFill/>
          <a:ln/>
        </p:spPr>
        <p:txBody>
          <a:bodyPr wrap="square" lIns="0" tIns="0" rIns="0" bIns="0" rtlCol="0" anchor="t"/>
          <a:lstStyle/>
          <a:p>
            <a:pPr indent="0" marL="0">
              <a:buNone/>
            </a:pPr>
            <a:r>
              <a:rPr lang="en-US" sz="1500" b="1" dirty="0">
                <a:solidFill>
                  <a:srgbClr val="0B3C49"/>
                </a:solidFill>
                <a:latin typeface="Calibri" pitchFamily="34" charset="0"/>
                <a:ea typeface="Calibri" pitchFamily="34" charset="-122"/>
                <a:cs typeface="Calibri" pitchFamily="34" charset="-120"/>
              </a:rPr>
              <a:t>The counters (on Component)</a:t>
            </a:r>
            <a:endParaRPr lang="en-US" sz="1500" dirty="0"/>
          </a:p>
        </p:txBody>
      </p:sp>
      <p:sp>
        <p:nvSpPr>
          <p:cNvPr id="32" name="Shape 30"/>
          <p:cNvSpPr/>
          <p:nvPr/>
        </p:nvSpPr>
        <p:spPr>
          <a:xfrm>
            <a:off x="777240" y="5495544"/>
            <a:ext cx="2487854" cy="402336"/>
          </a:xfrm>
          <a:prstGeom prst="roundRect">
            <a:avLst>
              <a:gd name="adj" fmla="val 22727"/>
            </a:avLst>
          </a:prstGeom>
          <a:solidFill>
            <a:srgbClr val="E8F3F2"/>
          </a:solidFill>
          <a:ln/>
        </p:spPr>
      </p:sp>
      <p:sp>
        <p:nvSpPr>
          <p:cNvPr id="33" name="Text 31"/>
          <p:cNvSpPr txBox="1"/>
          <p:nvPr/>
        </p:nvSpPr>
        <p:spPr>
          <a:xfrm>
            <a:off x="777240" y="5495544"/>
            <a:ext cx="2487854" cy="402336"/>
          </a:xfrm>
          <a:prstGeom prst="rect">
            <a:avLst/>
          </a:prstGeom>
          <a:noFill/>
          <a:ln/>
        </p:spPr>
        <p:txBody>
          <a:bodyPr wrap="square" lIns="0" tIns="0" rIns="0" bIns="0" rtlCol="0" anchor="ctr"/>
          <a:lstStyle/>
          <a:p>
            <a:pPr algn="ctr" indent="0" marL="0">
              <a:buNone/>
            </a:pPr>
            <a:r>
              <a:rPr lang="en-US" sz="1400" b="1" dirty="0">
                <a:solidFill>
                  <a:srgbClr val="0B3C49"/>
                </a:solidFill>
                <a:latin typeface="Courier New" pitchFamily="34" charset="0"/>
                <a:ea typeface="Courier New" pitchFamily="34" charset="-122"/>
                <a:cs typeface="Courier New" pitchFamily="34" charset="-120"/>
              </a:rPr>
              <a:t>useCount</a:t>
            </a:r>
            <a:endParaRPr lang="en-US" sz="1400" dirty="0"/>
          </a:p>
        </p:txBody>
      </p:sp>
      <p:sp>
        <p:nvSpPr>
          <p:cNvPr id="34" name="Shape 32"/>
          <p:cNvSpPr/>
          <p:nvPr/>
        </p:nvSpPr>
        <p:spPr>
          <a:xfrm>
            <a:off x="3493694" y="5495544"/>
            <a:ext cx="2487854" cy="402336"/>
          </a:xfrm>
          <a:prstGeom prst="roundRect">
            <a:avLst>
              <a:gd name="adj" fmla="val 22727"/>
            </a:avLst>
          </a:prstGeom>
          <a:solidFill>
            <a:srgbClr val="E8F3F2"/>
          </a:solidFill>
          <a:ln/>
        </p:spPr>
      </p:sp>
      <p:sp>
        <p:nvSpPr>
          <p:cNvPr id="35" name="Text 33"/>
          <p:cNvSpPr txBox="1"/>
          <p:nvPr/>
        </p:nvSpPr>
        <p:spPr>
          <a:xfrm>
            <a:off x="3493694" y="5495544"/>
            <a:ext cx="2487854" cy="402336"/>
          </a:xfrm>
          <a:prstGeom prst="rect">
            <a:avLst/>
          </a:prstGeom>
          <a:noFill/>
          <a:ln/>
        </p:spPr>
        <p:txBody>
          <a:bodyPr wrap="square" lIns="0" tIns="0" rIns="0" bIns="0" rtlCol="0" anchor="ctr"/>
          <a:lstStyle/>
          <a:p>
            <a:pPr algn="ctr" indent="0" marL="0">
              <a:buNone/>
            </a:pPr>
            <a:r>
              <a:rPr lang="en-US" sz="1400" b="1" dirty="0">
                <a:solidFill>
                  <a:srgbClr val="0B3C49"/>
                </a:solidFill>
                <a:latin typeface="Courier New" pitchFamily="34" charset="0"/>
                <a:ea typeface="Courier New" pitchFamily="34" charset="-122"/>
                <a:cs typeface="Courier New" pitchFamily="34" charset="-120"/>
              </a:rPr>
              <a:t>queryHitCount</a:t>
            </a:r>
            <a:endParaRPr lang="en-US" sz="1400" dirty="0"/>
          </a:p>
        </p:txBody>
      </p:sp>
      <p:sp>
        <p:nvSpPr>
          <p:cNvPr id="36" name="Shape 34"/>
          <p:cNvSpPr/>
          <p:nvPr/>
        </p:nvSpPr>
        <p:spPr>
          <a:xfrm>
            <a:off x="6210148" y="5495544"/>
            <a:ext cx="2487854" cy="402336"/>
          </a:xfrm>
          <a:prstGeom prst="roundRect">
            <a:avLst>
              <a:gd name="adj" fmla="val 22727"/>
            </a:avLst>
          </a:prstGeom>
          <a:solidFill>
            <a:srgbClr val="E8F3F2"/>
          </a:solidFill>
          <a:ln/>
        </p:spPr>
      </p:sp>
      <p:sp>
        <p:nvSpPr>
          <p:cNvPr id="37" name="Text 35"/>
          <p:cNvSpPr txBox="1"/>
          <p:nvPr/>
        </p:nvSpPr>
        <p:spPr>
          <a:xfrm>
            <a:off x="6210148" y="5495544"/>
            <a:ext cx="2487854" cy="402336"/>
          </a:xfrm>
          <a:prstGeom prst="rect">
            <a:avLst/>
          </a:prstGeom>
          <a:noFill/>
          <a:ln/>
        </p:spPr>
        <p:txBody>
          <a:bodyPr wrap="square" lIns="0" tIns="0" rIns="0" bIns="0" rtlCol="0" anchor="ctr"/>
          <a:lstStyle/>
          <a:p>
            <a:pPr algn="ctr" indent="0" marL="0">
              <a:buNone/>
            </a:pPr>
            <a:r>
              <a:rPr lang="en-US" sz="1400" b="1" dirty="0">
                <a:solidFill>
                  <a:srgbClr val="0B3C49"/>
                </a:solidFill>
                <a:latin typeface="Courier New" pitchFamily="34" charset="0"/>
                <a:ea typeface="Courier New" pitchFamily="34" charset="-122"/>
                <a:cs typeface="Courier New" pitchFamily="34" charset="-120"/>
              </a:rPr>
              <a:t>queryHitNotUsedCount</a:t>
            </a:r>
            <a:endParaRPr lang="en-US" sz="1400" dirty="0"/>
          </a:p>
        </p:txBody>
      </p:sp>
      <p:sp>
        <p:nvSpPr>
          <p:cNvPr id="38" name="Shape 36"/>
          <p:cNvSpPr/>
          <p:nvPr/>
        </p:nvSpPr>
        <p:spPr>
          <a:xfrm>
            <a:off x="8926601" y="5495544"/>
            <a:ext cx="2487854" cy="402336"/>
          </a:xfrm>
          <a:prstGeom prst="roundRect">
            <a:avLst>
              <a:gd name="adj" fmla="val 22727"/>
            </a:avLst>
          </a:prstGeom>
          <a:solidFill>
            <a:srgbClr val="E8F3F2"/>
          </a:solidFill>
          <a:ln/>
        </p:spPr>
      </p:sp>
      <p:sp>
        <p:nvSpPr>
          <p:cNvPr id="39" name="Text 37"/>
          <p:cNvSpPr txBox="1"/>
          <p:nvPr/>
        </p:nvSpPr>
        <p:spPr>
          <a:xfrm>
            <a:off x="8926601" y="5495544"/>
            <a:ext cx="2487854" cy="402336"/>
          </a:xfrm>
          <a:prstGeom prst="rect">
            <a:avLst/>
          </a:prstGeom>
          <a:noFill/>
          <a:ln/>
        </p:spPr>
        <p:txBody>
          <a:bodyPr wrap="square" lIns="0" tIns="0" rIns="0" bIns="0" rtlCol="0" anchor="ctr"/>
          <a:lstStyle/>
          <a:p>
            <a:pPr algn="ctr" indent="0" marL="0">
              <a:buNone/>
            </a:pPr>
            <a:r>
              <a:rPr lang="en-US" sz="1400" b="1" dirty="0">
                <a:solidFill>
                  <a:srgbClr val="0B3C49"/>
                </a:solidFill>
                <a:latin typeface="Courier New" pitchFamily="34" charset="0"/>
                <a:ea typeface="Courier New" pitchFamily="34" charset="-122"/>
                <a:cs typeface="Courier New" pitchFamily="34" charset="-120"/>
              </a:rPr>
              <a:t>lastUsedAt</a:t>
            </a:r>
            <a:endParaRPr lang="en-US" sz="1400" dirty="0"/>
          </a:p>
        </p:txBody>
      </p:sp>
      <p:sp>
        <p:nvSpPr>
          <p:cNvPr id="40" name="Text 3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41" name="Text 39"/>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Search and use: both are single transactions</a:t>
            </a:r>
            <a:endParaRPr lang="en-US" sz="3200" dirty="0"/>
          </a:p>
        </p:txBody>
      </p:sp>
      <p:sp>
        <p:nvSpPr>
          <p:cNvPr id="3" name="Shape 1"/>
          <p:cNvSpPr/>
          <p:nvPr/>
        </p:nvSpPr>
        <p:spPr>
          <a:xfrm>
            <a:off x="659087" y="1280160"/>
            <a:ext cx="5189153" cy="4206240"/>
          </a:xfrm>
          <a:prstGeom prst="roundRect">
            <a:avLst>
              <a:gd name="adj" fmla="val 2609"/>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seq-search.png">    </p:cNvPr>
          <p:cNvPicPr>
            <a:picLocks noChangeAspect="1"/>
          </p:cNvPicPr>
          <p:nvPr/>
        </p:nvPicPr>
        <p:blipFill>
          <a:blip r:embed="rId1"/>
          <a:stretch>
            <a:fillRect/>
          </a:stretch>
        </p:blipFill>
        <p:spPr>
          <a:xfrm>
            <a:off x="750527" y="1371600"/>
            <a:ext cx="5006273" cy="4023360"/>
          </a:xfrm>
          <a:prstGeom prst="rect">
            <a:avLst/>
          </a:prstGeom>
        </p:spPr>
      </p:pic>
      <p:sp>
        <p:nvSpPr>
          <p:cNvPr id="5" name="Shape 2"/>
          <p:cNvSpPr/>
          <p:nvPr/>
        </p:nvSpPr>
        <p:spPr>
          <a:xfrm>
            <a:off x="6424280" y="1280160"/>
            <a:ext cx="5027503" cy="4206240"/>
          </a:xfrm>
          <a:prstGeom prst="roundRect">
            <a:avLst>
              <a:gd name="adj" fmla="val 2609"/>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6" name="Image 1" descr="/mnt/project-files/ppt/images/diagrams/seq-use.png">    </p:cNvPr>
          <p:cNvPicPr>
            <a:picLocks noChangeAspect="1"/>
          </p:cNvPicPr>
          <p:nvPr/>
        </p:nvPicPr>
        <p:blipFill>
          <a:blip r:embed="rId2"/>
          <a:stretch>
            <a:fillRect/>
          </a:stretch>
        </p:blipFill>
        <p:spPr>
          <a:xfrm>
            <a:off x="6515720" y="1371600"/>
            <a:ext cx="4844623" cy="4023360"/>
          </a:xfrm>
          <a:prstGeom prst="rect">
            <a:avLst/>
          </a:prstGeom>
        </p:spPr>
      </p:pic>
      <p:sp>
        <p:nvSpPr>
          <p:cNvPr id="7" name="Shape 3"/>
          <p:cNvSpPr/>
          <p:nvPr/>
        </p:nvSpPr>
        <p:spPr>
          <a:xfrm>
            <a:off x="548640" y="5669280"/>
            <a:ext cx="365760" cy="365760"/>
          </a:xfrm>
          <a:prstGeom prst="ellipse">
            <a:avLst/>
          </a:prstGeom>
          <a:solidFill>
            <a:srgbClr val="F4A62A"/>
          </a:solidFill>
          <a:ln/>
        </p:spPr>
      </p:sp>
      <p:sp>
        <p:nvSpPr>
          <p:cNvPr id="8" name="Text 4"/>
          <p:cNvSpPr txBox="1"/>
          <p:nvPr/>
        </p:nvSpPr>
        <p:spPr>
          <a:xfrm>
            <a:off x="548640" y="5669280"/>
            <a:ext cx="365760" cy="36576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S</a:t>
            </a:r>
            <a:endParaRPr lang="en-US" sz="1500" dirty="0"/>
          </a:p>
        </p:txBody>
      </p:sp>
      <p:sp>
        <p:nvSpPr>
          <p:cNvPr id="9" name="Text 5"/>
          <p:cNvSpPr txBox="1"/>
          <p:nvPr/>
        </p:nvSpPr>
        <p:spPr>
          <a:xfrm>
            <a:off x="1051560" y="5669280"/>
            <a:ext cx="4907128" cy="640080"/>
          </a:xfrm>
          <a:prstGeom prst="rect">
            <a:avLst/>
          </a:prstGeom>
          <a:noFill/>
          <a:ln/>
        </p:spPr>
        <p:txBody>
          <a:bodyPr wrap="square" lIns="0" tIns="0" rIns="0" bIns="0" rtlCol="0" anchor="t"/>
          <a:lstStyle/>
          <a:p>
            <a:pPr indent="0" marL="0">
              <a:buNone/>
            </a:pPr>
            <a:r>
              <a:rPr lang="en-US" sz="1300" dirty="0">
                <a:solidFill>
                  <a:srgbClr val="10262B"/>
                </a:solidFill>
                <a:latin typeface="Calibri" pitchFamily="34" charset="0"/>
                <a:ea typeface="Calibri" pitchFamily="34" charset="-122"/>
                <a:cs typeface="Calibri" pitchFamily="34" charset="-120"/>
              </a:rPr>
              <a:t>Search: validate, score, save the query and add the hit counters for the page, all in one transaction.</a:t>
            </a:r>
            <a:endParaRPr lang="en-US" sz="1300" dirty="0"/>
          </a:p>
        </p:txBody>
      </p:sp>
      <p:sp>
        <p:nvSpPr>
          <p:cNvPr id="10" name="Shape 6"/>
          <p:cNvSpPr/>
          <p:nvPr/>
        </p:nvSpPr>
        <p:spPr>
          <a:xfrm>
            <a:off x="6233008" y="5669280"/>
            <a:ext cx="365760" cy="365760"/>
          </a:xfrm>
          <a:prstGeom prst="ellipse">
            <a:avLst/>
          </a:prstGeom>
          <a:solidFill>
            <a:srgbClr val="F4A62A"/>
          </a:solidFill>
          <a:ln/>
        </p:spPr>
      </p:sp>
      <p:sp>
        <p:nvSpPr>
          <p:cNvPr id="11" name="Text 7"/>
          <p:cNvSpPr txBox="1"/>
          <p:nvPr/>
        </p:nvSpPr>
        <p:spPr>
          <a:xfrm>
            <a:off x="6233008" y="5669280"/>
            <a:ext cx="365760" cy="36576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U</a:t>
            </a:r>
            <a:endParaRPr lang="en-US" sz="1500" dirty="0"/>
          </a:p>
        </p:txBody>
      </p:sp>
      <p:sp>
        <p:nvSpPr>
          <p:cNvPr id="12" name="Text 8"/>
          <p:cNvSpPr txBox="1"/>
          <p:nvPr/>
        </p:nvSpPr>
        <p:spPr>
          <a:xfrm>
            <a:off x="6735928" y="5669280"/>
            <a:ext cx="4907128" cy="640080"/>
          </a:xfrm>
          <a:prstGeom prst="rect">
            <a:avLst/>
          </a:prstGeom>
          <a:noFill/>
          <a:ln/>
        </p:spPr>
        <p:txBody>
          <a:bodyPr wrap="square" lIns="0" tIns="0" rIns="0" bIns="0" rtlCol="0" anchor="t"/>
          <a:lstStyle/>
          <a:p>
            <a:pPr indent="0" marL="0">
              <a:buNone/>
            </a:pPr>
            <a:r>
              <a:rPr lang="en-US" sz="1300" dirty="0">
                <a:solidFill>
                  <a:srgbClr val="10262B"/>
                </a:solidFill>
                <a:latin typeface="Calibri" pitchFamily="34" charset="0"/>
                <a:ea typeface="Calibri" pitchFamily="34" charset="-122"/>
                <a:cs typeface="Calibri" pitchFamily="34" charset="-120"/>
              </a:rPr>
              <a:t>Use: mark the result used, lower hits-not-used, raise uses, log the event, all in one transaction.</a:t>
            </a:r>
            <a:endParaRPr lang="en-US" sz="1300" dirty="0"/>
          </a:p>
        </p:txBody>
      </p:sp>
      <p:sp>
        <p:nvSpPr>
          <p:cNvPr id="13" name="Text 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14" name="Text 10"/>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Public pages for everyone, a console for the cataloguer</a:t>
            </a:r>
            <a:endParaRPr lang="en-US" sz="3200" dirty="0"/>
          </a:p>
        </p:txBody>
      </p:sp>
      <p:sp>
        <p:nvSpPr>
          <p:cNvPr id="3" name="Shape 1"/>
          <p:cNvSpPr/>
          <p:nvPr/>
        </p:nvSpPr>
        <p:spPr>
          <a:xfrm>
            <a:off x="548640" y="1280160"/>
            <a:ext cx="365760" cy="365760"/>
          </a:xfrm>
          <a:prstGeom prst="ellipse">
            <a:avLst/>
          </a:prstGeom>
          <a:solidFill>
            <a:srgbClr val="1F7A8C"/>
          </a:solidFill>
          <a:ln/>
        </p:spPr>
      </p:sp>
      <p:pic>
        <p:nvPicPr>
          <p:cNvPr id="4" name="Image 0" descr="preencoded.png">    </p:cNvPr>
          <p:cNvPicPr>
            <a:picLocks noChangeAspect="1"/>
          </p:cNvPicPr>
          <p:nvPr/>
        </p:nvPicPr>
        <p:blipFill>
          <a:blip r:embed="rId1"/>
          <a:stretch>
            <a:fillRect/>
          </a:stretch>
        </p:blipFill>
        <p:spPr>
          <a:xfrm>
            <a:off x="643738" y="1375258"/>
            <a:ext cx="175565" cy="175565"/>
          </a:xfrm>
          <a:prstGeom prst="rect">
            <a:avLst/>
          </a:prstGeom>
        </p:spPr>
      </p:pic>
      <p:sp>
        <p:nvSpPr>
          <p:cNvPr id="5" name="Text 2"/>
          <p:cNvSpPr txBox="1"/>
          <p:nvPr/>
        </p:nvSpPr>
        <p:spPr>
          <a:xfrm>
            <a:off x="1024128" y="1280160"/>
            <a:ext cx="274320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Everyone</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669280" cy="914400"/>
        </p:xfrm>
        <a:graphic>
          <a:graphicData uri="http://schemas.openxmlformats.org/drawingml/2006/table">
            <a:tbl>
              <a:tblPr/>
              <a:tblGrid>
                <a:gridCol w="1188720"/>
                <a:gridCol w="1828800"/>
                <a:gridCol w="26517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Public screen</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can do</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Home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Search box, API and database status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Search</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/search</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Keywords, any or all, filters (kind, notation, category), scores, Use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Browse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/browse</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Category tree, breadcrumb, component list, sort, subcategories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/components/[id]</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Details, keywords, counters, content, Use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Login, Register</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/login, /register</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Log in; register as User</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bl>
          </a:graphicData>
        </a:graphic>
      </p:graphicFrame>
      <p:sp>
        <p:nvSpPr>
          <p:cNvPr id="7" name="Shape 3"/>
          <p:cNvSpPr/>
          <p:nvPr/>
        </p:nvSpPr>
        <p:spPr>
          <a:xfrm>
            <a:off x="6492240" y="1280160"/>
            <a:ext cx="365760" cy="365760"/>
          </a:xfrm>
          <a:prstGeom prst="ellipse">
            <a:avLst/>
          </a:prstGeom>
          <a:solidFill>
            <a:srgbClr val="1F7A8C"/>
          </a:solidFill>
          <a:ln/>
        </p:spPr>
      </p:sp>
      <p:pic>
        <p:nvPicPr>
          <p:cNvPr id="8" name="Image 1" descr="preencoded.png">    </p:cNvPr>
          <p:cNvPicPr>
            <a:picLocks noChangeAspect="1"/>
          </p:cNvPicPr>
          <p:nvPr/>
        </p:nvPicPr>
        <p:blipFill>
          <a:blip r:embed="rId2"/>
          <a:stretch>
            <a:fillRect/>
          </a:stretch>
        </p:blipFill>
        <p:spPr>
          <a:xfrm>
            <a:off x="6587338" y="1375258"/>
            <a:ext cx="175565" cy="175565"/>
          </a:xfrm>
          <a:prstGeom prst="rect">
            <a:avLst/>
          </a:prstGeom>
        </p:spPr>
      </p:pic>
      <p:sp>
        <p:nvSpPr>
          <p:cNvPr id="9" name="Text 4"/>
          <p:cNvSpPr txBox="1"/>
          <p:nvPr/>
        </p:nvSpPr>
        <p:spPr>
          <a:xfrm>
            <a:off x="6967728" y="1280160"/>
            <a:ext cx="274320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Cataloguer only</a:t>
            </a:r>
            <a:endParaRPr lang="en-US" sz="16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92240" y="1783080"/>
          <a:ext cx="5148072" cy="914400"/>
        </p:xfrm>
        <a:graphic>
          <a:graphicData uri="http://schemas.openxmlformats.org/drawingml/2006/table">
            <a:tbl>
              <a:tblPr/>
              <a:tblGrid>
                <a:gridCol w="1188720"/>
                <a:gridCol w="2148840"/>
                <a:gridCol w="1810512"/>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Cataloguer screen</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can do</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1F7A8C"/>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Reports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/console</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Totals, top used, top not used, never used</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Components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/console/components</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List, create, edit, delete, keyword chips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Categories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/console/categories</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Create, rename, move, delete with reassign</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Notations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/console/notations</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List and add notations</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Purge</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/console/purge</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Criteria, candidates, confirm</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E8F3F2"/>
                    </a:solidFill>
                  </a:tcPr>
                </a:tc>
              </a:tr>
              <a:tr h="475488">
                <a:tc>
                  <a:txBody>
                    <a:bodyPr/>
                    <a:lstStyle/>
                    <a:p>
                      <a:pPr indent="0" marL="0">
                        <a:buNone/>
                      </a:pPr>
                      <a:r>
                        <a:rPr lang="en-US" sz="1300" b="1" dirty="0">
                          <a:solidFill>
                            <a:srgbClr val="0B3C49"/>
                          </a:solidFill>
                          <a:latin typeface="Calibri" pitchFamily="34" charset="0"/>
                          <a:ea typeface="Calibri" pitchFamily="34" charset="-122"/>
                          <a:cs typeface="Calibri" pitchFamily="34" charset="-120"/>
                        </a:rPr>
                        <a:t>Audit</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ourier New" pitchFamily="34" charset="0"/>
                          <a:ea typeface="Courier New" pitchFamily="34" charset="-122"/>
                          <a:cs typeface="Courier New" pitchFamily="34" charset="-120"/>
                        </a:rPr>
                        <a:t>/console/audit</a:t>
                      </a:r>
                      <a:endParaRPr lang="en-US" sz="1300" dirty="0">
                        <a:latin typeface="Courier New" charset="0"/>
                        <a:ea typeface="Courier New" charset="0"/>
                        <a:cs typeface="Courier New"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300" dirty="0">
                          <a:solidFill>
                            <a:srgbClr val="10262B"/>
                          </a:solidFill>
                          <a:latin typeface="Calibri" pitchFamily="34" charset="0"/>
                          <a:ea typeface="Calibri" pitchFamily="34" charset="-122"/>
                          <a:cs typeface="Calibri" pitchFamily="34" charset="-120"/>
                        </a:rPr>
                        <a:t>Change history, filter by action</a:t>
                      </a:r>
                      <a:endParaRPr lang="en-US" sz="1300" dirty="0">
                        <a:latin typeface="Calibri" charset="0"/>
                        <a:ea typeface="Calibri" charset="0"/>
                        <a:cs typeface="Calibri" charset="0"/>
                      </a:endParaRPr>
                    </a:p>
                  </a:txBody>
                  <a:tcPr marL="64008" marR="64008" marT="45720" marB="45720" anchor="ctr">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rgbClr val="FFFFFF"/>
                    </a:solidFill>
                  </a:tcPr>
                </a:tc>
              </a:tr>
            </a:tbl>
          </a:graphicData>
        </a:graphic>
      </p:graphicFrame>
      <p:sp>
        <p:nvSpPr>
          <p:cNvPr id="11" name="Shape 5"/>
          <p:cNvSpPr/>
          <p:nvPr/>
        </p:nvSpPr>
        <p:spPr>
          <a:xfrm>
            <a:off x="548640" y="5669280"/>
            <a:ext cx="5669280" cy="457200"/>
          </a:xfrm>
          <a:prstGeom prst="roundRect">
            <a:avLst>
              <a:gd name="adj" fmla="val 24000"/>
            </a:avLst>
          </a:prstGeom>
          <a:solidFill>
            <a:srgbClr val="F4A62A"/>
          </a:solidFill>
          <a:ln/>
        </p:spPr>
      </p:sp>
      <p:sp>
        <p:nvSpPr>
          <p:cNvPr id="12" name="Text 6"/>
          <p:cNvSpPr txBox="1"/>
          <p:nvPr/>
        </p:nvSpPr>
        <p:spPr>
          <a:xfrm>
            <a:off x="731520" y="5669280"/>
            <a:ext cx="5303520" cy="457200"/>
          </a:xfrm>
          <a:prstGeom prst="rect">
            <a:avLst/>
          </a:prstGeom>
          <a:noFill/>
          <a:ln/>
        </p:spPr>
        <p:txBody>
          <a:bodyPr wrap="square" lIns="0" tIns="0" rIns="0" bIns="0"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Use needs a login. The console is for cataloguers only.</a:t>
            </a:r>
            <a:endParaRPr lang="en-US" sz="1400" dirty="0"/>
          </a:p>
        </p:txBody>
      </p:sp>
      <p:sp>
        <p:nvSpPr>
          <p:cNvPr id="13" name="Text 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14" name="Text 8"/>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Demo: find a component and use it</a:t>
            </a:r>
            <a:endParaRPr lang="en-US" sz="3200" dirty="0"/>
          </a:p>
        </p:txBody>
      </p:sp>
      <p:sp>
        <p:nvSpPr>
          <p:cNvPr id="3" name="Shape 1"/>
          <p:cNvSpPr/>
          <p:nvPr/>
        </p:nvSpPr>
        <p:spPr>
          <a:xfrm>
            <a:off x="548640" y="1280160"/>
            <a:ext cx="5953760" cy="3429000"/>
          </a:xfrm>
          <a:prstGeom prst="roundRect">
            <a:avLst>
              <a:gd name="adj" fmla="val 3200"/>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screenshots/shot-search.png">    </p:cNvPr>
          <p:cNvPicPr>
            <a:picLocks noChangeAspect="1"/>
          </p:cNvPicPr>
          <p:nvPr/>
        </p:nvPicPr>
        <p:blipFill>
          <a:blip r:embed="rId1"/>
          <a:stretch>
            <a:fillRect/>
          </a:stretch>
        </p:blipFill>
        <p:spPr>
          <a:xfrm>
            <a:off x="640080" y="1371600"/>
            <a:ext cx="5770880" cy="3246120"/>
          </a:xfrm>
          <a:prstGeom prst="rect">
            <a:avLst/>
          </a:prstGeom>
        </p:spPr>
      </p:pic>
      <p:sp>
        <p:nvSpPr>
          <p:cNvPr id="5" name="Shape 2"/>
          <p:cNvSpPr/>
          <p:nvPr/>
        </p:nvSpPr>
        <p:spPr>
          <a:xfrm>
            <a:off x="548640" y="4846320"/>
            <a:ext cx="347472" cy="347472"/>
          </a:xfrm>
          <a:prstGeom prst="ellipse">
            <a:avLst/>
          </a:prstGeom>
          <a:solidFill>
            <a:srgbClr val="F4A62A"/>
          </a:solidFill>
          <a:ln/>
        </p:spPr>
      </p:sp>
      <p:sp>
        <p:nvSpPr>
          <p:cNvPr id="6" name="Text 3"/>
          <p:cNvSpPr txBox="1"/>
          <p:nvPr/>
        </p:nvSpPr>
        <p:spPr>
          <a:xfrm>
            <a:off x="548640" y="4846320"/>
            <a:ext cx="347472" cy="347472"/>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005840" y="4846320"/>
            <a:ext cx="5577840" cy="411480"/>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Search 'parser', any keyword: results with score and matched keywords</a:t>
            </a:r>
            <a:endParaRPr lang="en-US" sz="1300" dirty="0"/>
          </a:p>
        </p:txBody>
      </p:sp>
      <p:sp>
        <p:nvSpPr>
          <p:cNvPr id="8" name="Shape 5"/>
          <p:cNvSpPr/>
          <p:nvPr/>
        </p:nvSpPr>
        <p:spPr>
          <a:xfrm>
            <a:off x="6949440" y="1280160"/>
            <a:ext cx="4089862" cy="2331720"/>
          </a:xfrm>
          <a:prstGeom prst="roundRect">
            <a:avLst>
              <a:gd name="adj" fmla="val 4706"/>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9" name="Image 1" descr="/mnt/project-files/ppt/images/screenshots/shot-detail.png">    </p:cNvPr>
          <p:cNvPicPr>
            <a:picLocks noChangeAspect="1"/>
          </p:cNvPicPr>
          <p:nvPr/>
        </p:nvPicPr>
        <p:blipFill>
          <a:blip r:embed="rId2"/>
          <a:stretch>
            <a:fillRect/>
          </a:stretch>
        </p:blipFill>
        <p:spPr>
          <a:xfrm>
            <a:off x="7040880" y="1371600"/>
            <a:ext cx="3906982" cy="2148840"/>
          </a:xfrm>
          <a:prstGeom prst="rect">
            <a:avLst/>
          </a:prstGeom>
        </p:spPr>
      </p:pic>
      <p:sp>
        <p:nvSpPr>
          <p:cNvPr id="10" name="Shape 6"/>
          <p:cNvSpPr/>
          <p:nvPr/>
        </p:nvSpPr>
        <p:spPr>
          <a:xfrm>
            <a:off x="6949440" y="3703320"/>
            <a:ext cx="347472" cy="347472"/>
          </a:xfrm>
          <a:prstGeom prst="ellipse">
            <a:avLst/>
          </a:prstGeom>
          <a:solidFill>
            <a:srgbClr val="F4A62A"/>
          </a:solidFill>
          <a:ln/>
        </p:spPr>
      </p:sp>
      <p:sp>
        <p:nvSpPr>
          <p:cNvPr id="11" name="Text 7"/>
          <p:cNvSpPr txBox="1"/>
          <p:nvPr/>
        </p:nvSpPr>
        <p:spPr>
          <a:xfrm>
            <a:off x="6949440" y="3703320"/>
            <a:ext cx="347472" cy="347472"/>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7406640" y="3703320"/>
            <a:ext cx="4236415" cy="365760"/>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Open a result: details and counters, after pressing Use</a:t>
            </a:r>
            <a:endParaRPr lang="en-US" sz="1300" dirty="0"/>
          </a:p>
        </p:txBody>
      </p:sp>
      <p:sp>
        <p:nvSpPr>
          <p:cNvPr id="13" name="Shape 9"/>
          <p:cNvSpPr/>
          <p:nvPr/>
        </p:nvSpPr>
        <p:spPr>
          <a:xfrm>
            <a:off x="6949440" y="4206240"/>
            <a:ext cx="4232818" cy="1645920"/>
          </a:xfrm>
          <a:prstGeom prst="roundRect">
            <a:avLst>
              <a:gd name="adj" fmla="val 6667"/>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14" name="Image 2" descr="/mnt/project-files/ppt/images/screenshots/shot-browse.png">    </p:cNvPr>
          <p:cNvPicPr>
            <a:picLocks noChangeAspect="1"/>
          </p:cNvPicPr>
          <p:nvPr/>
        </p:nvPicPr>
        <p:blipFill>
          <a:blip r:embed="rId3"/>
          <a:stretch>
            <a:fillRect/>
          </a:stretch>
        </p:blipFill>
        <p:spPr>
          <a:xfrm>
            <a:off x="7040880" y="4297680"/>
            <a:ext cx="4049938" cy="1463040"/>
          </a:xfrm>
          <a:prstGeom prst="rect">
            <a:avLst/>
          </a:prstGeom>
        </p:spPr>
      </p:pic>
      <p:sp>
        <p:nvSpPr>
          <p:cNvPr id="15" name="Shape 10"/>
          <p:cNvSpPr/>
          <p:nvPr/>
        </p:nvSpPr>
        <p:spPr>
          <a:xfrm>
            <a:off x="6949440" y="5943600"/>
            <a:ext cx="347472" cy="347472"/>
          </a:xfrm>
          <a:prstGeom prst="ellipse">
            <a:avLst/>
          </a:prstGeom>
          <a:solidFill>
            <a:srgbClr val="F4A62A"/>
          </a:solidFill>
          <a:ln/>
        </p:spPr>
      </p:sp>
      <p:sp>
        <p:nvSpPr>
          <p:cNvPr id="16" name="Text 11"/>
          <p:cNvSpPr txBox="1"/>
          <p:nvPr/>
        </p:nvSpPr>
        <p:spPr>
          <a:xfrm>
            <a:off x="6949440" y="5943600"/>
            <a:ext cx="347472" cy="347472"/>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3</a:t>
            </a:r>
            <a:endParaRPr lang="en-US" sz="1500" dirty="0"/>
          </a:p>
        </p:txBody>
      </p:sp>
      <p:sp>
        <p:nvSpPr>
          <p:cNvPr id="17" name="Text 12"/>
          <p:cNvSpPr txBox="1"/>
          <p:nvPr/>
        </p:nvSpPr>
        <p:spPr>
          <a:xfrm>
            <a:off x="7406640" y="5943600"/>
            <a:ext cx="4236415" cy="365760"/>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Browse the tree: Design patterns &gt; Behavioural patterns</a:t>
            </a:r>
            <a:endParaRPr lang="en-US" sz="1300" dirty="0"/>
          </a:p>
        </p:txBody>
      </p:sp>
      <p:sp>
        <p:nvSpPr>
          <p:cNvPr id="18" name="Shape 13"/>
          <p:cNvSpPr/>
          <p:nvPr/>
        </p:nvSpPr>
        <p:spPr>
          <a:xfrm>
            <a:off x="548640" y="5440680"/>
            <a:ext cx="6035040" cy="548640"/>
          </a:xfrm>
          <a:prstGeom prst="roundRect">
            <a:avLst>
              <a:gd name="adj" fmla="val 20000"/>
            </a:avLst>
          </a:prstGeom>
          <a:solidFill>
            <a:srgbClr val="E8F3F2"/>
          </a:solidFill>
          <a:ln/>
          <a:effectLst>
            <a:outerShdw sx="100000" sy="100000" kx="0" ky="0" algn="bl" rotWithShape="0" blurRad="76200" dist="19050" dir="5400000">
              <a:srgbClr val="000000">
                <a:alpha val="12000"/>
              </a:srgbClr>
            </a:outerShdw>
          </a:effectLst>
        </p:spPr>
      </p:sp>
      <p:sp>
        <p:nvSpPr>
          <p:cNvPr id="19" name="Shape 14"/>
          <p:cNvSpPr/>
          <p:nvPr/>
        </p:nvSpPr>
        <p:spPr>
          <a:xfrm>
            <a:off x="658368" y="5532120"/>
            <a:ext cx="365760" cy="365760"/>
          </a:xfrm>
          <a:prstGeom prst="ellipse">
            <a:avLst/>
          </a:prstGeom>
          <a:solidFill>
            <a:srgbClr val="1F7A8C"/>
          </a:solidFill>
          <a:ln/>
        </p:spPr>
      </p:sp>
      <p:pic>
        <p:nvPicPr>
          <p:cNvPr id="20" name="Image 3" descr="preencoded.png">    </p:cNvPr>
          <p:cNvPicPr>
            <a:picLocks noChangeAspect="1"/>
          </p:cNvPicPr>
          <p:nvPr/>
        </p:nvPicPr>
        <p:blipFill>
          <a:blip r:embed="rId4"/>
          <a:stretch>
            <a:fillRect/>
          </a:stretch>
        </p:blipFill>
        <p:spPr>
          <a:xfrm>
            <a:off x="753466" y="5627218"/>
            <a:ext cx="175565" cy="175565"/>
          </a:xfrm>
          <a:prstGeom prst="rect">
            <a:avLst/>
          </a:prstGeom>
        </p:spPr>
      </p:pic>
      <p:sp>
        <p:nvSpPr>
          <p:cNvPr id="21" name="Text 15"/>
          <p:cNvSpPr txBox="1"/>
          <p:nvPr/>
        </p:nvSpPr>
        <p:spPr>
          <a:xfrm>
            <a:off x="1143000" y="5440680"/>
            <a:ext cx="5303520" cy="548640"/>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Counters change: hits-not-used goes down when the result is used.</a:t>
            </a:r>
            <a:endParaRPr lang="en-US" sz="1400" dirty="0"/>
          </a:p>
        </p:txBody>
      </p:sp>
      <p:sp>
        <p:nvSpPr>
          <p:cNvPr id="22" name="Text 1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23" name="Text 17"/>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Demo: the cataloguer keeps the catalogue clean</a:t>
            </a:r>
            <a:endParaRPr lang="en-US" sz="3200" dirty="0"/>
          </a:p>
        </p:txBody>
      </p:sp>
      <p:sp>
        <p:nvSpPr>
          <p:cNvPr id="3" name="Shape 1"/>
          <p:cNvSpPr/>
          <p:nvPr/>
        </p:nvSpPr>
        <p:spPr>
          <a:xfrm>
            <a:off x="548640" y="1280160"/>
            <a:ext cx="4277208" cy="2240280"/>
          </a:xfrm>
          <a:prstGeom prst="roundRect">
            <a:avLst>
              <a:gd name="adj" fmla="val 4898"/>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screenshots/shot-console-components.png">    </p:cNvPr>
          <p:cNvPicPr>
            <a:picLocks noChangeAspect="1"/>
          </p:cNvPicPr>
          <p:nvPr/>
        </p:nvPicPr>
        <p:blipFill>
          <a:blip r:embed="rId1"/>
          <a:stretch>
            <a:fillRect/>
          </a:stretch>
        </p:blipFill>
        <p:spPr>
          <a:xfrm>
            <a:off x="640080" y="1371600"/>
            <a:ext cx="4094328" cy="2057400"/>
          </a:xfrm>
          <a:prstGeom prst="rect">
            <a:avLst/>
          </a:prstGeom>
        </p:spPr>
      </p:pic>
      <p:sp>
        <p:nvSpPr>
          <p:cNvPr id="5" name="Shape 2"/>
          <p:cNvSpPr/>
          <p:nvPr/>
        </p:nvSpPr>
        <p:spPr>
          <a:xfrm>
            <a:off x="548640" y="3593592"/>
            <a:ext cx="329184" cy="329184"/>
          </a:xfrm>
          <a:prstGeom prst="ellipse">
            <a:avLst/>
          </a:prstGeom>
          <a:solidFill>
            <a:srgbClr val="F4A62A"/>
          </a:solidFill>
          <a:ln/>
        </p:spPr>
      </p:sp>
      <p:sp>
        <p:nvSpPr>
          <p:cNvPr id="6" name="Text 3"/>
          <p:cNvSpPr txBox="1"/>
          <p:nvPr/>
        </p:nvSpPr>
        <p:spPr>
          <a:xfrm>
            <a:off x="548640" y="3593592"/>
            <a:ext cx="329184" cy="32918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969264" y="3593592"/>
            <a:ext cx="4943704" cy="329184"/>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Add a component with keyword chips</a:t>
            </a:r>
            <a:endParaRPr lang="en-US" sz="1300" dirty="0"/>
          </a:p>
        </p:txBody>
      </p:sp>
      <p:sp>
        <p:nvSpPr>
          <p:cNvPr id="8" name="Shape 5"/>
          <p:cNvSpPr/>
          <p:nvPr/>
        </p:nvSpPr>
        <p:spPr>
          <a:xfrm>
            <a:off x="6278728" y="1280160"/>
            <a:ext cx="3840480" cy="2240280"/>
          </a:xfrm>
          <a:prstGeom prst="roundRect">
            <a:avLst>
              <a:gd name="adj" fmla="val 4898"/>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9" name="Image 1" descr="/mnt/project-files/ppt/images/screenshots/shot-reports.png">    </p:cNvPr>
          <p:cNvPicPr>
            <a:picLocks noChangeAspect="1"/>
          </p:cNvPicPr>
          <p:nvPr/>
        </p:nvPicPr>
        <p:blipFill>
          <a:blip r:embed="rId2"/>
          <a:stretch>
            <a:fillRect/>
          </a:stretch>
        </p:blipFill>
        <p:spPr>
          <a:xfrm>
            <a:off x="6370168" y="1371600"/>
            <a:ext cx="3657600" cy="2057400"/>
          </a:xfrm>
          <a:prstGeom prst="rect">
            <a:avLst/>
          </a:prstGeom>
        </p:spPr>
      </p:pic>
      <p:sp>
        <p:nvSpPr>
          <p:cNvPr id="10" name="Shape 6"/>
          <p:cNvSpPr/>
          <p:nvPr/>
        </p:nvSpPr>
        <p:spPr>
          <a:xfrm>
            <a:off x="6278728" y="3593592"/>
            <a:ext cx="329184" cy="329184"/>
          </a:xfrm>
          <a:prstGeom prst="ellipse">
            <a:avLst/>
          </a:prstGeom>
          <a:solidFill>
            <a:srgbClr val="F4A62A"/>
          </a:solidFill>
          <a:ln/>
        </p:spPr>
      </p:sp>
      <p:sp>
        <p:nvSpPr>
          <p:cNvPr id="11" name="Text 7"/>
          <p:cNvSpPr txBox="1"/>
          <p:nvPr/>
        </p:nvSpPr>
        <p:spPr>
          <a:xfrm>
            <a:off x="6278728" y="3593592"/>
            <a:ext cx="329184" cy="32918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699352" y="3593592"/>
            <a:ext cx="4943704" cy="329184"/>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Reports: totals, top used, never used</a:t>
            </a:r>
            <a:endParaRPr lang="en-US" sz="1300" dirty="0"/>
          </a:p>
        </p:txBody>
      </p:sp>
      <p:sp>
        <p:nvSpPr>
          <p:cNvPr id="13" name="Shape 9"/>
          <p:cNvSpPr/>
          <p:nvPr/>
        </p:nvSpPr>
        <p:spPr>
          <a:xfrm>
            <a:off x="548640" y="3977640"/>
            <a:ext cx="4457997" cy="1828800"/>
          </a:xfrm>
          <a:prstGeom prst="roundRect">
            <a:avLst>
              <a:gd name="adj" fmla="val 6000"/>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14" name="Image 2" descr="/mnt/project-files/ppt/images/screenshots/shot-purge.png">    </p:cNvPr>
          <p:cNvPicPr>
            <a:picLocks noChangeAspect="1"/>
          </p:cNvPicPr>
          <p:nvPr/>
        </p:nvPicPr>
        <p:blipFill>
          <a:blip r:embed="rId3"/>
          <a:stretch>
            <a:fillRect/>
          </a:stretch>
        </p:blipFill>
        <p:spPr>
          <a:xfrm>
            <a:off x="640080" y="4069080"/>
            <a:ext cx="4275117" cy="1645920"/>
          </a:xfrm>
          <a:prstGeom prst="rect">
            <a:avLst/>
          </a:prstGeom>
        </p:spPr>
      </p:pic>
      <p:sp>
        <p:nvSpPr>
          <p:cNvPr id="15" name="Shape 10"/>
          <p:cNvSpPr/>
          <p:nvPr/>
        </p:nvSpPr>
        <p:spPr>
          <a:xfrm>
            <a:off x="548640" y="5879592"/>
            <a:ext cx="329184" cy="329184"/>
          </a:xfrm>
          <a:prstGeom prst="ellipse">
            <a:avLst/>
          </a:prstGeom>
          <a:solidFill>
            <a:srgbClr val="F4A62A"/>
          </a:solidFill>
          <a:ln/>
        </p:spPr>
      </p:sp>
      <p:sp>
        <p:nvSpPr>
          <p:cNvPr id="16" name="Text 11"/>
          <p:cNvSpPr txBox="1"/>
          <p:nvPr/>
        </p:nvSpPr>
        <p:spPr>
          <a:xfrm>
            <a:off x="548640" y="5879592"/>
            <a:ext cx="329184" cy="32918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3</a:t>
            </a:r>
            <a:endParaRPr lang="en-US" sz="1500" dirty="0"/>
          </a:p>
        </p:txBody>
      </p:sp>
      <p:sp>
        <p:nvSpPr>
          <p:cNvPr id="17" name="Text 12"/>
          <p:cNvSpPr txBox="1"/>
          <p:nvPr/>
        </p:nvSpPr>
        <p:spPr>
          <a:xfrm>
            <a:off x="969264" y="5879592"/>
            <a:ext cx="4943704" cy="329184"/>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Purge: 3 old unused components found with the default criteria</a:t>
            </a:r>
            <a:endParaRPr lang="en-US" sz="1300" dirty="0"/>
          </a:p>
        </p:txBody>
      </p:sp>
      <p:sp>
        <p:nvSpPr>
          <p:cNvPr id="18" name="Shape 13"/>
          <p:cNvSpPr/>
          <p:nvPr/>
        </p:nvSpPr>
        <p:spPr>
          <a:xfrm>
            <a:off x="6278728" y="3977640"/>
            <a:ext cx="4651441" cy="1828800"/>
          </a:xfrm>
          <a:prstGeom prst="roundRect">
            <a:avLst>
              <a:gd name="adj" fmla="val 6000"/>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19" name="Image 3" descr="/mnt/project-files/ppt/images/screenshots/shot-audit.png">    </p:cNvPr>
          <p:cNvPicPr>
            <a:picLocks noChangeAspect="1"/>
          </p:cNvPicPr>
          <p:nvPr/>
        </p:nvPicPr>
        <p:blipFill>
          <a:blip r:embed="rId4"/>
          <a:stretch>
            <a:fillRect/>
          </a:stretch>
        </p:blipFill>
        <p:spPr>
          <a:xfrm>
            <a:off x="6370168" y="4069080"/>
            <a:ext cx="4468561" cy="1645920"/>
          </a:xfrm>
          <a:prstGeom prst="rect">
            <a:avLst/>
          </a:prstGeom>
        </p:spPr>
      </p:pic>
      <p:sp>
        <p:nvSpPr>
          <p:cNvPr id="20" name="Shape 14"/>
          <p:cNvSpPr/>
          <p:nvPr/>
        </p:nvSpPr>
        <p:spPr>
          <a:xfrm>
            <a:off x="6278728" y="5879592"/>
            <a:ext cx="329184" cy="329184"/>
          </a:xfrm>
          <a:prstGeom prst="ellipse">
            <a:avLst/>
          </a:prstGeom>
          <a:solidFill>
            <a:srgbClr val="F4A62A"/>
          </a:solidFill>
          <a:ln/>
        </p:spPr>
      </p:sp>
      <p:sp>
        <p:nvSpPr>
          <p:cNvPr id="21" name="Text 15"/>
          <p:cNvSpPr txBox="1"/>
          <p:nvPr/>
        </p:nvSpPr>
        <p:spPr>
          <a:xfrm>
            <a:off x="6278728" y="5879592"/>
            <a:ext cx="329184" cy="329184"/>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4</a:t>
            </a:r>
            <a:endParaRPr lang="en-US" sz="1500" dirty="0"/>
          </a:p>
        </p:txBody>
      </p:sp>
      <p:sp>
        <p:nvSpPr>
          <p:cNvPr id="22" name="Text 16"/>
          <p:cNvSpPr txBox="1"/>
          <p:nvPr/>
        </p:nvSpPr>
        <p:spPr>
          <a:xfrm>
            <a:off x="6699352" y="5879592"/>
            <a:ext cx="4943704" cy="329184"/>
          </a:xfrm>
          <a:prstGeom prst="rect">
            <a:avLst/>
          </a:prstGeom>
          <a:noFill/>
          <a:ln/>
        </p:spPr>
        <p:txBody>
          <a:bodyPr wrap="square" lIns="0" tIns="0" rIns="0" bIns="0" rtlCol="0" anchor="ctr"/>
          <a:lstStyle/>
          <a:p>
            <a:pPr indent="0" marL="0">
              <a:buNone/>
            </a:pPr>
            <a:r>
              <a:rPr lang="en-US" sz="1300" dirty="0">
                <a:solidFill>
                  <a:srgbClr val="10262B"/>
                </a:solidFill>
                <a:latin typeface="Calibri" pitchFamily="34" charset="0"/>
                <a:ea typeface="Calibri" pitchFamily="34" charset="-122"/>
                <a:cs typeface="Calibri" pitchFamily="34" charset="-120"/>
              </a:rPr>
              <a:t>Audit log: every change recorded</a:t>
            </a:r>
            <a:endParaRPr lang="en-US" sz="1300" dirty="0"/>
          </a:p>
        </p:txBody>
      </p:sp>
      <p:sp>
        <p:nvSpPr>
          <p:cNvPr id="23" name="Text 1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24" name="Text 18"/>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61 automated tests, 9 end-to-end scenarios, CI green</a:t>
            </a:r>
            <a:endParaRPr lang="en-US" sz="3200" dirty="0"/>
          </a:p>
        </p:txBody>
      </p:sp>
      <p:sp>
        <p:nvSpPr>
          <p:cNvPr id="3" name="Shape 1"/>
          <p:cNvSpPr/>
          <p:nvPr/>
        </p:nvSpPr>
        <p:spPr>
          <a:xfrm>
            <a:off x="548640" y="1280160"/>
            <a:ext cx="2567864" cy="1325880"/>
          </a:xfrm>
          <a:prstGeom prst="roundRect">
            <a:avLst>
              <a:gd name="adj" fmla="val 8276"/>
            </a:avLst>
          </a:prstGeom>
          <a:solidFill>
            <a:srgbClr val="0B3C49"/>
          </a:solidFill>
          <a:ln/>
          <a:effectLst>
            <a:outerShdw sx="100000" sy="100000" kx="0" ky="0" algn="bl" rotWithShape="0" blurRad="76200" dist="19050" dir="5400000">
              <a:srgbClr val="000000">
                <a:alpha val="12000"/>
              </a:srgbClr>
            </a:outerShdw>
          </a:effectLst>
        </p:spPr>
      </p:sp>
      <p:sp>
        <p:nvSpPr>
          <p:cNvPr id="4" name="Text 2"/>
          <p:cNvSpPr txBox="1"/>
          <p:nvPr/>
        </p:nvSpPr>
        <p:spPr>
          <a:xfrm>
            <a:off x="731520" y="1325880"/>
            <a:ext cx="2202104" cy="777240"/>
          </a:xfrm>
          <a:prstGeom prst="rect">
            <a:avLst/>
          </a:prstGeom>
          <a:noFill/>
          <a:ln/>
        </p:spPr>
        <p:txBody>
          <a:bodyPr wrap="square" lIns="0" tIns="0" rIns="0" bIns="0" rtlCol="0" anchor="ctr"/>
          <a:lstStyle/>
          <a:p>
            <a:pPr indent="0" marL="0">
              <a:buNone/>
            </a:pPr>
            <a:r>
              <a:rPr lang="en-US" sz="4400" b="1" dirty="0">
                <a:solidFill>
                  <a:srgbClr val="F4A62A"/>
                </a:solidFill>
                <a:latin typeface="Cambria" pitchFamily="34" charset="0"/>
                <a:ea typeface="Cambria" pitchFamily="34" charset="-122"/>
                <a:cs typeface="Cambria" pitchFamily="34" charset="-120"/>
              </a:rPr>
              <a:t>61</a:t>
            </a:r>
            <a:endParaRPr lang="en-US" sz="4400" dirty="0"/>
          </a:p>
        </p:txBody>
      </p:sp>
      <p:sp>
        <p:nvSpPr>
          <p:cNvPr id="5" name="Text 3"/>
          <p:cNvSpPr txBox="1"/>
          <p:nvPr/>
        </p:nvSpPr>
        <p:spPr>
          <a:xfrm>
            <a:off x="731520" y="2057400"/>
            <a:ext cx="2202104" cy="5029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unit and integration tests</a:t>
            </a:r>
            <a:endParaRPr lang="en-US" sz="1300" dirty="0"/>
          </a:p>
        </p:txBody>
      </p:sp>
      <p:sp>
        <p:nvSpPr>
          <p:cNvPr id="6" name="Shape 4"/>
          <p:cNvSpPr/>
          <p:nvPr/>
        </p:nvSpPr>
        <p:spPr>
          <a:xfrm>
            <a:off x="3390824" y="1280160"/>
            <a:ext cx="2567864" cy="1325880"/>
          </a:xfrm>
          <a:prstGeom prst="roundRect">
            <a:avLst>
              <a:gd name="adj" fmla="val 8276"/>
            </a:avLst>
          </a:prstGeom>
          <a:solidFill>
            <a:srgbClr val="0B3C49"/>
          </a:solidFill>
          <a:ln/>
          <a:effectLst>
            <a:outerShdw sx="100000" sy="100000" kx="0" ky="0" algn="bl" rotWithShape="0" blurRad="76200" dist="19050" dir="5400000">
              <a:srgbClr val="000000">
                <a:alpha val="12000"/>
              </a:srgbClr>
            </a:outerShdw>
          </a:effectLst>
        </p:spPr>
      </p:sp>
      <p:sp>
        <p:nvSpPr>
          <p:cNvPr id="7" name="Text 5"/>
          <p:cNvSpPr txBox="1"/>
          <p:nvPr/>
        </p:nvSpPr>
        <p:spPr>
          <a:xfrm>
            <a:off x="3573704" y="1325880"/>
            <a:ext cx="2202104" cy="777240"/>
          </a:xfrm>
          <a:prstGeom prst="rect">
            <a:avLst/>
          </a:prstGeom>
          <a:noFill/>
          <a:ln/>
        </p:spPr>
        <p:txBody>
          <a:bodyPr wrap="square" lIns="0" tIns="0" rIns="0" bIns="0" rtlCol="0" anchor="ctr"/>
          <a:lstStyle/>
          <a:p>
            <a:pPr indent="0" marL="0">
              <a:buNone/>
            </a:pPr>
            <a:r>
              <a:rPr lang="en-US" sz="4400" b="1" dirty="0">
                <a:solidFill>
                  <a:srgbClr val="F4A62A"/>
                </a:solidFill>
                <a:latin typeface="Cambria" pitchFamily="34" charset="0"/>
                <a:ea typeface="Cambria" pitchFamily="34" charset="-122"/>
                <a:cs typeface="Cambria" pitchFamily="34" charset="-120"/>
              </a:rPr>
              <a:t>9</a:t>
            </a:r>
            <a:endParaRPr lang="en-US" sz="4400" dirty="0"/>
          </a:p>
        </p:txBody>
      </p:sp>
      <p:sp>
        <p:nvSpPr>
          <p:cNvPr id="8" name="Text 6"/>
          <p:cNvSpPr txBox="1"/>
          <p:nvPr/>
        </p:nvSpPr>
        <p:spPr>
          <a:xfrm>
            <a:off x="3573704" y="2057400"/>
            <a:ext cx="2202104" cy="5029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end-to-end scenarios</a:t>
            </a:r>
            <a:endParaRPr lang="en-US" sz="1300" dirty="0"/>
          </a:p>
        </p:txBody>
      </p:sp>
      <p:sp>
        <p:nvSpPr>
          <p:cNvPr id="9" name="Shape 7"/>
          <p:cNvSpPr/>
          <p:nvPr/>
        </p:nvSpPr>
        <p:spPr>
          <a:xfrm>
            <a:off x="6233008" y="1280160"/>
            <a:ext cx="2567864" cy="1325880"/>
          </a:xfrm>
          <a:prstGeom prst="roundRect">
            <a:avLst>
              <a:gd name="adj" fmla="val 8276"/>
            </a:avLst>
          </a:prstGeom>
          <a:solidFill>
            <a:srgbClr val="0B3C49"/>
          </a:solidFill>
          <a:ln/>
          <a:effectLst>
            <a:outerShdw sx="100000" sy="100000" kx="0" ky="0" algn="bl" rotWithShape="0" blurRad="76200" dist="19050" dir="5400000">
              <a:srgbClr val="000000">
                <a:alpha val="12000"/>
              </a:srgbClr>
            </a:outerShdw>
          </a:effectLst>
        </p:spPr>
      </p:sp>
      <p:sp>
        <p:nvSpPr>
          <p:cNvPr id="10" name="Text 8"/>
          <p:cNvSpPr txBox="1"/>
          <p:nvPr/>
        </p:nvSpPr>
        <p:spPr>
          <a:xfrm>
            <a:off x="6415888" y="1325880"/>
            <a:ext cx="2202104" cy="777240"/>
          </a:xfrm>
          <a:prstGeom prst="rect">
            <a:avLst/>
          </a:prstGeom>
          <a:noFill/>
          <a:ln/>
        </p:spPr>
        <p:txBody>
          <a:bodyPr wrap="square" lIns="0" tIns="0" rIns="0" bIns="0" rtlCol="0" anchor="ctr"/>
          <a:lstStyle/>
          <a:p>
            <a:pPr indent="0" marL="0">
              <a:buNone/>
            </a:pPr>
            <a:r>
              <a:rPr lang="en-US" sz="4400" b="1" dirty="0">
                <a:solidFill>
                  <a:srgbClr val="F4A62A"/>
                </a:solidFill>
                <a:latin typeface="Cambria" pitchFamily="34" charset="0"/>
                <a:ea typeface="Cambria" pitchFamily="34" charset="-122"/>
                <a:cs typeface="Cambria" pitchFamily="34" charset="-120"/>
              </a:rPr>
              <a:t>98%</a:t>
            </a:r>
            <a:endParaRPr lang="en-US" sz="4400" dirty="0"/>
          </a:p>
        </p:txBody>
      </p:sp>
      <p:sp>
        <p:nvSpPr>
          <p:cNvPr id="11" name="Text 9"/>
          <p:cNvSpPr txBox="1"/>
          <p:nvPr/>
        </p:nvSpPr>
        <p:spPr>
          <a:xfrm>
            <a:off x="6415888" y="2057400"/>
            <a:ext cx="2202104" cy="5029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line coverage of the API</a:t>
            </a:r>
            <a:endParaRPr lang="en-US" sz="1300" dirty="0"/>
          </a:p>
        </p:txBody>
      </p:sp>
      <p:sp>
        <p:nvSpPr>
          <p:cNvPr id="12" name="Shape 10"/>
          <p:cNvSpPr/>
          <p:nvPr/>
        </p:nvSpPr>
        <p:spPr>
          <a:xfrm>
            <a:off x="9075191" y="1280160"/>
            <a:ext cx="2567864" cy="1325880"/>
          </a:xfrm>
          <a:prstGeom prst="roundRect">
            <a:avLst>
              <a:gd name="adj" fmla="val 8276"/>
            </a:avLst>
          </a:prstGeom>
          <a:solidFill>
            <a:srgbClr val="0B3C49"/>
          </a:solidFill>
          <a:ln/>
          <a:effectLst>
            <a:outerShdw sx="100000" sy="100000" kx="0" ky="0" algn="bl" rotWithShape="0" blurRad="76200" dist="19050" dir="5400000">
              <a:srgbClr val="000000">
                <a:alpha val="12000"/>
              </a:srgbClr>
            </a:outerShdw>
          </a:effectLst>
        </p:spPr>
      </p:sp>
      <p:sp>
        <p:nvSpPr>
          <p:cNvPr id="13" name="Text 11"/>
          <p:cNvSpPr txBox="1"/>
          <p:nvPr/>
        </p:nvSpPr>
        <p:spPr>
          <a:xfrm>
            <a:off x="9258071" y="1325880"/>
            <a:ext cx="2202104" cy="777240"/>
          </a:xfrm>
          <a:prstGeom prst="rect">
            <a:avLst/>
          </a:prstGeom>
          <a:noFill/>
          <a:ln/>
        </p:spPr>
        <p:txBody>
          <a:bodyPr wrap="square" lIns="0" tIns="0" rIns="0" bIns="0" rtlCol="0" anchor="ctr"/>
          <a:lstStyle/>
          <a:p>
            <a:pPr indent="0" marL="0">
              <a:buNone/>
            </a:pPr>
            <a:r>
              <a:rPr lang="en-US" sz="4400" b="1" dirty="0">
                <a:solidFill>
                  <a:srgbClr val="F4A62A"/>
                </a:solidFill>
                <a:latin typeface="Cambria" pitchFamily="34" charset="0"/>
                <a:ea typeface="Cambria" pitchFamily="34" charset="-122"/>
                <a:cs typeface="Cambria" pitchFamily="34" charset="-120"/>
              </a:rPr>
              <a:t>48</a:t>
            </a:r>
            <a:endParaRPr lang="en-US" sz="4400" dirty="0"/>
          </a:p>
        </p:txBody>
      </p:sp>
      <p:sp>
        <p:nvSpPr>
          <p:cNvPr id="14" name="Text 12"/>
          <p:cNvSpPr txBox="1"/>
          <p:nvPr/>
        </p:nvSpPr>
        <p:spPr>
          <a:xfrm>
            <a:off x="9258071" y="2057400"/>
            <a:ext cx="2202104" cy="5029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numbered test cases traced to requirements</a:t>
            </a:r>
            <a:endParaRPr lang="en-US" sz="1300" dirty="0"/>
          </a:p>
        </p:txBody>
      </p:sp>
      <p:sp>
        <p:nvSpPr>
          <p:cNvPr id="15" name="Shape 13"/>
          <p:cNvSpPr/>
          <p:nvPr/>
        </p:nvSpPr>
        <p:spPr>
          <a:xfrm>
            <a:off x="548640" y="2834640"/>
            <a:ext cx="3515258" cy="3017520"/>
          </a:xfrm>
          <a:prstGeom prst="roundRect">
            <a:avLst>
              <a:gd name="adj" fmla="val 3636"/>
            </a:avLst>
          </a:prstGeom>
          <a:solidFill>
            <a:srgbClr val="E8F3F2"/>
          </a:solidFill>
          <a:ln/>
          <a:effectLst>
            <a:outerShdw sx="100000" sy="100000" kx="0" ky="0" algn="bl" rotWithShape="0" blurRad="76200" dist="19050" dir="5400000">
              <a:srgbClr val="000000">
                <a:alpha val="12000"/>
              </a:srgbClr>
            </a:outerShdw>
          </a:effectLst>
        </p:spPr>
      </p:sp>
      <p:sp>
        <p:nvSpPr>
          <p:cNvPr id="16" name="Shape 14"/>
          <p:cNvSpPr/>
          <p:nvPr/>
        </p:nvSpPr>
        <p:spPr>
          <a:xfrm>
            <a:off x="713232" y="2971800"/>
            <a:ext cx="384048" cy="384048"/>
          </a:xfrm>
          <a:prstGeom prst="ellipse">
            <a:avLst/>
          </a:prstGeom>
          <a:solidFill>
            <a:srgbClr val="1F7A8C"/>
          </a:solidFill>
          <a:ln/>
        </p:spPr>
      </p:sp>
      <p:pic>
        <p:nvPicPr>
          <p:cNvPr id="17" name="Image 0" descr="preencoded.png">    </p:cNvPr>
          <p:cNvPicPr>
            <a:picLocks noChangeAspect="1"/>
          </p:cNvPicPr>
          <p:nvPr/>
        </p:nvPicPr>
        <p:blipFill>
          <a:blip r:embed="rId1"/>
          <a:stretch>
            <a:fillRect/>
          </a:stretch>
        </p:blipFill>
        <p:spPr>
          <a:xfrm>
            <a:off x="813084" y="3071652"/>
            <a:ext cx="184343" cy="184343"/>
          </a:xfrm>
          <a:prstGeom prst="rect">
            <a:avLst/>
          </a:prstGeom>
        </p:spPr>
      </p:pic>
      <p:sp>
        <p:nvSpPr>
          <p:cNvPr id="18" name="Text 15"/>
          <p:cNvSpPr txBox="1"/>
          <p:nvPr/>
        </p:nvSpPr>
        <p:spPr>
          <a:xfrm>
            <a:off x="1207008" y="2971800"/>
            <a:ext cx="2692298" cy="384048"/>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Levels</a:t>
            </a:r>
            <a:endParaRPr lang="en-US" sz="1600" dirty="0"/>
          </a:p>
        </p:txBody>
      </p:sp>
      <p:sp>
        <p:nvSpPr>
          <p:cNvPr id="19" name="Text 16"/>
          <p:cNvSpPr txBox="1"/>
          <p:nvPr/>
        </p:nvSpPr>
        <p:spPr>
          <a:xfrm>
            <a:off x="713232" y="3474720"/>
            <a:ext cx="3186074" cy="22860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Unit: shared schemas, ranking</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Integration: API with Supertest against a real PostgreSQL</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End-to-end: Playwright, 3 user journeys, 5 axe scans, keyboard search</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Performance: T-40, ranking only</a:t>
            </a:r>
            <a:endParaRPr lang="en-US" sz="1400" dirty="0"/>
          </a:p>
        </p:txBody>
      </p:sp>
      <p:sp>
        <p:nvSpPr>
          <p:cNvPr id="20" name="Shape 17"/>
          <p:cNvSpPr/>
          <p:nvPr/>
        </p:nvSpPr>
        <p:spPr>
          <a:xfrm>
            <a:off x="4338218" y="2834640"/>
            <a:ext cx="3515258" cy="3017520"/>
          </a:xfrm>
          <a:prstGeom prst="roundRect">
            <a:avLst>
              <a:gd name="adj" fmla="val 3636"/>
            </a:avLst>
          </a:prstGeom>
          <a:solidFill>
            <a:srgbClr val="E8F3F2"/>
          </a:solidFill>
          <a:ln/>
          <a:effectLst>
            <a:outerShdw sx="100000" sy="100000" kx="0" ky="0" algn="bl" rotWithShape="0" blurRad="76200" dist="19050" dir="5400000">
              <a:srgbClr val="000000">
                <a:alpha val="12000"/>
              </a:srgbClr>
            </a:outerShdw>
          </a:effectLst>
        </p:spPr>
      </p:sp>
      <p:sp>
        <p:nvSpPr>
          <p:cNvPr id="21" name="Shape 18"/>
          <p:cNvSpPr/>
          <p:nvPr/>
        </p:nvSpPr>
        <p:spPr>
          <a:xfrm>
            <a:off x="4502810" y="2971800"/>
            <a:ext cx="384048" cy="384048"/>
          </a:xfrm>
          <a:prstGeom prst="ellipse">
            <a:avLst/>
          </a:prstGeom>
          <a:solidFill>
            <a:srgbClr val="1F7A8C"/>
          </a:solidFill>
          <a:ln/>
        </p:spPr>
      </p:sp>
      <p:pic>
        <p:nvPicPr>
          <p:cNvPr id="22" name="Image 1" descr="preencoded.png">    </p:cNvPr>
          <p:cNvPicPr>
            <a:picLocks noChangeAspect="1"/>
          </p:cNvPicPr>
          <p:nvPr/>
        </p:nvPicPr>
        <p:blipFill>
          <a:blip r:embed="rId2"/>
          <a:stretch>
            <a:fillRect/>
          </a:stretch>
        </p:blipFill>
        <p:spPr>
          <a:xfrm>
            <a:off x="4602663" y="3071652"/>
            <a:ext cx="184343" cy="184343"/>
          </a:xfrm>
          <a:prstGeom prst="rect">
            <a:avLst/>
          </a:prstGeom>
        </p:spPr>
      </p:pic>
      <p:sp>
        <p:nvSpPr>
          <p:cNvPr id="23" name="Text 19"/>
          <p:cNvSpPr txBox="1"/>
          <p:nvPr/>
        </p:nvSpPr>
        <p:spPr>
          <a:xfrm>
            <a:off x="4996586" y="2971800"/>
            <a:ext cx="2692298" cy="384048"/>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Techniques</a:t>
            </a:r>
            <a:endParaRPr lang="en-US" sz="1600" dirty="0"/>
          </a:p>
        </p:txBody>
      </p:sp>
      <p:sp>
        <p:nvSpPr>
          <p:cNvPr id="24" name="Text 20"/>
          <p:cNvSpPr txBox="1"/>
          <p:nvPr/>
        </p:nvSpPr>
        <p:spPr>
          <a:xfrm>
            <a:off x="4502810" y="3474720"/>
            <a:ext cx="3186074" cy="22860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0262B"/>
                </a:solidFill>
                <a:latin typeface="Calibri" pitchFamily="34" charset="0"/>
                <a:ea typeface="Calibri" pitchFamily="34" charset="-122"/>
                <a:cs typeface="Calibri" pitchFamily="34" charset="-120"/>
              </a:rPr>
              <a:t>Black-box: equivalence classes and boundary values (keywords 0, 1, 10, 11; term length 0, 1, 50, 51; page size 0, 1, 50, 51; purge thresholds at the boundary)</a:t>
            </a:r>
            <a:endParaRPr lang="en-US" sz="1300" dirty="0"/>
          </a:p>
          <a:p>
            <a:pPr marL="177800" indent="-177800">
              <a:spcAft>
                <a:spcPts val="500"/>
              </a:spcAft>
              <a:buSzPct val="100000"/>
              <a:buChar char="•"/>
            </a:pPr>
            <a:r>
              <a:rPr lang="en-US" sz="1300" dirty="0">
                <a:solidFill>
                  <a:srgbClr val="10262B"/>
                </a:solidFill>
                <a:latin typeface="Calibri" pitchFamily="34" charset="0"/>
                <a:ea typeface="Calibri" pitchFamily="34" charset="-122"/>
                <a:cs typeface="Calibri" pitchFamily="34" charset="-120"/>
              </a:rPr>
              <a:t>White-box: branch coverage of ranking, the use flow (4 paths), category delete and cycle rules</a:t>
            </a:r>
            <a:endParaRPr lang="en-US" sz="1300" dirty="0"/>
          </a:p>
          <a:p>
            <a:pPr marL="177800" indent="-177800">
              <a:spcAft>
                <a:spcPts val="500"/>
              </a:spcAft>
              <a:buSzPct val="100000"/>
              <a:buChar char="•"/>
            </a:pPr>
            <a:r>
              <a:rPr lang="en-US" sz="1300" dirty="0">
                <a:solidFill>
                  <a:srgbClr val="10262B"/>
                </a:solidFill>
                <a:latin typeface="Calibri" pitchFamily="34" charset="0"/>
                <a:ea typeface="Calibri" pitchFamily="34" charset="-122"/>
                <a:cs typeface="Calibri" pitchFamily="34" charset="-120"/>
              </a:rPr>
              <a:t>A forced failure inside a transaction leaves no partial data</a:t>
            </a:r>
            <a:endParaRPr lang="en-US" sz="1300" dirty="0"/>
          </a:p>
        </p:txBody>
      </p:sp>
      <p:sp>
        <p:nvSpPr>
          <p:cNvPr id="25" name="Shape 21"/>
          <p:cNvSpPr/>
          <p:nvPr/>
        </p:nvSpPr>
        <p:spPr>
          <a:xfrm>
            <a:off x="8127797" y="2834640"/>
            <a:ext cx="3515258" cy="3017520"/>
          </a:xfrm>
          <a:prstGeom prst="roundRect">
            <a:avLst>
              <a:gd name="adj" fmla="val 3636"/>
            </a:avLst>
          </a:prstGeom>
          <a:solidFill>
            <a:srgbClr val="E8F3F2"/>
          </a:solidFill>
          <a:ln/>
          <a:effectLst>
            <a:outerShdw sx="100000" sy="100000" kx="0" ky="0" algn="bl" rotWithShape="0" blurRad="76200" dist="19050" dir="5400000">
              <a:srgbClr val="000000">
                <a:alpha val="12000"/>
              </a:srgbClr>
            </a:outerShdw>
          </a:effectLst>
        </p:spPr>
      </p:sp>
      <p:sp>
        <p:nvSpPr>
          <p:cNvPr id="26" name="Shape 22"/>
          <p:cNvSpPr/>
          <p:nvPr/>
        </p:nvSpPr>
        <p:spPr>
          <a:xfrm>
            <a:off x="8292389" y="2971800"/>
            <a:ext cx="384048" cy="384048"/>
          </a:xfrm>
          <a:prstGeom prst="ellipse">
            <a:avLst/>
          </a:prstGeom>
          <a:solidFill>
            <a:srgbClr val="1F7A8C"/>
          </a:solidFill>
          <a:ln/>
        </p:spPr>
      </p:sp>
      <p:pic>
        <p:nvPicPr>
          <p:cNvPr id="27" name="Image 2" descr="preencoded.png">    </p:cNvPr>
          <p:cNvPicPr>
            <a:picLocks noChangeAspect="1"/>
          </p:cNvPicPr>
          <p:nvPr/>
        </p:nvPicPr>
        <p:blipFill>
          <a:blip r:embed="rId3"/>
          <a:stretch>
            <a:fillRect/>
          </a:stretch>
        </p:blipFill>
        <p:spPr>
          <a:xfrm>
            <a:off x="8392241" y="3071652"/>
            <a:ext cx="184343" cy="184343"/>
          </a:xfrm>
          <a:prstGeom prst="rect">
            <a:avLst/>
          </a:prstGeom>
        </p:spPr>
      </p:pic>
      <p:sp>
        <p:nvSpPr>
          <p:cNvPr id="28" name="Text 23"/>
          <p:cNvSpPr txBox="1"/>
          <p:nvPr/>
        </p:nvSpPr>
        <p:spPr>
          <a:xfrm>
            <a:off x="8786165" y="2971800"/>
            <a:ext cx="2692298" cy="384048"/>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Also checked</a:t>
            </a:r>
            <a:endParaRPr lang="en-US" sz="1600" dirty="0"/>
          </a:p>
        </p:txBody>
      </p:sp>
      <p:sp>
        <p:nvSpPr>
          <p:cNvPr id="29" name="Text 24"/>
          <p:cNvSpPr txBox="1"/>
          <p:nvPr/>
        </p:nvSpPr>
        <p:spPr>
          <a:xfrm>
            <a:off x="8292389" y="3474720"/>
            <a:ext cx="3186074" cy="22860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Role checks</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Passwords hashed</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JWT secret required</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Login rate limit</a:t>
            </a:r>
            <a:endParaRPr lang="en-US" sz="1400" dirty="0"/>
          </a:p>
          <a:p>
            <a:pPr marL="177800" indent="-177800">
              <a:spcAft>
                <a:spcPts val="500"/>
              </a:spcAft>
              <a:buSzPct val="100000"/>
              <a:buChar char="•"/>
            </a:pPr>
            <a:r>
              <a:rPr lang="en-US" sz="1400" dirty="0">
                <a:solidFill>
                  <a:srgbClr val="10262B"/>
                </a:solidFill>
                <a:latin typeface="Calibri" pitchFamily="34" charset="0"/>
                <a:ea typeface="Calibri" pitchFamily="34" charset="-122"/>
                <a:cs typeface="Calibri" pitchFamily="34" charset="-120"/>
              </a:rPr>
              <a:t>CORS</a:t>
            </a:r>
            <a:endParaRPr lang="en-US" sz="1400" dirty="0"/>
          </a:p>
        </p:txBody>
      </p:sp>
      <p:sp>
        <p:nvSpPr>
          <p:cNvPr id="30" name="Text 25"/>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200" dirty="0">
                <a:solidFill>
                  <a:srgbClr val="5A7177"/>
                </a:solidFill>
                <a:latin typeface="Calibri" pitchFamily="34" charset="0"/>
                <a:ea typeface="Calibri" pitchFamily="34" charset="-122"/>
                <a:cs typeface="Calibri" pitchFamily="34" charset="-120"/>
              </a:rPr>
              <a:t>Not covered: web unit tests, console accessibility, 360 px layout, load tests.</a:t>
            </a:r>
            <a:endParaRPr lang="en-US" sz="1200" dirty="0"/>
          </a:p>
        </p:txBody>
      </p:sp>
      <p:sp>
        <p:nvSpPr>
          <p:cNvPr id="31" name="Text 2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32" name="Text 27"/>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What it does not do yet</a:t>
            </a:r>
            <a:endParaRPr lang="en-US" sz="3200" dirty="0"/>
          </a:p>
        </p:txBody>
      </p:sp>
      <p:sp>
        <p:nvSpPr>
          <p:cNvPr id="3" name="Shape 1"/>
          <p:cNvSpPr/>
          <p:nvPr/>
        </p:nvSpPr>
        <p:spPr>
          <a:xfrm>
            <a:off x="548640" y="1280160"/>
            <a:ext cx="6400800" cy="4937760"/>
          </a:xfrm>
          <a:prstGeom prst="roundRect">
            <a:avLst>
              <a:gd name="adj" fmla="val 2222"/>
            </a:avLst>
          </a:prstGeom>
          <a:solidFill>
            <a:srgbClr val="E8F3F2"/>
          </a:solidFill>
          <a:ln/>
          <a:effectLst>
            <a:outerShdw sx="100000" sy="100000" kx="0" ky="0" algn="bl" rotWithShape="0" blurRad="76200" dist="19050" dir="5400000">
              <a:srgbClr val="000000">
                <a:alpha val="12000"/>
              </a:srgbClr>
            </a:outerShdw>
          </a:effectLst>
        </p:spPr>
      </p:sp>
      <p:sp>
        <p:nvSpPr>
          <p:cNvPr id="4" name="Text 2"/>
          <p:cNvSpPr txBox="1"/>
          <p:nvPr/>
        </p:nvSpPr>
        <p:spPr>
          <a:xfrm>
            <a:off x="777240" y="1417320"/>
            <a:ext cx="3657600" cy="411480"/>
          </a:xfrm>
          <a:prstGeom prst="rect">
            <a:avLst/>
          </a:prstGeom>
          <a:noFill/>
          <a:ln/>
        </p:spPr>
        <p:txBody>
          <a:bodyPr wrap="square" lIns="0" tIns="0" rIns="0" bIns="0" rtlCol="0" anchor="t"/>
          <a:lstStyle/>
          <a:p>
            <a:pPr indent="0" marL="0">
              <a:buNone/>
            </a:pPr>
            <a:r>
              <a:rPr lang="en-US" sz="1800" b="1" dirty="0">
                <a:solidFill>
                  <a:srgbClr val="0B3C49"/>
                </a:solidFill>
                <a:latin typeface="Calibri" pitchFamily="34" charset="0"/>
                <a:ea typeface="Calibri" pitchFamily="34" charset="-122"/>
                <a:cs typeface="Calibri" pitchFamily="34" charset="-120"/>
              </a:rPr>
              <a:t>Limitations</a:t>
            </a:r>
            <a:endParaRPr lang="en-US" sz="1800" dirty="0"/>
          </a:p>
        </p:txBody>
      </p:sp>
      <p:sp>
        <p:nvSpPr>
          <p:cNvPr id="5" name="Shape 3"/>
          <p:cNvSpPr/>
          <p:nvPr/>
        </p:nvSpPr>
        <p:spPr>
          <a:xfrm>
            <a:off x="777240" y="1965960"/>
            <a:ext cx="347472" cy="347472"/>
          </a:xfrm>
          <a:prstGeom prst="ellipse">
            <a:avLst/>
          </a:prstGeom>
          <a:solidFill>
            <a:srgbClr val="1F7A8C"/>
          </a:solidFill>
          <a:ln/>
        </p:spPr>
      </p:sp>
      <p:pic>
        <p:nvPicPr>
          <p:cNvPr id="6" name="Image 0" descr="preencoded.png">    </p:cNvPr>
          <p:cNvPicPr>
            <a:picLocks noChangeAspect="1"/>
          </p:cNvPicPr>
          <p:nvPr/>
        </p:nvPicPr>
        <p:blipFill>
          <a:blip r:embed="rId1"/>
          <a:stretch>
            <a:fillRect/>
          </a:stretch>
        </p:blipFill>
        <p:spPr>
          <a:xfrm>
            <a:off x="867583" y="2056303"/>
            <a:ext cx="166787" cy="166787"/>
          </a:xfrm>
          <a:prstGeom prst="rect">
            <a:avLst/>
          </a:prstGeom>
        </p:spPr>
      </p:pic>
      <p:sp>
        <p:nvSpPr>
          <p:cNvPr id="7" name="Text 4"/>
          <p:cNvSpPr txBox="1"/>
          <p:nvPr/>
        </p:nvSpPr>
        <p:spPr>
          <a:xfrm>
            <a:off x="1280160" y="1984248"/>
            <a:ext cx="5440680" cy="4572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"Used" is self-reported: the user presses the button.</a:t>
            </a:r>
            <a:endParaRPr lang="en-US" sz="1400" dirty="0"/>
          </a:p>
        </p:txBody>
      </p:sp>
      <p:sp>
        <p:nvSpPr>
          <p:cNvPr id="8" name="Shape 5"/>
          <p:cNvSpPr/>
          <p:nvPr/>
        </p:nvSpPr>
        <p:spPr>
          <a:xfrm>
            <a:off x="777240" y="2642616"/>
            <a:ext cx="347472" cy="347472"/>
          </a:xfrm>
          <a:prstGeom prst="ellipse">
            <a:avLst/>
          </a:prstGeom>
          <a:solidFill>
            <a:srgbClr val="1F7A8C"/>
          </a:solidFill>
          <a:ln/>
        </p:spPr>
      </p:sp>
      <p:pic>
        <p:nvPicPr>
          <p:cNvPr id="9" name="Image 1" descr="preencoded.png">    </p:cNvPr>
          <p:cNvPicPr>
            <a:picLocks noChangeAspect="1"/>
          </p:cNvPicPr>
          <p:nvPr/>
        </p:nvPicPr>
        <p:blipFill>
          <a:blip r:embed="rId2"/>
          <a:stretch>
            <a:fillRect/>
          </a:stretch>
        </p:blipFill>
        <p:spPr>
          <a:xfrm>
            <a:off x="867583" y="2732959"/>
            <a:ext cx="166787" cy="166787"/>
          </a:xfrm>
          <a:prstGeom prst="rect">
            <a:avLst/>
          </a:prstGeom>
        </p:spPr>
      </p:pic>
      <p:sp>
        <p:nvSpPr>
          <p:cNvPr id="10" name="Text 6"/>
          <p:cNvSpPr txBox="1"/>
          <p:nvPr/>
        </p:nvSpPr>
        <p:spPr>
          <a:xfrm>
            <a:off x="1280160" y="2660904"/>
            <a:ext cx="5440680" cy="4572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Search matches exact keywords and prefixes; no synonyms or fuzzy matching.</a:t>
            </a:r>
            <a:endParaRPr lang="en-US" sz="1400" dirty="0"/>
          </a:p>
        </p:txBody>
      </p:sp>
      <p:sp>
        <p:nvSpPr>
          <p:cNvPr id="11" name="Shape 7"/>
          <p:cNvSpPr/>
          <p:nvPr/>
        </p:nvSpPr>
        <p:spPr>
          <a:xfrm>
            <a:off x="777240" y="3319272"/>
            <a:ext cx="347472" cy="347472"/>
          </a:xfrm>
          <a:prstGeom prst="ellipse">
            <a:avLst/>
          </a:prstGeom>
          <a:solidFill>
            <a:srgbClr val="1F7A8C"/>
          </a:solidFill>
          <a:ln/>
        </p:spPr>
      </p:sp>
      <p:pic>
        <p:nvPicPr>
          <p:cNvPr id="12" name="Image 2" descr="preencoded.png">    </p:cNvPr>
          <p:cNvPicPr>
            <a:picLocks noChangeAspect="1"/>
          </p:cNvPicPr>
          <p:nvPr/>
        </p:nvPicPr>
        <p:blipFill>
          <a:blip r:embed="rId3"/>
          <a:stretch>
            <a:fillRect/>
          </a:stretch>
        </p:blipFill>
        <p:spPr>
          <a:xfrm>
            <a:off x="867583" y="3409615"/>
            <a:ext cx="166787" cy="166787"/>
          </a:xfrm>
          <a:prstGeom prst="rect">
            <a:avLst/>
          </a:prstGeom>
        </p:spPr>
      </p:pic>
      <p:sp>
        <p:nvSpPr>
          <p:cNvPr id="13" name="Text 8"/>
          <p:cNvSpPr txBox="1"/>
          <p:nvPr/>
        </p:nvSpPr>
        <p:spPr>
          <a:xfrm>
            <a:off x="1280160" y="3337560"/>
            <a:ext cx="5440680" cy="4572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The login rate limiter lives in one process's memory, so it is not shared across serverless instances; the login token is kept in browser local storage.</a:t>
            </a:r>
            <a:endParaRPr lang="en-US" sz="1400" dirty="0"/>
          </a:p>
        </p:txBody>
      </p:sp>
      <p:sp>
        <p:nvSpPr>
          <p:cNvPr id="14" name="Shape 9"/>
          <p:cNvSpPr/>
          <p:nvPr/>
        </p:nvSpPr>
        <p:spPr>
          <a:xfrm>
            <a:off x="777240" y="3995928"/>
            <a:ext cx="347472" cy="347472"/>
          </a:xfrm>
          <a:prstGeom prst="ellipse">
            <a:avLst/>
          </a:prstGeom>
          <a:solidFill>
            <a:srgbClr val="1F7A8C"/>
          </a:solidFill>
          <a:ln/>
        </p:spPr>
      </p:sp>
      <p:pic>
        <p:nvPicPr>
          <p:cNvPr id="15" name="Image 3" descr="preencoded.png">    </p:cNvPr>
          <p:cNvPicPr>
            <a:picLocks noChangeAspect="1"/>
          </p:cNvPicPr>
          <p:nvPr/>
        </p:nvPicPr>
        <p:blipFill>
          <a:blip r:embed="rId4"/>
          <a:stretch>
            <a:fillRect/>
          </a:stretch>
        </p:blipFill>
        <p:spPr>
          <a:xfrm>
            <a:off x="867583" y="4086271"/>
            <a:ext cx="166787" cy="166787"/>
          </a:xfrm>
          <a:prstGeom prst="rect">
            <a:avLst/>
          </a:prstGeom>
        </p:spPr>
      </p:pic>
      <p:sp>
        <p:nvSpPr>
          <p:cNvPr id="16" name="Text 10"/>
          <p:cNvSpPr txBox="1"/>
          <p:nvPr/>
        </p:nvSpPr>
        <p:spPr>
          <a:xfrm>
            <a:off x="1280160" y="4014216"/>
            <a:ext cx="5440680" cy="4572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Speed was measured for the ranking code only, not under load.</a:t>
            </a:r>
            <a:endParaRPr lang="en-US" sz="1400" dirty="0"/>
          </a:p>
        </p:txBody>
      </p:sp>
      <p:sp>
        <p:nvSpPr>
          <p:cNvPr id="17" name="Shape 11"/>
          <p:cNvSpPr/>
          <p:nvPr/>
        </p:nvSpPr>
        <p:spPr>
          <a:xfrm>
            <a:off x="777240" y="4672584"/>
            <a:ext cx="347472" cy="347472"/>
          </a:xfrm>
          <a:prstGeom prst="ellipse">
            <a:avLst/>
          </a:prstGeom>
          <a:solidFill>
            <a:srgbClr val="1F7A8C"/>
          </a:solidFill>
          <a:ln/>
        </p:spPr>
      </p:sp>
      <p:pic>
        <p:nvPicPr>
          <p:cNvPr id="18" name="Image 4" descr="preencoded.png">    </p:cNvPr>
          <p:cNvPicPr>
            <a:picLocks noChangeAspect="1"/>
          </p:cNvPicPr>
          <p:nvPr/>
        </p:nvPicPr>
        <p:blipFill>
          <a:blip r:embed="rId5"/>
          <a:stretch>
            <a:fillRect/>
          </a:stretch>
        </p:blipFill>
        <p:spPr>
          <a:xfrm>
            <a:off x="867583" y="4762927"/>
            <a:ext cx="166787" cy="166787"/>
          </a:xfrm>
          <a:prstGeom prst="rect">
            <a:avLst/>
          </a:prstGeom>
        </p:spPr>
      </p:pic>
      <p:sp>
        <p:nvSpPr>
          <p:cNvPr id="19" name="Text 12"/>
          <p:cNvSpPr txBox="1"/>
          <p:nvPr/>
        </p:nvSpPr>
        <p:spPr>
          <a:xfrm>
            <a:off x="1280160" y="4690872"/>
            <a:ext cx="5440680" cy="4572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The web app has no unit tests; accessibility was scanned on five public pages only.</a:t>
            </a:r>
            <a:endParaRPr lang="en-US" sz="1400" dirty="0"/>
          </a:p>
        </p:txBody>
      </p:sp>
      <p:sp>
        <p:nvSpPr>
          <p:cNvPr id="20" name="Shape 13"/>
          <p:cNvSpPr/>
          <p:nvPr/>
        </p:nvSpPr>
        <p:spPr>
          <a:xfrm>
            <a:off x="777240" y="5349240"/>
            <a:ext cx="347472" cy="347472"/>
          </a:xfrm>
          <a:prstGeom prst="ellipse">
            <a:avLst/>
          </a:prstGeom>
          <a:solidFill>
            <a:srgbClr val="1F7A8C"/>
          </a:solidFill>
          <a:ln/>
        </p:spPr>
      </p:sp>
      <p:pic>
        <p:nvPicPr>
          <p:cNvPr id="21" name="Image 5" descr="preencoded.png">    </p:cNvPr>
          <p:cNvPicPr>
            <a:picLocks noChangeAspect="1"/>
          </p:cNvPicPr>
          <p:nvPr/>
        </p:nvPicPr>
        <p:blipFill>
          <a:blip r:embed="rId6"/>
          <a:stretch>
            <a:fillRect/>
          </a:stretch>
        </p:blipFill>
        <p:spPr>
          <a:xfrm>
            <a:off x="867583" y="5439583"/>
            <a:ext cx="166787" cy="166787"/>
          </a:xfrm>
          <a:prstGeom prst="rect">
            <a:avLst/>
          </a:prstGeom>
        </p:spPr>
      </p:pic>
      <p:sp>
        <p:nvSpPr>
          <p:cNvPr id="22" name="Text 14"/>
          <p:cNvSpPr txBox="1"/>
          <p:nvPr/>
        </p:nvSpPr>
        <p:spPr>
          <a:xfrm>
            <a:off x="1280160" y="5367528"/>
            <a:ext cx="5440680" cy="4572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Categories are curated by hand.</a:t>
            </a:r>
            <a:endParaRPr lang="en-US" sz="1400" dirty="0"/>
          </a:p>
        </p:txBody>
      </p:sp>
      <p:sp>
        <p:nvSpPr>
          <p:cNvPr id="23" name="Shape 15"/>
          <p:cNvSpPr/>
          <p:nvPr/>
        </p:nvSpPr>
        <p:spPr>
          <a:xfrm>
            <a:off x="7269480" y="1280160"/>
            <a:ext cx="4373575" cy="4937760"/>
          </a:xfrm>
          <a:prstGeom prst="roundRect">
            <a:avLst>
              <a:gd name="adj" fmla="val 2509"/>
            </a:avLst>
          </a:prstGeom>
          <a:solidFill>
            <a:srgbClr val="0B3C49"/>
          </a:solidFill>
          <a:ln/>
          <a:effectLst>
            <a:outerShdw sx="100000" sy="100000" kx="0" ky="0" algn="bl" rotWithShape="0" blurRad="76200" dist="19050" dir="5400000">
              <a:srgbClr val="000000">
                <a:alpha val="12000"/>
              </a:srgbClr>
            </a:outerShdw>
          </a:effectLst>
        </p:spPr>
      </p:sp>
      <p:sp>
        <p:nvSpPr>
          <p:cNvPr id="24" name="Text 16"/>
          <p:cNvSpPr txBox="1"/>
          <p:nvPr/>
        </p:nvSpPr>
        <p:spPr>
          <a:xfrm>
            <a:off x="7498080" y="1417320"/>
            <a:ext cx="3657600" cy="411480"/>
          </a:xfrm>
          <a:prstGeom prst="rect">
            <a:avLst/>
          </a:prstGeom>
          <a:noFill/>
          <a:ln/>
        </p:spPr>
        <p:txBody>
          <a:bodyPr wrap="square" lIns="0" tIns="0" rIns="0" bIns="0" rtlCol="0" anchor="t"/>
          <a:lstStyle/>
          <a:p>
            <a:pPr indent="0" marL="0">
              <a:buNone/>
            </a:pPr>
            <a:r>
              <a:rPr lang="en-US" sz="1800" b="1" dirty="0">
                <a:solidFill>
                  <a:srgbClr val="F4A62A"/>
                </a:solidFill>
                <a:latin typeface="Calibri" pitchFamily="34" charset="0"/>
                <a:ea typeface="Calibri" pitchFamily="34" charset="-122"/>
                <a:cs typeface="Calibri" pitchFamily="34" charset="-120"/>
              </a:rPr>
              <a:t>Future work</a:t>
            </a:r>
            <a:endParaRPr lang="en-US" sz="1800" dirty="0"/>
          </a:p>
        </p:txBody>
      </p:sp>
      <p:sp>
        <p:nvSpPr>
          <p:cNvPr id="25" name="Text 17"/>
          <p:cNvSpPr txBox="1"/>
          <p:nvPr/>
        </p:nvSpPr>
        <p:spPr>
          <a:xfrm>
            <a:off x="7498080" y="1965960"/>
            <a:ext cx="3916375" cy="402336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Synonym and embedding-based keyword suggestions</a:t>
            </a:r>
            <a:endParaRPr lang="en-US" sz="1600" dirty="0"/>
          </a:p>
          <a:p>
            <a:pPr marL="177800" indent="-1778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Report-only suggestions of what to purge</a:t>
            </a:r>
            <a:endParaRPr lang="en-US" sz="1600" dirty="0"/>
          </a:p>
          <a:p>
            <a:pPr marL="177800" indent="-1778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Duplicate detection by code similarity</a:t>
            </a:r>
            <a:endParaRPr lang="en-US" sz="1600" dirty="0"/>
          </a:p>
          <a:p>
            <a:pPr marL="177800" indent="-1778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Version history for a component</a:t>
            </a:r>
            <a:endParaRPr lang="en-US" sz="1600" dirty="0"/>
          </a:p>
          <a:p>
            <a:pPr marL="177800" indent="-1778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Token in an httpOnly cookie</a:t>
            </a:r>
            <a:endParaRPr lang="en-US" sz="1600" dirty="0"/>
          </a:p>
          <a:p>
            <a:pPr marL="177800" indent="-1778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A shared rate-limit store</a:t>
            </a:r>
            <a:endParaRPr lang="en-US" sz="1600" dirty="0"/>
          </a:p>
        </p:txBody>
      </p:sp>
      <p:sp>
        <p:nvSpPr>
          <p:cNvPr id="26" name="Text 1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27" name="Text 19"/>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1463040"/>
            <a:ext cx="11094415"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548640" y="2651760"/>
            <a:ext cx="11094415" cy="731520"/>
          </a:xfrm>
          <a:prstGeom prst="rect">
            <a:avLst/>
          </a:prstGeom>
          <a:noFill/>
          <a:ln/>
        </p:spPr>
        <p:txBody>
          <a:bodyPr wrap="square" lIns="0" tIns="0" rIns="0" bIns="0" rtlCol="0" anchor="ctr"/>
          <a:lstStyle/>
          <a:p>
            <a:pPr indent="0" marL="0">
              <a:buNone/>
            </a:pPr>
            <a:r>
              <a:rPr lang="en-US" sz="3200" b="1" dirty="0">
                <a:solidFill>
                  <a:srgbClr val="F4A62A"/>
                </a:solidFill>
                <a:latin typeface="Cambria" pitchFamily="34" charset="0"/>
                <a:ea typeface="Cambria" pitchFamily="34" charset="-122"/>
                <a:cs typeface="Cambria" pitchFamily="34" charset="-120"/>
              </a:rPr>
              <a:t>Questions?</a:t>
            </a:r>
            <a:endParaRPr lang="en-US" sz="3200" dirty="0"/>
          </a:p>
        </p:txBody>
      </p:sp>
      <p:sp>
        <p:nvSpPr>
          <p:cNvPr id="4" name="Text 2"/>
          <p:cNvSpPr txBox="1"/>
          <p:nvPr/>
        </p:nvSpPr>
        <p:spPr>
          <a:xfrm>
            <a:off x="548640" y="3931920"/>
            <a:ext cx="11094415"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Dinesh Krishna · Sankar · Vishesh · Sai Teja · Yash Agarwal · Yash Patidar</a:t>
            </a:r>
            <a:endParaRPr lang="en-US" sz="1800" dirty="0"/>
          </a:p>
        </p:txBody>
      </p:sp>
      <p:sp>
        <p:nvSpPr>
          <p:cNvPr id="5" name="Text 3"/>
          <p:cNvSpPr txBox="1"/>
          <p:nvPr/>
        </p:nvSpPr>
        <p:spPr>
          <a:xfrm>
            <a:off x="548640" y="4663440"/>
            <a:ext cx="11094415" cy="411480"/>
          </a:xfrm>
          <a:prstGeom prst="rect">
            <a:avLst/>
          </a:prstGeom>
          <a:noFill/>
          <a:ln/>
        </p:spPr>
        <p:txBody>
          <a:bodyPr wrap="square" lIns="0" tIns="0" rIns="0" bIns="0" rtlCol="0" anchor="ctr"/>
          <a:lstStyle/>
          <a:p>
            <a:pPr indent="0" marL="0">
              <a:buNone/>
            </a:pPr>
            <a:r>
              <a:rPr lang="en-US" sz="16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github.com/YashIIT0909/SWE_LAB_Assignment</a:t>
            </a:r>
            <a:endParaRPr lang="en-US" sz="1600" dirty="0"/>
          </a:p>
        </p:txBody>
      </p:sp>
      <p:sp>
        <p:nvSpPr>
          <p:cNvPr id="6" name="Text 4"/>
          <p:cNvSpPr txBox="1"/>
          <p:nvPr/>
        </p:nvSpPr>
        <p:spPr>
          <a:xfrm>
            <a:off x="548640" y="5120640"/>
            <a:ext cx="11094415"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Software Engineering Lab · Assignment 8 · IIT (ISM) Dhanbad · September 2026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Backend classes and their dependencies</a:t>
            </a:r>
            <a:endParaRPr lang="en-US" sz="3200" dirty="0"/>
          </a:p>
        </p:txBody>
      </p:sp>
      <p:sp>
        <p:nvSpPr>
          <p:cNvPr id="3" name="Shape 1"/>
          <p:cNvSpPr/>
          <p:nvPr/>
        </p:nvSpPr>
        <p:spPr>
          <a:xfrm>
            <a:off x="548640" y="1234440"/>
            <a:ext cx="6980154" cy="5029200"/>
          </a:xfrm>
          <a:prstGeom prst="roundRect">
            <a:avLst>
              <a:gd name="adj" fmla="val 2182"/>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class-backend.png">    </p:cNvPr>
          <p:cNvPicPr>
            <a:picLocks noChangeAspect="1"/>
          </p:cNvPicPr>
          <p:nvPr/>
        </p:nvPicPr>
        <p:blipFill>
          <a:blip r:embed="rId1"/>
          <a:stretch>
            <a:fillRect/>
          </a:stretch>
        </p:blipFill>
        <p:spPr>
          <a:xfrm>
            <a:off x="640080" y="1325880"/>
            <a:ext cx="6797274" cy="4846320"/>
          </a:xfrm>
          <a:prstGeom prst="rect">
            <a:avLst/>
          </a:prstGeom>
        </p:spPr>
      </p:pic>
      <p:sp>
        <p:nvSpPr>
          <p:cNvPr id="5" name="Shape 2"/>
          <p:cNvSpPr/>
          <p:nvPr/>
        </p:nvSpPr>
        <p:spPr>
          <a:xfrm>
            <a:off x="7848834" y="1234440"/>
            <a:ext cx="3794221" cy="5029200"/>
          </a:xfrm>
          <a:prstGeom prst="roundRect">
            <a:avLst>
              <a:gd name="adj" fmla="val 2892"/>
            </a:avLst>
          </a:prstGeom>
          <a:solidFill>
            <a:srgbClr val="E8F3F2"/>
          </a:solidFill>
          <a:ln/>
          <a:effectLst>
            <a:outerShdw sx="100000" sy="100000" kx="0" ky="0" algn="bl" rotWithShape="0" blurRad="76200" dist="19050" dir="5400000">
              <a:srgbClr val="000000">
                <a:alpha val="12000"/>
              </a:srgbClr>
            </a:outerShdw>
          </a:effectLst>
        </p:spPr>
      </p:sp>
      <p:sp>
        <p:nvSpPr>
          <p:cNvPr id="6" name="Text 3"/>
          <p:cNvSpPr txBox="1"/>
          <p:nvPr/>
        </p:nvSpPr>
        <p:spPr>
          <a:xfrm>
            <a:off x="8031714" y="1371600"/>
            <a:ext cx="3428461" cy="4754880"/>
          </a:xfrm>
          <a:prstGeom prst="rect">
            <a:avLst/>
          </a:prstGeom>
          <a:noFill/>
          <a:ln/>
        </p:spPr>
        <p:txBody>
          <a:bodyPr wrap="square" lIns="0" tIns="0" rIns="0" bIns="0" rtlCol="0" anchor="t"/>
          <a:lstStyle/>
          <a:p>
            <a:pPr indent="0" marL="0">
              <a:spcAft>
                <a:spcPts val="600"/>
              </a:spcAft>
              <a:buNone/>
            </a:pPr>
            <a:r>
              <a:rPr lang="en-US" sz="1300" b="1" dirty="0">
                <a:solidFill>
                  <a:srgbClr val="0B3C49"/>
                </a:solidFill>
                <a:latin typeface="Calibri" pitchFamily="34" charset="0"/>
                <a:ea typeface="Calibri" pitchFamily="34" charset="-122"/>
                <a:cs typeface="Calibri" pitchFamily="34" charset="-120"/>
              </a:rPr>
              <a:t>How to read it</a:t>
            </a:r>
            <a:endParaRPr lang="en-US" sz="1300" dirty="0"/>
          </a:p>
          <a:p>
            <a:pPr indent="0" marL="0">
              <a:spcAft>
                <a:spcPts val="600"/>
              </a:spcAft>
              <a:buNone/>
            </a:pPr>
            <a:r>
              <a:rPr lang="en-US" sz="1300" dirty="0">
                <a:solidFill>
                  <a:srgbClr val="10262B"/>
                </a:solidFill>
                <a:latin typeface="Calibri" pitchFamily="34" charset="0"/>
                <a:ea typeface="Calibri" pitchFamily="34" charset="-122"/>
                <a:cs typeface="Calibri" pitchFamily="34" charset="-120"/>
              </a:rPr>
              <a:t>Services are modules of functions, drawn as classes to show what each offers and depends on.</a:t>
            </a:r>
            <a:endParaRPr lang="en-US" sz="1300" dirty="0"/>
          </a:p>
          <a:p>
            <a:pPr marL="177800" indent="-177800">
              <a:spcAft>
                <a:spcPts val="600"/>
              </a:spcAft>
              <a:buSzPct val="100000"/>
              <a:buChar char="•"/>
            </a:pPr>
            <a:r>
              <a:rPr lang="en-US" sz="1300" dirty="0">
                <a:solidFill>
                  <a:srgbClr val="10262B"/>
                </a:solidFill>
                <a:latin typeface="Calibri" pitchFamily="34" charset="0"/>
                <a:ea typeface="Calibri" pitchFamily="34" charset="-122"/>
                <a:cs typeface="Calibri" pitchFamily="34" charset="-120"/>
              </a:rPr>
              <a:t>Dashed arrow: "depends on" (calls).</a:t>
            </a:r>
            <a:endParaRPr lang="en-US" sz="1300" dirty="0"/>
          </a:p>
          <a:p>
            <a:pPr marL="177800" indent="-177800">
              <a:spcAft>
                <a:spcPts val="600"/>
              </a:spcAft>
              <a:buSzPct val="100000"/>
              <a:buChar char="•"/>
            </a:pPr>
            <a:r>
              <a:rPr lang="en-US" sz="1300" dirty="0">
                <a:solidFill>
                  <a:srgbClr val="10262B"/>
                </a:solidFill>
                <a:latin typeface="Calibri" pitchFamily="34" charset="0"/>
                <a:ea typeface="Calibri" pitchFamily="34" charset="-122"/>
                <a:cs typeface="Calibri" pitchFamily="34" charset="-120"/>
              </a:rPr>
              <a:t>Routes use middleware and call one controller.</a:t>
            </a:r>
            <a:endParaRPr lang="en-US" sz="1300" dirty="0"/>
          </a:p>
          <a:p>
            <a:pPr marL="177800" indent="-177800">
              <a:spcAft>
                <a:spcPts val="600"/>
              </a:spcAft>
              <a:buSzPct val="100000"/>
              <a:buChar char="•"/>
            </a:pPr>
            <a:r>
              <a:rPr lang="en-US" sz="1300" dirty="0">
                <a:solidFill>
                  <a:srgbClr val="10262B"/>
                </a:solidFill>
                <a:latin typeface="Calibri" pitchFamily="34" charset="0"/>
                <a:ea typeface="Calibri" pitchFamily="34" charset="-122"/>
                <a:cs typeface="Calibri" pitchFamily="34" charset="-120"/>
              </a:rPr>
              <a:t>Controllers call services only.</a:t>
            </a:r>
            <a:endParaRPr lang="en-US" sz="1300" dirty="0"/>
          </a:p>
          <a:p>
            <a:pPr marL="177800" indent="-177800">
              <a:spcAft>
                <a:spcPts val="600"/>
              </a:spcAft>
              <a:buSzPct val="100000"/>
              <a:buChar char="•"/>
            </a:pPr>
            <a:r>
              <a:rPr lang="en-US" sz="1300" dirty="0">
                <a:solidFill>
                  <a:srgbClr val="10262B"/>
                </a:solidFill>
                <a:latin typeface="Calibri" pitchFamily="34" charset="0"/>
                <a:ea typeface="Calibri" pitchFamily="34" charset="-122"/>
                <a:cs typeface="Calibri" pitchFamily="34" charset="-120"/>
              </a:rPr>
              <a:t>Every writing service calls AuditService inside its transaction.</a:t>
            </a:r>
            <a:endParaRPr lang="en-US" sz="1300" dirty="0"/>
          </a:p>
          <a:p>
            <a:pPr marL="342900" indent="-342900">
              <a:spcAft>
                <a:spcPts val="600"/>
              </a:spcAft>
              <a:buSzPct val="100000"/>
              <a:buChar char="•"/>
            </a:pPr>
            <a:r>
              <a:rPr lang="en-US" sz="1300" dirty="0">
                <a:solidFill>
                  <a:srgbClr val="10262B"/>
                </a:solidFill>
                <a:latin typeface="Calibri" pitchFamily="34" charset="0"/>
                <a:ea typeface="Calibri" pitchFamily="34" charset="-122"/>
                <a:cs typeface="Calibri" pitchFamily="34" charset="-120"/>
              </a:rPr>
              <a:t>Services throw AppError; errorHandler turns it into JSON.</a:t>
            </a:r>
            <a:endParaRPr lang="en-US" sz="1300" dirty="0"/>
          </a:p>
        </p:txBody>
      </p:sp>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8" name="Text 5"/>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A1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Adding a component with keywords</a:t>
            </a:r>
            <a:endParaRPr lang="en-US" sz="3200" dirty="0"/>
          </a:p>
        </p:txBody>
      </p:sp>
      <p:sp>
        <p:nvSpPr>
          <p:cNvPr id="3" name="Shape 1"/>
          <p:cNvSpPr/>
          <p:nvPr/>
        </p:nvSpPr>
        <p:spPr>
          <a:xfrm>
            <a:off x="548640" y="1234440"/>
            <a:ext cx="6666432" cy="5029200"/>
          </a:xfrm>
          <a:prstGeom prst="roundRect">
            <a:avLst>
              <a:gd name="adj" fmla="val 2182"/>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seq-add.png">    </p:cNvPr>
          <p:cNvPicPr>
            <a:picLocks noChangeAspect="1"/>
          </p:cNvPicPr>
          <p:nvPr/>
        </p:nvPicPr>
        <p:blipFill>
          <a:blip r:embed="rId1"/>
          <a:stretch>
            <a:fillRect/>
          </a:stretch>
        </p:blipFill>
        <p:spPr>
          <a:xfrm>
            <a:off x="640080" y="1325880"/>
            <a:ext cx="6483552" cy="4846320"/>
          </a:xfrm>
          <a:prstGeom prst="rect">
            <a:avLst/>
          </a:prstGeom>
        </p:spPr>
      </p:pic>
      <p:sp>
        <p:nvSpPr>
          <p:cNvPr id="5" name="Shape 2"/>
          <p:cNvSpPr/>
          <p:nvPr/>
        </p:nvSpPr>
        <p:spPr>
          <a:xfrm>
            <a:off x="7580832" y="1234440"/>
            <a:ext cx="4062223" cy="2286000"/>
          </a:xfrm>
          <a:prstGeom prst="roundRect">
            <a:avLst>
              <a:gd name="adj" fmla="val 4800"/>
            </a:avLst>
          </a:prstGeom>
          <a:solidFill>
            <a:srgbClr val="E8F3F2"/>
          </a:solidFill>
          <a:ln/>
          <a:effectLst>
            <a:outerShdw sx="100000" sy="100000" kx="0" ky="0" algn="bl" rotWithShape="0" blurRad="76200" dist="19050" dir="5400000">
              <a:srgbClr val="000000">
                <a:alpha val="12000"/>
              </a:srgbClr>
            </a:outerShdw>
          </a:effectLst>
        </p:spPr>
      </p:sp>
      <p:sp>
        <p:nvSpPr>
          <p:cNvPr id="6" name="Shape 3"/>
          <p:cNvSpPr/>
          <p:nvPr/>
        </p:nvSpPr>
        <p:spPr>
          <a:xfrm>
            <a:off x="7763712" y="1417320"/>
            <a:ext cx="384048" cy="384048"/>
          </a:xfrm>
          <a:prstGeom prst="ellipse">
            <a:avLst/>
          </a:prstGeom>
          <a:solidFill>
            <a:srgbClr val="1F7A8C"/>
          </a:solidFill>
          <a:ln/>
        </p:spPr>
      </p:sp>
      <p:pic>
        <p:nvPicPr>
          <p:cNvPr id="7" name="Image 1" descr="preencoded.png">    </p:cNvPr>
          <p:cNvPicPr>
            <a:picLocks noChangeAspect="1"/>
          </p:cNvPicPr>
          <p:nvPr/>
        </p:nvPicPr>
        <p:blipFill>
          <a:blip r:embed="rId2"/>
          <a:stretch>
            <a:fillRect/>
          </a:stretch>
        </p:blipFill>
        <p:spPr>
          <a:xfrm>
            <a:off x="7863564" y="1517172"/>
            <a:ext cx="184343" cy="184343"/>
          </a:xfrm>
          <a:prstGeom prst="rect">
            <a:avLst/>
          </a:prstGeom>
        </p:spPr>
      </p:pic>
      <p:sp>
        <p:nvSpPr>
          <p:cNvPr id="8" name="Text 4"/>
          <p:cNvSpPr txBox="1"/>
          <p:nvPr/>
        </p:nvSpPr>
        <p:spPr>
          <a:xfrm>
            <a:off x="8266632" y="1417320"/>
            <a:ext cx="3239263" cy="384048"/>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One transaction</a:t>
            </a:r>
            <a:endParaRPr lang="en-US" sz="1600" dirty="0"/>
          </a:p>
        </p:txBody>
      </p:sp>
      <p:sp>
        <p:nvSpPr>
          <p:cNvPr id="9" name="Text 5"/>
          <p:cNvSpPr txBox="1"/>
          <p:nvPr/>
        </p:nvSpPr>
        <p:spPr>
          <a:xfrm>
            <a:off x="7763712" y="1965960"/>
            <a:ext cx="3696463" cy="146304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The component, its keywords and the audit row are saved together, or not at all. Keyword suggestions while typing come from a separate call.</a:t>
            </a:r>
            <a:endParaRPr lang="en-US" sz="1400" dirty="0"/>
          </a:p>
        </p:txBody>
      </p:sp>
      <p:sp>
        <p:nvSpPr>
          <p:cNvPr id="10" name="Text 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11" name="Text 7"/>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A2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Data flow: the system and its two actors</a:t>
            </a:r>
            <a:endParaRPr lang="en-US" sz="3200" dirty="0"/>
          </a:p>
        </p:txBody>
      </p:sp>
      <p:sp>
        <p:nvSpPr>
          <p:cNvPr id="3" name="Shape 1"/>
          <p:cNvSpPr/>
          <p:nvPr/>
        </p:nvSpPr>
        <p:spPr>
          <a:xfrm>
            <a:off x="810375" y="1280160"/>
            <a:ext cx="10570945" cy="3200400"/>
          </a:xfrm>
          <a:prstGeom prst="roundRect">
            <a:avLst>
              <a:gd name="adj" fmla="val 3429"/>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dfd-level0.png">    </p:cNvPr>
          <p:cNvPicPr>
            <a:picLocks noChangeAspect="1"/>
          </p:cNvPicPr>
          <p:nvPr/>
        </p:nvPicPr>
        <p:blipFill>
          <a:blip r:embed="rId1"/>
          <a:stretch>
            <a:fillRect/>
          </a:stretch>
        </p:blipFill>
        <p:spPr>
          <a:xfrm>
            <a:off x="901815" y="1371600"/>
            <a:ext cx="10388065" cy="3017520"/>
          </a:xfrm>
          <a:prstGeom prst="rect">
            <a:avLst/>
          </a:prstGeom>
        </p:spPr>
      </p:pic>
      <p:sp>
        <p:nvSpPr>
          <p:cNvPr id="5" name="Shape 2"/>
          <p:cNvSpPr/>
          <p:nvPr/>
        </p:nvSpPr>
        <p:spPr>
          <a:xfrm>
            <a:off x="548640" y="4800600"/>
            <a:ext cx="5410048" cy="1417320"/>
          </a:xfrm>
          <a:prstGeom prst="roundRect">
            <a:avLst>
              <a:gd name="adj" fmla="val 7742"/>
            </a:avLst>
          </a:prstGeom>
          <a:solidFill>
            <a:srgbClr val="E8F3F2"/>
          </a:solidFill>
          <a:ln/>
          <a:effectLst>
            <a:outerShdw sx="100000" sy="100000" kx="0" ky="0" algn="bl" rotWithShape="0" blurRad="76200" dist="19050" dir="5400000">
              <a:srgbClr val="000000">
                <a:alpha val="12000"/>
              </a:srgbClr>
            </a:outerShdw>
          </a:effectLst>
        </p:spPr>
      </p:sp>
      <p:sp>
        <p:nvSpPr>
          <p:cNvPr id="6" name="Shape 3"/>
          <p:cNvSpPr/>
          <p:nvPr/>
        </p:nvSpPr>
        <p:spPr>
          <a:xfrm>
            <a:off x="731520" y="4965192"/>
            <a:ext cx="384048" cy="384048"/>
          </a:xfrm>
          <a:prstGeom prst="ellipse">
            <a:avLst/>
          </a:prstGeom>
          <a:solidFill>
            <a:srgbClr val="1F7A8C"/>
          </a:solidFill>
          <a:ln/>
        </p:spPr>
      </p:sp>
      <p:pic>
        <p:nvPicPr>
          <p:cNvPr id="7" name="Image 1" descr="preencoded.png">    </p:cNvPr>
          <p:cNvPicPr>
            <a:picLocks noChangeAspect="1"/>
          </p:cNvPicPr>
          <p:nvPr/>
        </p:nvPicPr>
        <p:blipFill>
          <a:blip r:embed="rId2"/>
          <a:stretch>
            <a:fillRect/>
          </a:stretch>
        </p:blipFill>
        <p:spPr>
          <a:xfrm>
            <a:off x="831372" y="5065044"/>
            <a:ext cx="184343" cy="184343"/>
          </a:xfrm>
          <a:prstGeom prst="rect">
            <a:avLst/>
          </a:prstGeom>
        </p:spPr>
      </p:pic>
      <p:sp>
        <p:nvSpPr>
          <p:cNvPr id="8" name="Text 4"/>
          <p:cNvSpPr txBox="1"/>
          <p:nvPr/>
        </p:nvSpPr>
        <p:spPr>
          <a:xfrm>
            <a:off x="1234440" y="4965192"/>
            <a:ext cx="4587088" cy="384048"/>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User / Visitor sends</a:t>
            </a:r>
            <a:endParaRPr lang="en-US" sz="1600" dirty="0"/>
          </a:p>
        </p:txBody>
      </p:sp>
      <p:sp>
        <p:nvSpPr>
          <p:cNvPr id="9" name="Text 5"/>
          <p:cNvSpPr txBox="1"/>
          <p:nvPr/>
        </p:nvSpPr>
        <p:spPr>
          <a:xfrm>
            <a:off x="731520" y="5458968"/>
            <a:ext cx="5044288" cy="6858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Registration, credentials, search keywords, browse requests, use notifications</a:t>
            </a:r>
            <a:endParaRPr lang="en-US" sz="1400" dirty="0"/>
          </a:p>
        </p:txBody>
      </p:sp>
      <p:sp>
        <p:nvSpPr>
          <p:cNvPr id="10" name="Shape 6"/>
          <p:cNvSpPr/>
          <p:nvPr/>
        </p:nvSpPr>
        <p:spPr>
          <a:xfrm>
            <a:off x="6233008" y="4800600"/>
            <a:ext cx="5410048" cy="1417320"/>
          </a:xfrm>
          <a:prstGeom prst="roundRect">
            <a:avLst>
              <a:gd name="adj" fmla="val 7742"/>
            </a:avLst>
          </a:prstGeom>
          <a:solidFill>
            <a:srgbClr val="E8F3F2"/>
          </a:solidFill>
          <a:ln/>
          <a:effectLst>
            <a:outerShdw sx="100000" sy="100000" kx="0" ky="0" algn="bl" rotWithShape="0" blurRad="76200" dist="19050" dir="5400000">
              <a:srgbClr val="000000">
                <a:alpha val="12000"/>
              </a:srgbClr>
            </a:outerShdw>
          </a:effectLst>
        </p:spPr>
      </p:sp>
      <p:sp>
        <p:nvSpPr>
          <p:cNvPr id="11" name="Shape 7"/>
          <p:cNvSpPr/>
          <p:nvPr/>
        </p:nvSpPr>
        <p:spPr>
          <a:xfrm>
            <a:off x="6415888" y="4965192"/>
            <a:ext cx="384048" cy="384048"/>
          </a:xfrm>
          <a:prstGeom prst="ellipse">
            <a:avLst/>
          </a:prstGeom>
          <a:solidFill>
            <a:srgbClr val="1F7A8C"/>
          </a:solidFill>
          <a:ln/>
        </p:spPr>
      </p:sp>
      <p:pic>
        <p:nvPicPr>
          <p:cNvPr id="12" name="Image 2" descr="preencoded.png">    </p:cNvPr>
          <p:cNvPicPr>
            <a:picLocks noChangeAspect="1"/>
          </p:cNvPicPr>
          <p:nvPr/>
        </p:nvPicPr>
        <p:blipFill>
          <a:blip r:embed="rId3"/>
          <a:stretch>
            <a:fillRect/>
          </a:stretch>
        </p:blipFill>
        <p:spPr>
          <a:xfrm>
            <a:off x="6515740" y="5065044"/>
            <a:ext cx="184343" cy="184343"/>
          </a:xfrm>
          <a:prstGeom prst="rect">
            <a:avLst/>
          </a:prstGeom>
        </p:spPr>
      </p:pic>
      <p:sp>
        <p:nvSpPr>
          <p:cNvPr id="13" name="Text 8"/>
          <p:cNvSpPr txBox="1"/>
          <p:nvPr/>
        </p:nvSpPr>
        <p:spPr>
          <a:xfrm>
            <a:off x="6918808" y="4965192"/>
            <a:ext cx="4587088" cy="384048"/>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Cataloguer sends</a:t>
            </a:r>
            <a:endParaRPr lang="en-US" sz="1600" dirty="0"/>
          </a:p>
        </p:txBody>
      </p:sp>
      <p:sp>
        <p:nvSpPr>
          <p:cNvPr id="14" name="Text 9"/>
          <p:cNvSpPr txBox="1"/>
          <p:nvPr/>
        </p:nvSpPr>
        <p:spPr>
          <a:xfrm>
            <a:off x="6415888" y="5458968"/>
            <a:ext cx="5044288" cy="685800"/>
          </a:xfrm>
          <a:prstGeom prst="rect">
            <a:avLst/>
          </a:prstGeom>
          <a:noFill/>
          <a:ln/>
        </p:spPr>
        <p:txBody>
          <a:bodyPr wrap="square" lIns="0" tIns="0" rIns="0" bIns="0" rtlCol="0" anchor="t"/>
          <a:lstStyle/>
          <a:p>
            <a:pPr indent="0" marL="0">
              <a:buNone/>
            </a:pPr>
            <a:r>
              <a:rPr lang="en-US" sz="1400" dirty="0">
                <a:solidFill>
                  <a:srgbClr val="10262B"/>
                </a:solidFill>
                <a:latin typeface="Calibri" pitchFamily="34" charset="0"/>
                <a:ea typeface="Calibri" pitchFamily="34" charset="-122"/>
                <a:cs typeface="Calibri" pitchFamily="34" charset="-120"/>
              </a:rPr>
              <a:t>Credentials, component, category and notation details, report and purge criteria, purge selection</a:t>
            </a:r>
            <a:endParaRPr lang="en-US" sz="1400" dirty="0"/>
          </a:p>
        </p:txBody>
      </p:sp>
      <p:sp>
        <p:nvSpPr>
          <p:cNvPr id="15" name="Text 1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16" name="Text 11"/>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A3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11094415" cy="73152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Data flow: seven processes and eight data stores</a:t>
            </a:r>
            <a:endParaRPr lang="en-US" sz="3200" dirty="0"/>
          </a:p>
        </p:txBody>
      </p:sp>
      <p:sp>
        <p:nvSpPr>
          <p:cNvPr id="3" name="Shape 1"/>
          <p:cNvSpPr/>
          <p:nvPr/>
        </p:nvSpPr>
        <p:spPr>
          <a:xfrm>
            <a:off x="548640" y="1234440"/>
            <a:ext cx="4646993" cy="5029200"/>
          </a:xfrm>
          <a:prstGeom prst="roundRect">
            <a:avLst>
              <a:gd name="adj" fmla="val 2361"/>
            </a:avLst>
          </a:prstGeom>
          <a:solidFill>
            <a:srgbClr val="FFFFFF"/>
          </a:solidFill>
          <a:ln w="9525">
            <a:solidFill>
              <a:srgbClr val="CFE0E0"/>
            </a:solidFill>
            <a:prstDash val="solid"/>
          </a:ln>
          <a:effectLst>
            <a:outerShdw sx="100000" sy="100000" kx="0" ky="0" algn="bl" rotWithShape="0" blurRad="76200" dist="19050" dir="5400000">
              <a:srgbClr val="000000">
                <a:alpha val="12000"/>
              </a:srgbClr>
            </a:outerShdw>
          </a:effectLst>
        </p:spPr>
      </p:sp>
      <p:pic>
        <p:nvPicPr>
          <p:cNvPr id="4" name="Image 0" descr="/mnt/project-files/ppt/images/diagrams/dfd-level1.png">    </p:cNvPr>
          <p:cNvPicPr>
            <a:picLocks noChangeAspect="1"/>
          </p:cNvPicPr>
          <p:nvPr/>
        </p:nvPicPr>
        <p:blipFill>
          <a:blip r:embed="rId1"/>
          <a:stretch>
            <a:fillRect/>
          </a:stretch>
        </p:blipFill>
        <p:spPr>
          <a:xfrm>
            <a:off x="640080" y="1325880"/>
            <a:ext cx="4464113" cy="4846320"/>
          </a:xfrm>
          <a:prstGeom prst="rect">
            <a:avLst/>
          </a:prstGeom>
        </p:spPr>
      </p:pic>
      <p:sp>
        <p:nvSpPr>
          <p:cNvPr id="5" name="Shape 2"/>
          <p:cNvSpPr/>
          <p:nvPr/>
        </p:nvSpPr>
        <p:spPr>
          <a:xfrm>
            <a:off x="5561393" y="1234440"/>
            <a:ext cx="2903671" cy="5029200"/>
          </a:xfrm>
          <a:prstGeom prst="roundRect">
            <a:avLst>
              <a:gd name="adj" fmla="val 3779"/>
            </a:avLst>
          </a:prstGeom>
          <a:solidFill>
            <a:srgbClr val="E8F3F2"/>
          </a:solidFill>
          <a:ln/>
          <a:effectLst>
            <a:outerShdw sx="100000" sy="100000" kx="0" ky="0" algn="bl" rotWithShape="0" blurRad="76200" dist="19050" dir="5400000">
              <a:srgbClr val="000000">
                <a:alpha val="12000"/>
              </a:srgbClr>
            </a:outerShdw>
          </a:effectLst>
        </p:spPr>
      </p:sp>
      <p:sp>
        <p:nvSpPr>
          <p:cNvPr id="6" name="Text 3"/>
          <p:cNvSpPr txBox="1"/>
          <p:nvPr/>
        </p:nvSpPr>
        <p:spPr>
          <a:xfrm>
            <a:off x="5744273" y="1371600"/>
            <a:ext cx="2537911" cy="36576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Processes</a:t>
            </a:r>
            <a:endParaRPr lang="en-US" sz="1600" dirty="0"/>
          </a:p>
        </p:txBody>
      </p:sp>
      <p:sp>
        <p:nvSpPr>
          <p:cNvPr id="7" name="Text 4"/>
          <p:cNvSpPr txBox="1"/>
          <p:nvPr/>
        </p:nvSpPr>
        <p:spPr>
          <a:xfrm>
            <a:off x="5744273" y="1828800"/>
            <a:ext cx="2537911" cy="4297680"/>
          </a:xfrm>
          <a:prstGeom prst="rect">
            <a:avLst/>
          </a:prstGeom>
          <a:noFill/>
          <a:ln/>
        </p:spPr>
        <p:txBody>
          <a:bodyPr wrap="square" lIns="0" tIns="0" rIns="0" bIns="0" rtlCol="0" anchor="t"/>
          <a:lstStyle/>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1.0 Authenticate</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2.0 Maintain components and keywords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3.0 Maintain categories and notations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4.0 Search catalogue</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5.0 Record usage</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6.0 Browse catalogue</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7.0 Report and purge</a:t>
            </a:r>
            <a:endParaRPr lang="en-US" sz="1400" dirty="0"/>
          </a:p>
        </p:txBody>
      </p:sp>
      <p:sp>
        <p:nvSpPr>
          <p:cNvPr id="8" name="Shape 5"/>
          <p:cNvSpPr/>
          <p:nvPr/>
        </p:nvSpPr>
        <p:spPr>
          <a:xfrm>
            <a:off x="8739384" y="1234440"/>
            <a:ext cx="2903671" cy="5029200"/>
          </a:xfrm>
          <a:prstGeom prst="roundRect">
            <a:avLst>
              <a:gd name="adj" fmla="val 3779"/>
            </a:avLst>
          </a:prstGeom>
          <a:solidFill>
            <a:srgbClr val="E8F3F2"/>
          </a:solidFill>
          <a:ln/>
          <a:effectLst>
            <a:outerShdw sx="100000" sy="100000" kx="0" ky="0" algn="bl" rotWithShape="0" blurRad="76200" dist="19050" dir="5400000">
              <a:srgbClr val="000000">
                <a:alpha val="12000"/>
              </a:srgbClr>
            </a:outerShdw>
          </a:effectLst>
        </p:spPr>
      </p:sp>
      <p:sp>
        <p:nvSpPr>
          <p:cNvPr id="9" name="Text 6"/>
          <p:cNvSpPr txBox="1"/>
          <p:nvPr/>
        </p:nvSpPr>
        <p:spPr>
          <a:xfrm>
            <a:off x="8922264" y="1371600"/>
            <a:ext cx="2537911" cy="365760"/>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Data stores</a:t>
            </a:r>
            <a:endParaRPr lang="en-US" sz="1600" dirty="0"/>
          </a:p>
        </p:txBody>
      </p:sp>
      <p:sp>
        <p:nvSpPr>
          <p:cNvPr id="10" name="Text 7"/>
          <p:cNvSpPr txBox="1"/>
          <p:nvPr/>
        </p:nvSpPr>
        <p:spPr>
          <a:xfrm>
            <a:off x="8922264" y="1828800"/>
            <a:ext cx="2537911" cy="4297680"/>
          </a:xfrm>
          <a:prstGeom prst="rect">
            <a:avLst/>
          </a:prstGeom>
          <a:noFill/>
          <a:ln/>
        </p:spPr>
        <p:txBody>
          <a:bodyPr wrap="square" lIns="0" tIns="0" rIns="0" bIns="0" rtlCol="0" anchor="t"/>
          <a:lstStyle/>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D1 Users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D2 Components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D3 Keywords and links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D4 Categories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D5 Notations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D6 Search log</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D7 Usage events</a:t>
            </a:r>
            <a:endParaRPr lang="en-US" sz="1400" dirty="0"/>
          </a:p>
          <a:p>
            <a:pPr indent="0" marL="0">
              <a:spcAft>
                <a:spcPts val="900"/>
              </a:spcAft>
              <a:buNone/>
            </a:pPr>
            <a:r>
              <a:rPr lang="en-US" sz="1400" dirty="0">
                <a:solidFill>
                  <a:srgbClr val="10262B"/>
                </a:solidFill>
                <a:latin typeface="Calibri" pitchFamily="34" charset="0"/>
                <a:ea typeface="Calibri" pitchFamily="34" charset="-122"/>
                <a:cs typeface="Calibri" pitchFamily="34" charset="-120"/>
              </a:rPr>
              <a:t>D8 Audit log</a:t>
            </a:r>
            <a:endParaRPr lang="en-US" sz="1400" dirty="0"/>
          </a:p>
        </p:txBody>
      </p:sp>
      <p:sp>
        <p:nvSpPr>
          <p:cNvPr id="11" name="Text 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5A7177"/>
                </a:solidFill>
                <a:latin typeface="Calibri" pitchFamily="34" charset="0"/>
                <a:ea typeface="Calibri" pitchFamily="34" charset="-122"/>
                <a:cs typeface="Calibri" pitchFamily="34" charset="-120"/>
              </a:rPr>
              <a:t>SCCS · Software Engineering · Assignment 8</a:t>
            </a:r>
            <a:endParaRPr lang="en-US" sz="1200" dirty="0"/>
          </a:p>
        </p:txBody>
      </p:sp>
      <p:sp>
        <p:nvSpPr>
          <p:cNvPr id="12" name="Text 9"/>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A7177"/>
                </a:solidFill>
                <a:latin typeface="Calibri" pitchFamily="34" charset="0"/>
                <a:ea typeface="Calibri" pitchFamily="34" charset="-122"/>
                <a:cs typeface="Calibri" pitchFamily="34" charset="-120"/>
              </a:rPr>
              <a:t>A4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Component Cataloguing System</dc:title>
  <dc:subject>PptxGenJS Presentation</dc:subject>
  <dc:creator>Dinesh Krishna</dc:creator>
  <cp:lastModifiedBy>Dinesh Krishna</cp:lastModifiedBy>
  <cp:revision>1</cp:revision>
  <dcterms:created xsi:type="dcterms:W3CDTF">2026-09-30T15:33:02Z</dcterms:created>
  <dcterms:modified xsi:type="dcterms:W3CDTF">2026-09-30T15:33:02Z</dcterms:modified>
</cp:coreProperties>
</file>